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377440" cy="685800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3" name="Shape 1"/>
          <p:cNvSpPr/>
          <p:nvPr/>
        </p:nvSpPr>
        <p:spPr>
          <a:xfrm>
            <a:off x="2368296" y="0"/>
            <a:ext cx="22860" cy="6858000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4" name="Shape 2"/>
          <p:cNvSpPr/>
          <p:nvPr/>
        </p:nvSpPr>
        <p:spPr>
          <a:xfrm>
            <a:off x="182880" y="228600"/>
            <a:ext cx="502920" cy="502920"/>
          </a:xfrm>
          <a:prstGeom prst="rect">
            <a:avLst>
              <a:gd name="adj" fmla="val 14545"/>
            </a:avLst>
          </a:prstGeom>
          <a:solidFill>
            <a:srgbClr val="1D4ED8"/>
          </a:solidFill>
          <a:ln/>
        </p:spPr>
      </p:sp>
      <p:sp>
        <p:nvSpPr>
          <p:cNvPr id="5" name="Text 3"/>
          <p:cNvSpPr/>
          <p:nvPr/>
        </p:nvSpPr>
        <p:spPr>
          <a:xfrm>
            <a:off x="201168" y="256032"/>
            <a:ext cx="466344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💊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77240" y="256032"/>
            <a:ext cx="14630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MedStock HIS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77240" y="475488"/>
            <a:ext cx="14630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3C5FD"/>
                </a:solidFill>
              </a:rPr>
              <a:t>IS-C · Information Systems</a:t>
            </a:r>
            <a:endParaRPr lang="en-US" sz="700" dirty="0"/>
          </a:p>
        </p:txBody>
      </p:sp>
      <p:sp>
        <p:nvSpPr>
          <p:cNvPr id="8" name="Shape 6"/>
          <p:cNvSpPr/>
          <p:nvPr/>
        </p:nvSpPr>
        <p:spPr>
          <a:xfrm>
            <a:off x="137160" y="914400"/>
            <a:ext cx="2103120" cy="502920"/>
          </a:xfrm>
          <a:prstGeom prst="rect">
            <a:avLst>
              <a:gd name="adj" fmla="val 10909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56032" y="969264"/>
            <a:ext cx="914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📍 OPC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256032" y="1152144"/>
            <a:ext cx="16459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3C5FD"/>
                </a:solidFill>
              </a:rPr>
              <a:t>Out-Patient Clinic</a:t>
            </a:r>
            <a:endParaRPr lang="en-US" sz="700" dirty="0"/>
          </a:p>
        </p:txBody>
      </p:sp>
      <p:sp>
        <p:nvSpPr>
          <p:cNvPr id="11" name="Shape 9"/>
          <p:cNvSpPr/>
          <p:nvPr/>
        </p:nvSpPr>
        <p:spPr>
          <a:xfrm>
            <a:off x="109728" y="1554480"/>
            <a:ext cx="2157984" cy="347472"/>
          </a:xfrm>
          <a:prstGeom prst="rect">
            <a:avLst>
              <a:gd name="adj" fmla="val 15789"/>
            </a:avLst>
          </a:prstGeom>
          <a:solidFill>
            <a:srgbClr val="1D4ED8"/>
          </a:solidFill>
          <a:ln/>
        </p:spPr>
      </p:sp>
      <p:sp>
        <p:nvSpPr>
          <p:cNvPr id="12" name="Text 10"/>
          <p:cNvSpPr/>
          <p:nvPr/>
        </p:nvSpPr>
        <p:spPr>
          <a:xfrm>
            <a:off x="320040" y="1600200"/>
            <a:ext cx="19202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</a:rPr>
              <a:t>Dashboard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320040" y="2020824"/>
            <a:ext cx="19202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</a:rPr>
              <a:t>Inventory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320040" y="2441448"/>
            <a:ext cx="19202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</a:rPr>
              <a:t>Dispense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320040" y="2862072"/>
            <a:ext cx="19202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</a:rPr>
              <a:t>Receive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320040" y="3282696"/>
            <a:ext cx="19202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</a:rPr>
              <a:t>Scan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320040" y="3703320"/>
            <a:ext cx="19202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</a:rPr>
              <a:t>Print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320040" y="4123944"/>
            <a:ext cx="19202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</a:rPr>
              <a:t>History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320040" y="4544568"/>
            <a:ext cx="19202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</a:rPr>
              <a:t>Overview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320040" y="4965192"/>
            <a:ext cx="19202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</a:rPr>
              <a:t>Locations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320040" y="5385816"/>
            <a:ext cx="19202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</a:rPr>
              <a:t>Users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2834640" y="1188720"/>
            <a:ext cx="89611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3B82F6"/>
                </a:solidFill>
              </a:rPr>
              <a:t>IS-C · INFORMATION SYSTEMS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2834640" y="1508760"/>
            <a:ext cx="896112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800" b="1" dirty="0">
                <a:solidFill>
                  <a:srgbClr val="FFFFFF"/>
                </a:solidFill>
              </a:rPr>
              <a:t>MedStock HIS</a:t>
            </a:r>
            <a:endParaRPr lang="en-US" sz="5800" dirty="0"/>
          </a:p>
        </p:txBody>
      </p:sp>
      <p:sp>
        <p:nvSpPr>
          <p:cNvPr id="24" name="Text 22"/>
          <p:cNvSpPr/>
          <p:nvPr/>
        </p:nvSpPr>
        <p:spPr>
          <a:xfrm>
            <a:off x="2834640" y="2834640"/>
            <a:ext cx="8961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93C5FD"/>
                </a:solidFill>
              </a:rPr>
              <a:t>Hospital Pharmacy Inventory System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2834640" y="3337560"/>
            <a:ext cx="8961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4A3B8"/>
                </a:solidFill>
              </a:rPr>
              <a:t>ระบบจัดการคลังเวชภัณฑ์โรงพยาบาล รองรับหลายสถานพยาบาล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2834640" y="3749040"/>
            <a:ext cx="8961120" cy="27432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27" name="Shape 25"/>
          <p:cNvSpPr/>
          <p:nvPr/>
        </p:nvSpPr>
        <p:spPr>
          <a:xfrm>
            <a:off x="2834640" y="3886200"/>
            <a:ext cx="2011680" cy="868680"/>
          </a:xfrm>
          <a:prstGeom prst="rect">
            <a:avLst>
              <a:gd name="adj" fmla="val 8421"/>
            </a:avLst>
          </a:prstGeom>
          <a:solidFill>
            <a:srgbClr val="1E293B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017520" y="3950208"/>
            <a:ext cx="1645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B82F6"/>
                </a:solidFill>
              </a:rPr>
              <a:t>8</a:t>
            </a:r>
            <a:endParaRPr lang="en-US" sz="2000" dirty="0"/>
          </a:p>
        </p:txBody>
      </p:sp>
      <p:sp>
        <p:nvSpPr>
          <p:cNvPr id="29" name="Text 27"/>
          <p:cNvSpPr/>
          <p:nvPr/>
        </p:nvSpPr>
        <p:spPr>
          <a:xfrm>
            <a:off x="3017520" y="4334256"/>
            <a:ext cx="1645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</a:rPr>
              <a:t>Locations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5029200" y="3886200"/>
            <a:ext cx="2011680" cy="868680"/>
          </a:xfrm>
          <a:prstGeom prst="rect">
            <a:avLst>
              <a:gd name="adj" fmla="val 8421"/>
            </a:avLst>
          </a:prstGeom>
          <a:solidFill>
            <a:srgbClr val="1E293B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212080" y="3950208"/>
            <a:ext cx="1645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B82F6"/>
                </a:solidFill>
              </a:rPr>
              <a:t>100%</a:t>
            </a:r>
            <a:endParaRPr lang="en-US" sz="2000" dirty="0"/>
          </a:p>
        </p:txBody>
      </p:sp>
      <p:sp>
        <p:nvSpPr>
          <p:cNvPr id="32" name="Text 30"/>
          <p:cNvSpPr/>
          <p:nvPr/>
        </p:nvSpPr>
        <p:spPr>
          <a:xfrm>
            <a:off x="5212080" y="4334256"/>
            <a:ext cx="1645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</a:rPr>
              <a:t>Web-based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7223760" y="3886200"/>
            <a:ext cx="2011680" cy="868680"/>
          </a:xfrm>
          <a:prstGeom prst="rect">
            <a:avLst>
              <a:gd name="adj" fmla="val 8421"/>
            </a:avLst>
          </a:prstGeom>
          <a:solidFill>
            <a:srgbClr val="1E293B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7406640" y="3950208"/>
            <a:ext cx="1645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B82F6"/>
                </a:solidFill>
              </a:rPr>
              <a:t>SHA-256</a:t>
            </a:r>
            <a:endParaRPr lang="en-US" sz="2000" dirty="0"/>
          </a:p>
        </p:txBody>
      </p:sp>
      <p:sp>
        <p:nvSpPr>
          <p:cNvPr id="35" name="Text 33"/>
          <p:cNvSpPr/>
          <p:nvPr/>
        </p:nvSpPr>
        <p:spPr>
          <a:xfrm>
            <a:off x="7406640" y="4334256"/>
            <a:ext cx="1645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</a:rPr>
              <a:t>Password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9418320" y="3886200"/>
            <a:ext cx="2011680" cy="868680"/>
          </a:xfrm>
          <a:prstGeom prst="rect">
            <a:avLst>
              <a:gd name="adj" fmla="val 8421"/>
            </a:avLst>
          </a:prstGeom>
          <a:solidFill>
            <a:srgbClr val="1E293B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9601200" y="3950208"/>
            <a:ext cx="1645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B82F6"/>
                </a:solidFill>
              </a:rPr>
              <a:t>12h</a:t>
            </a:r>
            <a:endParaRPr lang="en-US" sz="2000" dirty="0"/>
          </a:p>
        </p:txBody>
      </p:sp>
      <p:sp>
        <p:nvSpPr>
          <p:cNvPr id="38" name="Text 36"/>
          <p:cNvSpPr/>
          <p:nvPr/>
        </p:nvSpPr>
        <p:spPr>
          <a:xfrm>
            <a:off x="9601200" y="4334256"/>
            <a:ext cx="1645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</a:rPr>
              <a:t>Session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0" y="6446520"/>
            <a:ext cx="12188952" cy="41148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40" name="Shape 38"/>
          <p:cNvSpPr/>
          <p:nvPr/>
        </p:nvSpPr>
        <p:spPr>
          <a:xfrm>
            <a:off x="0" y="6446520"/>
            <a:ext cx="12188952" cy="22860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41" name="Text 39"/>
          <p:cNvSpPr/>
          <p:nvPr/>
        </p:nvSpPr>
        <p:spPr>
          <a:xfrm>
            <a:off x="274320" y="6492240"/>
            <a:ext cx="11430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medstock-his.vercel.app  ·  IS-C Department  ·  Hospital Information System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50976"/>
            <a:ext cx="12188952" cy="22860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54864" cy="960120"/>
          </a:xfrm>
          <a:prstGeom prst="rect">
            <a:avLst/>
          </a:prstGeom>
          <a:solidFill>
            <a:srgbClr val="1D4ED8"/>
          </a:solidFill>
          <a:ln/>
        </p:spPr>
      </p:sp>
      <p:sp>
        <p:nvSpPr>
          <p:cNvPr id="5" name="Text 3"/>
          <p:cNvSpPr/>
          <p:nvPr/>
        </p:nvSpPr>
        <p:spPr>
          <a:xfrm>
            <a:off x="182880" y="73152"/>
            <a:ext cx="7315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93C5FD"/>
                </a:solidFill>
              </a:rPr>
              <a:t>MedStock HIS  ·  ภาพรวมระบบ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182880" y="292608"/>
            <a:ext cx="109728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System Architecture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182880" y="731520"/>
            <a:ext cx="10972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</a:rPr>
              <a:t>โครงสร้างระบบและการทำงานโดยรวม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20040" y="1097280"/>
            <a:ext cx="7498080" cy="960120"/>
          </a:xfrm>
          <a:prstGeom prst="rect">
            <a:avLst>
              <a:gd name="adj" fmla="val 7619"/>
            </a:avLst>
          </a:prstGeom>
          <a:solidFill>
            <a:srgbClr val="1E293B"/>
          </a:solidFill>
          <a:ln w="19050">
            <a:solidFill>
              <a:srgbClr val="3B82F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20040" y="1097280"/>
            <a:ext cx="64008" cy="96012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10" name="Text 8"/>
          <p:cNvSpPr/>
          <p:nvPr/>
        </p:nvSpPr>
        <p:spPr>
          <a:xfrm>
            <a:off x="548640" y="1207008"/>
            <a:ext cx="3657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👤 Users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548640" y="1554480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</a:rPr>
              <a:t>Staff / Admin ใช้งานผ่าน Browser บนทุกอุปกรณ์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3840480" y="2029968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34155"/>
                </a:solidFill>
              </a:rPr>
              <a:t>↓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320040" y="2286000"/>
            <a:ext cx="7498080" cy="960120"/>
          </a:xfrm>
          <a:prstGeom prst="rect">
            <a:avLst>
              <a:gd name="adj" fmla="val 7619"/>
            </a:avLst>
          </a:prstGeom>
          <a:solidFill>
            <a:srgbClr val="1E293B"/>
          </a:solidFill>
          <a:ln w="19050">
            <a:solidFill>
              <a:srgbClr val="A78BFA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0040" y="2286000"/>
            <a:ext cx="64008" cy="960120"/>
          </a:xfrm>
          <a:prstGeom prst="rect">
            <a:avLst/>
          </a:prstGeom>
          <a:solidFill>
            <a:srgbClr val="A78BFA"/>
          </a:solidFill>
          <a:ln/>
        </p:spPr>
      </p:sp>
      <p:sp>
        <p:nvSpPr>
          <p:cNvPr id="15" name="Text 13"/>
          <p:cNvSpPr/>
          <p:nvPr/>
        </p:nvSpPr>
        <p:spPr>
          <a:xfrm>
            <a:off x="548640" y="2395728"/>
            <a:ext cx="3657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🌐 Frontend (Vercel)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548640" y="2743200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</a:rPr>
              <a:t>React + TypeScript + Tailwind CSS v4 · SPA ไม่ต้องติดตั้ง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3840480" y="3218688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34155"/>
                </a:solidFill>
              </a:rPr>
              <a:t>↓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320040" y="3474720"/>
            <a:ext cx="7498080" cy="960120"/>
          </a:xfrm>
          <a:prstGeom prst="rect">
            <a:avLst>
              <a:gd name="adj" fmla="val 7619"/>
            </a:avLst>
          </a:prstGeom>
          <a:solidFill>
            <a:srgbClr val="1E293B"/>
          </a:solidFill>
          <a:ln w="19050">
            <a:solidFill>
              <a:srgbClr val="34D39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20040" y="3474720"/>
            <a:ext cx="64008" cy="960120"/>
          </a:xfrm>
          <a:prstGeom prst="rect">
            <a:avLst/>
          </a:prstGeom>
          <a:solidFill>
            <a:srgbClr val="34D399"/>
          </a:solidFill>
          <a:ln/>
        </p:spPr>
      </p:sp>
      <p:sp>
        <p:nvSpPr>
          <p:cNvPr id="20" name="Text 18"/>
          <p:cNvSpPr/>
          <p:nvPr/>
        </p:nvSpPr>
        <p:spPr>
          <a:xfrm>
            <a:off x="548640" y="3584448"/>
            <a:ext cx="3657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🗄️ Backend (Supabase)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548640" y="3931920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</a:rPr>
              <a:t>PostgreSQL Database + File Storage · REST API อัตโนมัติ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3840480" y="4407408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34155"/>
                </a:solidFill>
              </a:rPr>
              <a:t>↓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320040" y="4663440"/>
            <a:ext cx="7498080" cy="960120"/>
          </a:xfrm>
          <a:prstGeom prst="rect">
            <a:avLst>
              <a:gd name="adj" fmla="val 7619"/>
            </a:avLst>
          </a:prstGeom>
          <a:solidFill>
            <a:srgbClr val="1E293B"/>
          </a:solidFill>
          <a:ln w="19050">
            <a:solidFill>
              <a:srgbClr val="FCD34D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20040" y="4663440"/>
            <a:ext cx="64008" cy="960120"/>
          </a:xfrm>
          <a:prstGeom prst="rect">
            <a:avLst/>
          </a:prstGeom>
          <a:solidFill>
            <a:srgbClr val="FCD34D"/>
          </a:solidFill>
          <a:ln/>
        </p:spPr>
      </p:sp>
      <p:sp>
        <p:nvSpPr>
          <p:cNvPr id="25" name="Text 23"/>
          <p:cNvSpPr/>
          <p:nvPr/>
        </p:nvSpPr>
        <p:spPr>
          <a:xfrm>
            <a:off x="548640" y="4773168"/>
            <a:ext cx="3657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🔐 Auth Layer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48640" y="5120640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</a:rPr>
              <a:t>SHA-256 hashing · Role-based · Location-scoped · 12h session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8138160" y="109728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3C5FD"/>
                </a:solidFill>
              </a:rPr>
              <a:t>Database Tables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8138160" y="1417320"/>
            <a:ext cx="3749040" cy="822960"/>
          </a:xfrm>
          <a:prstGeom prst="rect">
            <a:avLst>
              <a:gd name="adj" fmla="val 8889"/>
            </a:avLst>
          </a:prstGeom>
          <a:solidFill>
            <a:srgbClr val="1E293B"/>
          </a:solidFill>
          <a:ln w="12700">
            <a:solidFill>
              <a:srgbClr val="FCD34D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138160" y="1417320"/>
            <a:ext cx="54864" cy="822960"/>
          </a:xfrm>
          <a:prstGeom prst="rect">
            <a:avLst/>
          </a:prstGeom>
          <a:solidFill>
            <a:srgbClr val="FCD34D"/>
          </a:solidFill>
          <a:ln/>
        </p:spPr>
      </p:sp>
      <p:sp>
        <p:nvSpPr>
          <p:cNvPr id="30" name="Text 28"/>
          <p:cNvSpPr/>
          <p:nvPr/>
        </p:nvSpPr>
        <p:spPr>
          <a:xfrm>
            <a:off x="8302752" y="1481328"/>
            <a:ext cx="34747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user_profile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8302752" y="1737360"/>
            <a:ext cx="34747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</a:rPr>
              <a:t>id, username, password_hash, role, allowed_pages</a:t>
            </a:r>
            <a:endParaRPr lang="en-US" sz="850" dirty="0"/>
          </a:p>
        </p:txBody>
      </p:sp>
      <p:sp>
        <p:nvSpPr>
          <p:cNvPr id="32" name="Shape 30"/>
          <p:cNvSpPr/>
          <p:nvPr/>
        </p:nvSpPr>
        <p:spPr>
          <a:xfrm>
            <a:off x="8138160" y="2377440"/>
            <a:ext cx="3749040" cy="822960"/>
          </a:xfrm>
          <a:prstGeom prst="rect">
            <a:avLst>
              <a:gd name="adj" fmla="val 8889"/>
            </a:avLst>
          </a:prstGeom>
          <a:solidFill>
            <a:srgbClr val="1E293B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8138160" y="2377440"/>
            <a:ext cx="54864" cy="82296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4" name="Text 32"/>
          <p:cNvSpPr/>
          <p:nvPr/>
        </p:nvSpPr>
        <p:spPr>
          <a:xfrm>
            <a:off x="8302752" y="2441448"/>
            <a:ext cx="34747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location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8302752" y="2697480"/>
            <a:ext cx="34747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</a:rPr>
              <a:t>id, code, name, s_active</a:t>
            </a:r>
            <a:endParaRPr lang="en-US" sz="850" dirty="0"/>
          </a:p>
        </p:txBody>
      </p:sp>
      <p:sp>
        <p:nvSpPr>
          <p:cNvPr id="36" name="Shape 34"/>
          <p:cNvSpPr/>
          <p:nvPr/>
        </p:nvSpPr>
        <p:spPr>
          <a:xfrm>
            <a:off x="8138160" y="3337560"/>
            <a:ext cx="3749040" cy="822960"/>
          </a:xfrm>
          <a:prstGeom prst="rect">
            <a:avLst>
              <a:gd name="adj" fmla="val 8889"/>
            </a:avLst>
          </a:prstGeom>
          <a:solidFill>
            <a:srgbClr val="1E293B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8138160" y="3337560"/>
            <a:ext cx="54864" cy="822960"/>
          </a:xfrm>
          <a:prstGeom prst="rect">
            <a:avLst/>
          </a:prstGeom>
          <a:solidFill>
            <a:srgbClr val="A78BFA"/>
          </a:solidFill>
          <a:ln/>
        </p:spPr>
      </p:sp>
      <p:sp>
        <p:nvSpPr>
          <p:cNvPr id="38" name="Text 36"/>
          <p:cNvSpPr/>
          <p:nvPr/>
        </p:nvSpPr>
        <p:spPr>
          <a:xfrm>
            <a:off x="8302752" y="3401568"/>
            <a:ext cx="34747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user_location</a:t>
            </a:r>
            <a:endParaRPr lang="en-US" sz="1050" dirty="0"/>
          </a:p>
        </p:txBody>
      </p:sp>
      <p:sp>
        <p:nvSpPr>
          <p:cNvPr id="39" name="Text 37"/>
          <p:cNvSpPr/>
          <p:nvPr/>
        </p:nvSpPr>
        <p:spPr>
          <a:xfrm>
            <a:off x="8302752" y="3657600"/>
            <a:ext cx="34747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</a:rPr>
              <a:t>user_id, location_id (many-to-many)</a:t>
            </a:r>
            <a:endParaRPr lang="en-US" sz="850" dirty="0"/>
          </a:p>
        </p:txBody>
      </p:sp>
      <p:sp>
        <p:nvSpPr>
          <p:cNvPr id="40" name="Shape 38"/>
          <p:cNvSpPr/>
          <p:nvPr/>
        </p:nvSpPr>
        <p:spPr>
          <a:xfrm>
            <a:off x="8138160" y="4297680"/>
            <a:ext cx="3749040" cy="822960"/>
          </a:xfrm>
          <a:prstGeom prst="rect">
            <a:avLst>
              <a:gd name="adj" fmla="val 8889"/>
            </a:avLst>
          </a:prstGeom>
          <a:solidFill>
            <a:srgbClr val="1E293B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8138160" y="4297680"/>
            <a:ext cx="54864" cy="822960"/>
          </a:xfrm>
          <a:prstGeom prst="rect">
            <a:avLst/>
          </a:prstGeom>
          <a:solidFill>
            <a:srgbClr val="34D399"/>
          </a:solidFill>
          <a:ln/>
        </p:spPr>
      </p:sp>
      <p:sp>
        <p:nvSpPr>
          <p:cNvPr id="42" name="Text 40"/>
          <p:cNvSpPr/>
          <p:nvPr/>
        </p:nvSpPr>
        <p:spPr>
          <a:xfrm>
            <a:off x="8302752" y="4361688"/>
            <a:ext cx="34747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drug_master</a:t>
            </a:r>
            <a:endParaRPr lang="en-US" sz="1050" dirty="0"/>
          </a:p>
        </p:txBody>
      </p:sp>
      <p:sp>
        <p:nvSpPr>
          <p:cNvPr id="43" name="Text 41"/>
          <p:cNvSpPr/>
          <p:nvPr/>
        </p:nvSpPr>
        <p:spPr>
          <a:xfrm>
            <a:off x="8302752" y="4617720"/>
            <a:ext cx="34747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</a:rPr>
              <a:t>id, barcode, name, qty, location_id, image_url</a:t>
            </a:r>
            <a:endParaRPr lang="en-US" sz="850" dirty="0"/>
          </a:p>
        </p:txBody>
      </p:sp>
      <p:sp>
        <p:nvSpPr>
          <p:cNvPr id="44" name="Shape 42"/>
          <p:cNvSpPr/>
          <p:nvPr/>
        </p:nvSpPr>
        <p:spPr>
          <a:xfrm>
            <a:off x="8138160" y="5257800"/>
            <a:ext cx="3749040" cy="822960"/>
          </a:xfrm>
          <a:prstGeom prst="rect">
            <a:avLst>
              <a:gd name="adj" fmla="val 8889"/>
            </a:avLst>
          </a:prstGeom>
          <a:solidFill>
            <a:srgbClr val="1E293B"/>
          </a:solidFill>
          <a:ln w="12700">
            <a:solidFill>
              <a:srgbClr val="22D3EE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8138160" y="5257800"/>
            <a:ext cx="54864" cy="822960"/>
          </a:xfrm>
          <a:prstGeom prst="rect">
            <a:avLst/>
          </a:prstGeom>
          <a:solidFill>
            <a:srgbClr val="22D3EE"/>
          </a:solidFill>
          <a:ln/>
        </p:spPr>
      </p:sp>
      <p:sp>
        <p:nvSpPr>
          <p:cNvPr id="46" name="Text 44"/>
          <p:cNvSpPr/>
          <p:nvPr/>
        </p:nvSpPr>
        <p:spPr>
          <a:xfrm>
            <a:off x="8302752" y="5321808"/>
            <a:ext cx="34747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transaction</a:t>
            </a:r>
            <a:endParaRPr lang="en-US" sz="1050" dirty="0"/>
          </a:p>
        </p:txBody>
      </p:sp>
      <p:sp>
        <p:nvSpPr>
          <p:cNvPr id="47" name="Text 45"/>
          <p:cNvSpPr/>
          <p:nvPr/>
        </p:nvSpPr>
        <p:spPr>
          <a:xfrm>
            <a:off x="8302752" y="5577840"/>
            <a:ext cx="34747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</a:rPr>
              <a:t>id, barcode, qty, type, remark, user, location_id, created_at</a:t>
            </a:r>
            <a:endParaRPr lang="en-US" sz="850" dirty="0"/>
          </a:p>
        </p:txBody>
      </p:sp>
      <p:sp>
        <p:nvSpPr>
          <p:cNvPr id="48" name="Shape 46"/>
          <p:cNvSpPr/>
          <p:nvPr/>
        </p:nvSpPr>
        <p:spPr>
          <a:xfrm>
            <a:off x="0" y="6446520"/>
            <a:ext cx="12188952" cy="41148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49" name="Shape 47"/>
          <p:cNvSpPr/>
          <p:nvPr/>
        </p:nvSpPr>
        <p:spPr>
          <a:xfrm>
            <a:off x="0" y="6446520"/>
            <a:ext cx="12188952" cy="22860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50" name="Text 48"/>
          <p:cNvSpPr/>
          <p:nvPr/>
        </p:nvSpPr>
        <p:spPr>
          <a:xfrm>
            <a:off x="274320" y="6492240"/>
            <a:ext cx="11430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medstock-his.vercel.app  ·  IS-C Department  ·  Hospital Information System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50976"/>
            <a:ext cx="12188952" cy="22860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54864" cy="960120"/>
          </a:xfrm>
          <a:prstGeom prst="rect">
            <a:avLst/>
          </a:prstGeom>
          <a:solidFill>
            <a:srgbClr val="1D4ED8"/>
          </a:solidFill>
          <a:ln/>
        </p:spPr>
      </p:sp>
      <p:sp>
        <p:nvSpPr>
          <p:cNvPr id="5" name="Text 3"/>
          <p:cNvSpPr/>
          <p:nvPr/>
        </p:nvSpPr>
        <p:spPr>
          <a:xfrm>
            <a:off x="182880" y="73152"/>
            <a:ext cx="7315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93C5FD"/>
                </a:solidFill>
              </a:rPr>
              <a:t>MedStock HIS  ·  Authentication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182880" y="292608"/>
            <a:ext cx="109728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Login &amp; Session Management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182880" y="731520"/>
            <a:ext cx="10972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</a:rPr>
              <a:t>การยืนยันตัวตนและจัดการ session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20040" y="1097280"/>
            <a:ext cx="5029200" cy="5029200"/>
          </a:xfrm>
          <a:prstGeom prst="rect">
            <a:avLst>
              <a:gd name="adj" fmla="val 1455"/>
            </a:avLst>
          </a:prstGeom>
          <a:solidFill>
            <a:srgbClr val="1E293B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20040" y="1097280"/>
            <a:ext cx="5029200" cy="1463040"/>
          </a:xfrm>
          <a:prstGeom prst="rect">
            <a:avLst>
              <a:gd name="adj" fmla="val 5000"/>
            </a:avLst>
          </a:prstGeom>
          <a:solidFill>
            <a:srgbClr val="1E3A8A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1234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💊 MedStock HIS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640080" y="1627632"/>
            <a:ext cx="45720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C5FD"/>
                </a:solidFill>
              </a:rPr>
              <a:t>IS-C · Information Systems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640080" y="1920240"/>
            <a:ext cx="4572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800" b="1" dirty="0">
                <a:solidFill>
                  <a:srgbClr val="FFFFFF"/>
                </a:solidFill>
              </a:rPr>
              <a:t>Pharmacy Inventory</a:t>
            </a:r>
            <a:endParaRPr lang="en-US" sz="18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800" b="1" dirty="0">
                <a:solidFill>
                  <a:srgbClr val="FFFFFF"/>
                </a:solidFill>
              </a:rPr>
              <a:t>Made Simple.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548640" y="2834640"/>
            <a:ext cx="4572000" cy="384048"/>
          </a:xfrm>
          <a:prstGeom prst="rect">
            <a:avLst>
              <a:gd name="adj" fmla="val 14286"/>
            </a:avLst>
          </a:prstGeom>
          <a:solidFill>
            <a:srgbClr val="0F172A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1520" y="2907792"/>
            <a:ext cx="4206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</a:rPr>
              <a:t>👤  username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48640" y="3337560"/>
            <a:ext cx="4572000" cy="384048"/>
          </a:xfrm>
          <a:prstGeom prst="rect">
            <a:avLst>
              <a:gd name="adj" fmla="val 14286"/>
            </a:avLst>
          </a:prstGeom>
          <a:solidFill>
            <a:srgbClr val="0F172A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31520" y="3410712"/>
            <a:ext cx="4206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</a:rPr>
              <a:t>🔒  ••••••••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48640" y="3858768"/>
            <a:ext cx="4572000" cy="384048"/>
          </a:xfrm>
          <a:prstGeom prst="rect">
            <a:avLst>
              <a:gd name="adj" fmla="val 14286"/>
            </a:avLst>
          </a:prstGeom>
          <a:solidFill>
            <a:srgbClr val="1D4ED8"/>
          </a:solidFill>
          <a:ln/>
        </p:spPr>
      </p:sp>
      <p:sp>
        <p:nvSpPr>
          <p:cNvPr id="18" name="Text 16"/>
          <p:cNvSpPr/>
          <p:nvPr/>
        </p:nvSpPr>
        <p:spPr>
          <a:xfrm>
            <a:off x="548640" y="3931920"/>
            <a:ext cx="45720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Sign In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40080" y="4407408"/>
            <a:ext cx="4114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</a:rPr>
              <a:t>☐  Remember me on this device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5623560" y="1097280"/>
            <a:ext cx="6217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3C5FD"/>
                </a:solidFill>
              </a:rPr>
              <a:t>กระบวนการ Login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5623560" y="1508760"/>
            <a:ext cx="6217920" cy="749808"/>
          </a:xfrm>
          <a:prstGeom prst="rect">
            <a:avLst>
              <a:gd name="adj" fmla="val 9756"/>
            </a:avLst>
          </a:prstGeom>
          <a:solidFill>
            <a:srgbClr val="1E293B"/>
          </a:solidFill>
          <a:ln w="19050">
            <a:solidFill>
              <a:srgbClr val="3B82F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623560" y="1508760"/>
            <a:ext cx="64008" cy="749808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23" name="Shape 21"/>
          <p:cNvSpPr/>
          <p:nvPr/>
        </p:nvSpPr>
        <p:spPr>
          <a:xfrm>
            <a:off x="5687568" y="1572768"/>
            <a:ext cx="347472" cy="347472"/>
          </a:xfrm>
          <a:prstGeom prst="rect">
            <a:avLst>
              <a:gd name="adj" fmla="val 15789"/>
            </a:avLst>
          </a:prstGeom>
          <a:solidFill>
            <a:srgbClr val="3B82F6">
              <a:alpha val="30000"/>
            </a:srgbClr>
          </a:solidFill>
          <a:ln/>
        </p:spPr>
      </p:sp>
      <p:sp>
        <p:nvSpPr>
          <p:cNvPr id="24" name="Text 22"/>
          <p:cNvSpPr/>
          <p:nvPr/>
        </p:nvSpPr>
        <p:spPr>
          <a:xfrm>
            <a:off x="5687568" y="1581912"/>
            <a:ext cx="34747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108192" y="1572768"/>
            <a:ext cx="55778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กรอก Username + Password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108192" y="1828800"/>
            <a:ext cx="5577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</a:rPr>
              <a:t>ระบบค้นหา user จาก database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5623560" y="2404872"/>
            <a:ext cx="6217920" cy="749808"/>
          </a:xfrm>
          <a:prstGeom prst="rect">
            <a:avLst>
              <a:gd name="adj" fmla="val 9756"/>
            </a:avLst>
          </a:prstGeom>
          <a:solidFill>
            <a:srgbClr val="1E293B"/>
          </a:solidFill>
          <a:ln w="19050">
            <a:solidFill>
              <a:srgbClr val="FCD34D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623560" y="2404872"/>
            <a:ext cx="64008" cy="749808"/>
          </a:xfrm>
          <a:prstGeom prst="rect">
            <a:avLst/>
          </a:prstGeom>
          <a:solidFill>
            <a:srgbClr val="FCD34D"/>
          </a:solidFill>
          <a:ln/>
        </p:spPr>
      </p:sp>
      <p:sp>
        <p:nvSpPr>
          <p:cNvPr id="29" name="Shape 27"/>
          <p:cNvSpPr/>
          <p:nvPr/>
        </p:nvSpPr>
        <p:spPr>
          <a:xfrm>
            <a:off x="5687568" y="2468880"/>
            <a:ext cx="347472" cy="347472"/>
          </a:xfrm>
          <a:prstGeom prst="rect">
            <a:avLst>
              <a:gd name="adj" fmla="val 15789"/>
            </a:avLst>
          </a:prstGeom>
          <a:solidFill>
            <a:srgbClr val="FCD34D">
              <a:alpha val="30000"/>
            </a:srgbClr>
          </a:solidFill>
          <a:ln/>
        </p:spPr>
      </p:sp>
      <p:sp>
        <p:nvSpPr>
          <p:cNvPr id="30" name="Text 28"/>
          <p:cNvSpPr/>
          <p:nvPr/>
        </p:nvSpPr>
        <p:spPr>
          <a:xfrm>
            <a:off x="5687568" y="2478024"/>
            <a:ext cx="34747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6108192" y="2468880"/>
            <a:ext cx="55778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Hash password ด้วย SHA-256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6108192" y="2724912"/>
            <a:ext cx="5577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</a:rPr>
              <a:t>Web Crypto API — ทำงานใน browser ไม่ส่ง plaintext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5623560" y="3300984"/>
            <a:ext cx="6217920" cy="749808"/>
          </a:xfrm>
          <a:prstGeom prst="rect">
            <a:avLst>
              <a:gd name="adj" fmla="val 9756"/>
            </a:avLst>
          </a:prstGeom>
          <a:solidFill>
            <a:srgbClr val="1E293B"/>
          </a:solidFill>
          <a:ln w="19050">
            <a:solidFill>
              <a:srgbClr val="A78BFA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623560" y="3300984"/>
            <a:ext cx="64008" cy="749808"/>
          </a:xfrm>
          <a:prstGeom prst="rect">
            <a:avLst/>
          </a:prstGeom>
          <a:solidFill>
            <a:srgbClr val="A78BFA"/>
          </a:solidFill>
          <a:ln/>
        </p:spPr>
      </p:sp>
      <p:sp>
        <p:nvSpPr>
          <p:cNvPr id="35" name="Shape 33"/>
          <p:cNvSpPr/>
          <p:nvPr/>
        </p:nvSpPr>
        <p:spPr>
          <a:xfrm>
            <a:off x="5687568" y="3364992"/>
            <a:ext cx="347472" cy="347472"/>
          </a:xfrm>
          <a:prstGeom prst="rect">
            <a:avLst>
              <a:gd name="adj" fmla="val 15789"/>
            </a:avLst>
          </a:prstGeom>
          <a:solidFill>
            <a:srgbClr val="A78BFA">
              <a:alpha val="30000"/>
            </a:srgbClr>
          </a:solidFill>
          <a:ln/>
        </p:spPr>
      </p:sp>
      <p:sp>
        <p:nvSpPr>
          <p:cNvPr id="36" name="Text 34"/>
          <p:cNvSpPr/>
          <p:nvPr/>
        </p:nvSpPr>
        <p:spPr>
          <a:xfrm>
            <a:off x="5687568" y="3374136"/>
            <a:ext cx="34747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3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6108192" y="3364992"/>
            <a:ext cx="55778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เปรียบเทียบ hash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6108192" y="3621024"/>
            <a:ext cx="5577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</a:rPr>
              <a:t>ถ้า plaintext เก่า → migrate เป็น hash อัตโนมัติ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5623560" y="4197096"/>
            <a:ext cx="6217920" cy="749808"/>
          </a:xfrm>
          <a:prstGeom prst="rect">
            <a:avLst>
              <a:gd name="adj" fmla="val 9756"/>
            </a:avLst>
          </a:prstGeom>
          <a:solidFill>
            <a:srgbClr val="1E293B"/>
          </a:solidFill>
          <a:ln w="19050">
            <a:solidFill>
              <a:srgbClr val="34D399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5623560" y="4197096"/>
            <a:ext cx="64008" cy="749808"/>
          </a:xfrm>
          <a:prstGeom prst="rect">
            <a:avLst/>
          </a:prstGeom>
          <a:solidFill>
            <a:srgbClr val="34D399"/>
          </a:solidFill>
          <a:ln/>
        </p:spPr>
      </p:sp>
      <p:sp>
        <p:nvSpPr>
          <p:cNvPr id="41" name="Shape 39"/>
          <p:cNvSpPr/>
          <p:nvPr/>
        </p:nvSpPr>
        <p:spPr>
          <a:xfrm>
            <a:off x="5687568" y="4261104"/>
            <a:ext cx="347472" cy="347472"/>
          </a:xfrm>
          <a:prstGeom prst="rect">
            <a:avLst>
              <a:gd name="adj" fmla="val 15789"/>
            </a:avLst>
          </a:prstGeom>
          <a:solidFill>
            <a:srgbClr val="34D399">
              <a:alpha val="30000"/>
            </a:srgbClr>
          </a:solidFill>
          <a:ln/>
        </p:spPr>
      </p:sp>
      <p:sp>
        <p:nvSpPr>
          <p:cNvPr id="42" name="Text 40"/>
          <p:cNvSpPr/>
          <p:nvPr/>
        </p:nvSpPr>
        <p:spPr>
          <a:xfrm>
            <a:off x="5687568" y="4270248"/>
            <a:ext cx="34747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4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6108192" y="4261104"/>
            <a:ext cx="55778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โหลด Location ที่มีสิทธิ์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6108192" y="4517136"/>
            <a:ext cx="5577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</a:rPr>
              <a:t>ดึงจาก user_location table ตาม user_id</a:t>
            </a:r>
            <a:endParaRPr lang="en-US" sz="950" dirty="0"/>
          </a:p>
        </p:txBody>
      </p:sp>
      <p:sp>
        <p:nvSpPr>
          <p:cNvPr id="45" name="Shape 43"/>
          <p:cNvSpPr/>
          <p:nvPr/>
        </p:nvSpPr>
        <p:spPr>
          <a:xfrm>
            <a:off x="5623560" y="5093208"/>
            <a:ext cx="6217920" cy="749808"/>
          </a:xfrm>
          <a:prstGeom prst="rect">
            <a:avLst>
              <a:gd name="adj" fmla="val 9756"/>
            </a:avLst>
          </a:prstGeom>
          <a:solidFill>
            <a:srgbClr val="1E293B"/>
          </a:solidFill>
          <a:ln w="19050">
            <a:solidFill>
              <a:srgbClr val="22D3EE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5623560" y="5093208"/>
            <a:ext cx="64008" cy="749808"/>
          </a:xfrm>
          <a:prstGeom prst="rect">
            <a:avLst/>
          </a:prstGeom>
          <a:solidFill>
            <a:srgbClr val="22D3EE"/>
          </a:solidFill>
          <a:ln/>
        </p:spPr>
      </p:sp>
      <p:sp>
        <p:nvSpPr>
          <p:cNvPr id="47" name="Shape 45"/>
          <p:cNvSpPr/>
          <p:nvPr/>
        </p:nvSpPr>
        <p:spPr>
          <a:xfrm>
            <a:off x="5687568" y="5157216"/>
            <a:ext cx="347472" cy="347472"/>
          </a:xfrm>
          <a:prstGeom prst="rect">
            <a:avLst>
              <a:gd name="adj" fmla="val 15789"/>
            </a:avLst>
          </a:prstGeom>
          <a:solidFill>
            <a:srgbClr val="22D3EE">
              <a:alpha val="30000"/>
            </a:srgbClr>
          </a:solidFill>
          <a:ln/>
        </p:spPr>
      </p:sp>
      <p:sp>
        <p:nvSpPr>
          <p:cNvPr id="48" name="Text 46"/>
          <p:cNvSpPr/>
          <p:nvPr/>
        </p:nvSpPr>
        <p:spPr>
          <a:xfrm>
            <a:off x="5687568" y="5166360"/>
            <a:ext cx="34747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5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6108192" y="5157216"/>
            <a:ext cx="55778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เลือก Location → เข้าระบบ</a:t>
            </a:r>
            <a:endParaRPr lang="en-US" sz="1100" dirty="0"/>
          </a:p>
        </p:txBody>
      </p:sp>
      <p:sp>
        <p:nvSpPr>
          <p:cNvPr id="50" name="Text 48"/>
          <p:cNvSpPr/>
          <p:nvPr/>
        </p:nvSpPr>
        <p:spPr>
          <a:xfrm>
            <a:off x="6108192" y="5413248"/>
            <a:ext cx="5577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</a:rPr>
              <a:t>เก็บ session ใน localStorage/sessionStorage</a:t>
            </a:r>
            <a:endParaRPr lang="en-US" sz="950" dirty="0"/>
          </a:p>
        </p:txBody>
      </p:sp>
      <p:sp>
        <p:nvSpPr>
          <p:cNvPr id="51" name="Shape 49"/>
          <p:cNvSpPr/>
          <p:nvPr/>
        </p:nvSpPr>
        <p:spPr>
          <a:xfrm>
            <a:off x="5623560" y="6035040"/>
            <a:ext cx="6217920" cy="594360"/>
          </a:xfrm>
          <a:prstGeom prst="rect">
            <a:avLst>
              <a:gd name="adj" fmla="val 12308"/>
            </a:avLst>
          </a:prstGeom>
          <a:solidFill>
            <a:srgbClr val="1E293B"/>
          </a:solidFill>
          <a:ln w="12700">
            <a:solidFill>
              <a:srgbClr val="FCD34D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5806440" y="6153912"/>
            <a:ext cx="5852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CD34D"/>
                </a:solidFill>
              </a:rPr>
              <a:t>⏱️  Session: Remember Me → 12 ชั่วโมง  |  ไม่ติ๊ก → ปิด tab หมดเลย  |  Logout → ล้างทันที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0" y="6446520"/>
            <a:ext cx="12188952" cy="41148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54" name="Shape 52"/>
          <p:cNvSpPr/>
          <p:nvPr/>
        </p:nvSpPr>
        <p:spPr>
          <a:xfrm>
            <a:off x="0" y="6446520"/>
            <a:ext cx="12188952" cy="22860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55" name="Text 53"/>
          <p:cNvSpPr/>
          <p:nvPr/>
        </p:nvSpPr>
        <p:spPr>
          <a:xfrm>
            <a:off x="274320" y="6492240"/>
            <a:ext cx="11430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medstock-his.vercel.app  ·  IS-C Department  ·  Hospital Information System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50976"/>
            <a:ext cx="12188952" cy="22860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54864" cy="960120"/>
          </a:xfrm>
          <a:prstGeom prst="rect">
            <a:avLst/>
          </a:prstGeom>
          <a:solidFill>
            <a:srgbClr val="1D4ED8"/>
          </a:solidFill>
          <a:ln/>
        </p:spPr>
      </p:sp>
      <p:sp>
        <p:nvSpPr>
          <p:cNvPr id="5" name="Text 3"/>
          <p:cNvSpPr/>
          <p:nvPr/>
        </p:nvSpPr>
        <p:spPr>
          <a:xfrm>
            <a:off x="182880" y="73152"/>
            <a:ext cx="7315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93C5FD"/>
                </a:solidFill>
              </a:rPr>
              <a:t>MedStock HIS  ·  หน้าหลัก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182880" y="292608"/>
            <a:ext cx="109728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Dashboard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182880" y="731520"/>
            <a:ext cx="10972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</a:rPr>
              <a:t>ภาพรวม stock และ activity ของ location ที่เลือก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20040" y="1097280"/>
            <a:ext cx="2606040" cy="1005840"/>
          </a:xfrm>
          <a:prstGeom prst="rect">
            <a:avLst>
              <a:gd name="adj" fmla="val 7273"/>
            </a:avLst>
          </a:prstGeom>
          <a:solidFill>
            <a:srgbClr val="1E293B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20040" y="1097280"/>
            <a:ext cx="2606040" cy="54864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10" name="Text 8"/>
          <p:cNvSpPr/>
          <p:nvPr/>
        </p:nvSpPr>
        <p:spPr>
          <a:xfrm>
            <a:off x="502920" y="1170432"/>
            <a:ext cx="2286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</a:rPr>
              <a:t>Total Items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502920" y="1417320"/>
            <a:ext cx="2286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48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502920" y="1828800"/>
            <a:ext cx="2286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</a:rPr>
              <a:t>รายการยาทั้งหมด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3154680" y="1097280"/>
            <a:ext cx="2606040" cy="1005840"/>
          </a:xfrm>
          <a:prstGeom prst="rect">
            <a:avLst>
              <a:gd name="adj" fmla="val 7273"/>
            </a:avLst>
          </a:prstGeom>
          <a:solidFill>
            <a:srgbClr val="1E293B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154680" y="1097280"/>
            <a:ext cx="2606040" cy="54864"/>
          </a:xfrm>
          <a:prstGeom prst="rect">
            <a:avLst/>
          </a:prstGeom>
          <a:solidFill>
            <a:srgbClr val="34D399"/>
          </a:solidFill>
          <a:ln/>
        </p:spPr>
      </p:sp>
      <p:sp>
        <p:nvSpPr>
          <p:cNvPr id="15" name="Text 13"/>
          <p:cNvSpPr/>
          <p:nvPr/>
        </p:nvSpPr>
        <p:spPr>
          <a:xfrm>
            <a:off x="3337560" y="1170432"/>
            <a:ext cx="2286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</a:rPr>
              <a:t>Total Stock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3337560" y="1417320"/>
            <a:ext cx="2286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1,240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3337560" y="1828800"/>
            <a:ext cx="2286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</a:rPr>
              <a:t>จำนวนหน่วยรวม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5989320" y="1097280"/>
            <a:ext cx="2606040" cy="1005840"/>
          </a:xfrm>
          <a:prstGeom prst="rect">
            <a:avLst>
              <a:gd name="adj" fmla="val 7273"/>
            </a:avLst>
          </a:prstGeom>
          <a:solidFill>
            <a:srgbClr val="1E293B"/>
          </a:solidFill>
          <a:ln w="12700">
            <a:solidFill>
              <a:srgbClr val="F87171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989320" y="1097280"/>
            <a:ext cx="2606040" cy="54864"/>
          </a:xfrm>
          <a:prstGeom prst="rect">
            <a:avLst/>
          </a:prstGeom>
          <a:solidFill>
            <a:srgbClr val="F87171"/>
          </a:solidFill>
          <a:ln/>
        </p:spPr>
      </p:sp>
      <p:sp>
        <p:nvSpPr>
          <p:cNvPr id="20" name="Text 18"/>
          <p:cNvSpPr/>
          <p:nvPr/>
        </p:nvSpPr>
        <p:spPr>
          <a:xfrm>
            <a:off x="6172200" y="1170432"/>
            <a:ext cx="2286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</a:rPr>
              <a:t>Low Stock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6172200" y="1417320"/>
            <a:ext cx="2286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6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6172200" y="1828800"/>
            <a:ext cx="2286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</a:rPr>
              <a:t>ใกล้หมด (&lt;10)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8823960" y="1097280"/>
            <a:ext cx="2606040" cy="1005840"/>
          </a:xfrm>
          <a:prstGeom prst="rect">
            <a:avLst>
              <a:gd name="adj" fmla="val 7273"/>
            </a:avLst>
          </a:prstGeom>
          <a:solidFill>
            <a:srgbClr val="1E293B"/>
          </a:solidFill>
          <a:ln w="12700">
            <a:solidFill>
              <a:srgbClr val="FCD34D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823960" y="1097280"/>
            <a:ext cx="2606040" cy="54864"/>
          </a:xfrm>
          <a:prstGeom prst="rect">
            <a:avLst/>
          </a:prstGeom>
          <a:solidFill>
            <a:srgbClr val="FCD34D"/>
          </a:solidFill>
          <a:ln/>
        </p:spPr>
      </p:sp>
      <p:sp>
        <p:nvSpPr>
          <p:cNvPr id="25" name="Text 23"/>
          <p:cNvSpPr/>
          <p:nvPr/>
        </p:nvSpPr>
        <p:spPr>
          <a:xfrm>
            <a:off x="9006840" y="1170432"/>
            <a:ext cx="2286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</a:rPr>
              <a:t>Today Transactions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9006840" y="1417320"/>
            <a:ext cx="2286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23</a:t>
            </a:r>
            <a:endParaRPr lang="en-US" sz="2200" dirty="0"/>
          </a:p>
        </p:txBody>
      </p:sp>
      <p:sp>
        <p:nvSpPr>
          <p:cNvPr id="27" name="Text 25"/>
          <p:cNvSpPr/>
          <p:nvPr/>
        </p:nvSpPr>
        <p:spPr>
          <a:xfrm>
            <a:off x="9006840" y="1828800"/>
            <a:ext cx="2286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</a:rPr>
              <a:t>การเคลื่อนไหววันนี้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20040" y="2286000"/>
            <a:ext cx="6858000" cy="3063240"/>
          </a:xfrm>
          <a:prstGeom prst="rect">
            <a:avLst>
              <a:gd name="adj" fmla="val 2388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02920" y="2395728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</a:rPr>
              <a:t>📊  Activity Chart — 7 วันล่าสุด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4663440" y="2404872"/>
            <a:ext cx="2743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4D399"/>
                </a:solidFill>
              </a:rPr>
              <a:t>IN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5029200" y="2404872"/>
            <a:ext cx="3657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87171"/>
                </a:solidFill>
              </a:rPr>
              <a:t>OUT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640080" y="3328416"/>
            <a:ext cx="292608" cy="877824"/>
          </a:xfrm>
          <a:prstGeom prst="rect">
            <a:avLst>
              <a:gd name="adj" fmla="val 12500"/>
            </a:avLst>
          </a:prstGeom>
          <a:solidFill>
            <a:srgbClr val="34D399">
              <a:alpha val="70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>
            <a:off x="960120" y="3621024"/>
            <a:ext cx="292608" cy="585216"/>
          </a:xfrm>
          <a:prstGeom prst="rect">
            <a:avLst>
              <a:gd name="adj" fmla="val 12500"/>
            </a:avLst>
          </a:prstGeom>
          <a:solidFill>
            <a:srgbClr val="F87171">
              <a:alpha val="70000"/>
            </a:srgbClr>
          </a:solidFill>
          <a:ln/>
        </p:spPr>
      </p:sp>
      <p:sp>
        <p:nvSpPr>
          <p:cNvPr id="34" name="Text 32"/>
          <p:cNvSpPr/>
          <p:nvPr/>
        </p:nvSpPr>
        <p:spPr>
          <a:xfrm>
            <a:off x="640080" y="4251960"/>
            <a:ext cx="640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4A3B8"/>
                </a:solidFill>
              </a:rPr>
              <a:t>จ</a:t>
            </a:r>
            <a:endParaRPr lang="en-US" sz="800" dirty="0"/>
          </a:p>
        </p:txBody>
      </p:sp>
      <p:sp>
        <p:nvSpPr>
          <p:cNvPr id="35" name="Shape 33"/>
          <p:cNvSpPr/>
          <p:nvPr/>
        </p:nvSpPr>
        <p:spPr>
          <a:xfrm>
            <a:off x="1508760" y="3840480"/>
            <a:ext cx="292608" cy="365760"/>
          </a:xfrm>
          <a:prstGeom prst="rect">
            <a:avLst>
              <a:gd name="adj" fmla="val 12500"/>
            </a:avLst>
          </a:prstGeom>
          <a:solidFill>
            <a:srgbClr val="34D399">
              <a:alpha val="70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>
            <a:off x="1828800" y="3108960"/>
            <a:ext cx="292608" cy="1097280"/>
          </a:xfrm>
          <a:prstGeom prst="rect">
            <a:avLst>
              <a:gd name="adj" fmla="val 12500"/>
            </a:avLst>
          </a:prstGeom>
          <a:solidFill>
            <a:srgbClr val="F87171">
              <a:alpha val="70000"/>
            </a:srgbClr>
          </a:solidFill>
          <a:ln/>
        </p:spPr>
      </p:sp>
      <p:sp>
        <p:nvSpPr>
          <p:cNvPr id="37" name="Text 35"/>
          <p:cNvSpPr/>
          <p:nvPr/>
        </p:nvSpPr>
        <p:spPr>
          <a:xfrm>
            <a:off x="1508760" y="4251960"/>
            <a:ext cx="640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4A3B8"/>
                </a:solidFill>
              </a:rPr>
              <a:t>อ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2377440" y="2743200"/>
            <a:ext cx="292608" cy="1463040"/>
          </a:xfrm>
          <a:prstGeom prst="rect">
            <a:avLst>
              <a:gd name="adj" fmla="val 12500"/>
            </a:avLst>
          </a:prstGeom>
          <a:solidFill>
            <a:srgbClr val="34D399">
              <a:alpha val="70000"/>
            </a:srgbClr>
          </a:solidFill>
          <a:ln/>
        </p:spPr>
      </p:sp>
      <p:sp>
        <p:nvSpPr>
          <p:cNvPr id="39" name="Shape 37"/>
          <p:cNvSpPr/>
          <p:nvPr/>
        </p:nvSpPr>
        <p:spPr>
          <a:xfrm>
            <a:off x="2697480" y="3767328"/>
            <a:ext cx="292608" cy="438912"/>
          </a:xfrm>
          <a:prstGeom prst="rect">
            <a:avLst>
              <a:gd name="adj" fmla="val 12500"/>
            </a:avLst>
          </a:prstGeom>
          <a:solidFill>
            <a:srgbClr val="F87171">
              <a:alpha val="70000"/>
            </a:srgbClr>
          </a:solidFill>
          <a:ln/>
        </p:spPr>
      </p:sp>
      <p:sp>
        <p:nvSpPr>
          <p:cNvPr id="40" name="Text 38"/>
          <p:cNvSpPr/>
          <p:nvPr/>
        </p:nvSpPr>
        <p:spPr>
          <a:xfrm>
            <a:off x="2377440" y="4251960"/>
            <a:ext cx="640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4A3B8"/>
                </a:solidFill>
              </a:rPr>
              <a:t>พ</a:t>
            </a:r>
            <a:endParaRPr lang="en-US" sz="800" dirty="0"/>
          </a:p>
        </p:txBody>
      </p:sp>
      <p:sp>
        <p:nvSpPr>
          <p:cNvPr id="41" name="Shape 39"/>
          <p:cNvSpPr/>
          <p:nvPr/>
        </p:nvSpPr>
        <p:spPr>
          <a:xfrm>
            <a:off x="3246120" y="3621024"/>
            <a:ext cx="292608" cy="585216"/>
          </a:xfrm>
          <a:prstGeom prst="rect">
            <a:avLst>
              <a:gd name="adj" fmla="val 12500"/>
            </a:avLst>
          </a:prstGeom>
          <a:solidFill>
            <a:srgbClr val="34D399">
              <a:alpha val="70000"/>
            </a:srgbClr>
          </a:solidFill>
          <a:ln/>
        </p:spPr>
      </p:sp>
      <p:sp>
        <p:nvSpPr>
          <p:cNvPr id="42" name="Shape 40"/>
          <p:cNvSpPr/>
          <p:nvPr/>
        </p:nvSpPr>
        <p:spPr>
          <a:xfrm>
            <a:off x="3566160" y="3474720"/>
            <a:ext cx="292608" cy="731520"/>
          </a:xfrm>
          <a:prstGeom prst="rect">
            <a:avLst>
              <a:gd name="adj" fmla="val 12500"/>
            </a:avLst>
          </a:prstGeom>
          <a:solidFill>
            <a:srgbClr val="F87171">
              <a:alpha val="70000"/>
            </a:srgbClr>
          </a:solidFill>
          <a:ln/>
        </p:spPr>
      </p:sp>
      <p:sp>
        <p:nvSpPr>
          <p:cNvPr id="43" name="Text 41"/>
          <p:cNvSpPr/>
          <p:nvPr/>
        </p:nvSpPr>
        <p:spPr>
          <a:xfrm>
            <a:off x="3246120" y="4251960"/>
            <a:ext cx="640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4A3B8"/>
                </a:solidFill>
              </a:rPr>
              <a:t>พฤ</a:t>
            </a:r>
            <a:endParaRPr lang="en-US" sz="800" dirty="0"/>
          </a:p>
        </p:txBody>
      </p:sp>
      <p:sp>
        <p:nvSpPr>
          <p:cNvPr id="44" name="Shape 42"/>
          <p:cNvSpPr/>
          <p:nvPr/>
        </p:nvSpPr>
        <p:spPr>
          <a:xfrm>
            <a:off x="4114800" y="3108960"/>
            <a:ext cx="292608" cy="1097280"/>
          </a:xfrm>
          <a:prstGeom prst="rect">
            <a:avLst>
              <a:gd name="adj" fmla="val 12500"/>
            </a:avLst>
          </a:prstGeom>
          <a:solidFill>
            <a:srgbClr val="34D399">
              <a:alpha val="70000"/>
            </a:srgbClr>
          </a:solidFill>
          <a:ln/>
        </p:spPr>
      </p:sp>
      <p:sp>
        <p:nvSpPr>
          <p:cNvPr id="45" name="Shape 43"/>
          <p:cNvSpPr/>
          <p:nvPr/>
        </p:nvSpPr>
        <p:spPr>
          <a:xfrm>
            <a:off x="4434840" y="3328416"/>
            <a:ext cx="292608" cy="877824"/>
          </a:xfrm>
          <a:prstGeom prst="rect">
            <a:avLst>
              <a:gd name="adj" fmla="val 12500"/>
            </a:avLst>
          </a:prstGeom>
          <a:solidFill>
            <a:srgbClr val="F87171">
              <a:alpha val="70000"/>
            </a:srgbClr>
          </a:solidFill>
          <a:ln/>
        </p:spPr>
      </p:sp>
      <p:sp>
        <p:nvSpPr>
          <p:cNvPr id="46" name="Text 44"/>
          <p:cNvSpPr/>
          <p:nvPr/>
        </p:nvSpPr>
        <p:spPr>
          <a:xfrm>
            <a:off x="4114800" y="4251960"/>
            <a:ext cx="640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4A3B8"/>
                </a:solidFill>
              </a:rPr>
              <a:t>ศ</a:t>
            </a:r>
            <a:endParaRPr lang="en-US" sz="800" dirty="0"/>
          </a:p>
        </p:txBody>
      </p:sp>
      <p:sp>
        <p:nvSpPr>
          <p:cNvPr id="47" name="Shape 45"/>
          <p:cNvSpPr/>
          <p:nvPr/>
        </p:nvSpPr>
        <p:spPr>
          <a:xfrm>
            <a:off x="4983480" y="2889504"/>
            <a:ext cx="292608" cy="1316736"/>
          </a:xfrm>
          <a:prstGeom prst="rect">
            <a:avLst>
              <a:gd name="adj" fmla="val 12500"/>
            </a:avLst>
          </a:prstGeom>
          <a:solidFill>
            <a:srgbClr val="34D399">
              <a:alpha val="70000"/>
            </a:srgbClr>
          </a:solidFill>
          <a:ln/>
        </p:spPr>
      </p:sp>
      <p:sp>
        <p:nvSpPr>
          <p:cNvPr id="48" name="Shape 46"/>
          <p:cNvSpPr/>
          <p:nvPr/>
        </p:nvSpPr>
        <p:spPr>
          <a:xfrm>
            <a:off x="5303520" y="3694176"/>
            <a:ext cx="292608" cy="512064"/>
          </a:xfrm>
          <a:prstGeom prst="rect">
            <a:avLst>
              <a:gd name="adj" fmla="val 12500"/>
            </a:avLst>
          </a:prstGeom>
          <a:solidFill>
            <a:srgbClr val="F87171">
              <a:alpha val="70000"/>
            </a:srgbClr>
          </a:solidFill>
          <a:ln/>
        </p:spPr>
      </p:sp>
      <p:sp>
        <p:nvSpPr>
          <p:cNvPr id="49" name="Text 47"/>
          <p:cNvSpPr/>
          <p:nvPr/>
        </p:nvSpPr>
        <p:spPr>
          <a:xfrm>
            <a:off x="4983480" y="4251960"/>
            <a:ext cx="640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4A3B8"/>
                </a:solidFill>
              </a:rPr>
              <a:t>ส</a:t>
            </a:r>
            <a:endParaRPr lang="en-US" sz="800" dirty="0"/>
          </a:p>
        </p:txBody>
      </p:sp>
      <p:sp>
        <p:nvSpPr>
          <p:cNvPr id="50" name="Shape 48"/>
          <p:cNvSpPr/>
          <p:nvPr/>
        </p:nvSpPr>
        <p:spPr>
          <a:xfrm>
            <a:off x="5852160" y="3547872"/>
            <a:ext cx="292608" cy="658368"/>
          </a:xfrm>
          <a:prstGeom prst="rect">
            <a:avLst>
              <a:gd name="adj" fmla="val 12500"/>
            </a:avLst>
          </a:prstGeom>
          <a:solidFill>
            <a:srgbClr val="34D399">
              <a:alpha val="70000"/>
            </a:srgbClr>
          </a:solidFill>
          <a:ln/>
        </p:spPr>
      </p:sp>
      <p:sp>
        <p:nvSpPr>
          <p:cNvPr id="51" name="Shape 49"/>
          <p:cNvSpPr/>
          <p:nvPr/>
        </p:nvSpPr>
        <p:spPr>
          <a:xfrm>
            <a:off x="6172200" y="3182112"/>
            <a:ext cx="292608" cy="1024128"/>
          </a:xfrm>
          <a:prstGeom prst="rect">
            <a:avLst>
              <a:gd name="adj" fmla="val 12500"/>
            </a:avLst>
          </a:prstGeom>
          <a:solidFill>
            <a:srgbClr val="F87171">
              <a:alpha val="70000"/>
            </a:srgbClr>
          </a:solidFill>
          <a:ln/>
        </p:spPr>
      </p:sp>
      <p:sp>
        <p:nvSpPr>
          <p:cNvPr id="52" name="Text 50"/>
          <p:cNvSpPr/>
          <p:nvPr/>
        </p:nvSpPr>
        <p:spPr>
          <a:xfrm>
            <a:off x="5852160" y="4251960"/>
            <a:ext cx="640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4A3B8"/>
                </a:solidFill>
              </a:rPr>
              <a:t>อา</a:t>
            </a:r>
            <a:endParaRPr lang="en-US" sz="800" dirty="0"/>
          </a:p>
        </p:txBody>
      </p:sp>
      <p:sp>
        <p:nvSpPr>
          <p:cNvPr id="53" name="Shape 51"/>
          <p:cNvSpPr/>
          <p:nvPr/>
        </p:nvSpPr>
        <p:spPr>
          <a:xfrm>
            <a:off x="7452360" y="2286000"/>
            <a:ext cx="4434840" cy="3063240"/>
          </a:xfrm>
          <a:prstGeom prst="rect">
            <a:avLst>
              <a:gd name="adj" fmla="val 2388"/>
            </a:avLst>
          </a:prstGeom>
          <a:solidFill>
            <a:srgbClr val="1E293B"/>
          </a:solidFill>
          <a:ln w="12700">
            <a:solidFill>
              <a:srgbClr val="F87171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635240" y="2395728"/>
            <a:ext cx="4023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87171"/>
                </a:solidFill>
              </a:rPr>
              <a:t>⚠️  Low Stock Alert</a:t>
            </a:r>
            <a:endParaRPr lang="en-US" sz="1050" dirty="0"/>
          </a:p>
        </p:txBody>
      </p:sp>
      <p:sp>
        <p:nvSpPr>
          <p:cNvPr id="55" name="Text 53"/>
          <p:cNvSpPr/>
          <p:nvPr/>
        </p:nvSpPr>
        <p:spPr>
          <a:xfrm>
            <a:off x="7635240" y="2816352"/>
            <a:ext cx="3200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</a:rPr>
              <a:t>Paracetamol 500mg</a:t>
            </a:r>
            <a:endParaRPr lang="en-US" sz="950" dirty="0"/>
          </a:p>
        </p:txBody>
      </p:sp>
      <p:sp>
        <p:nvSpPr>
          <p:cNvPr id="56" name="Shape 54"/>
          <p:cNvSpPr/>
          <p:nvPr/>
        </p:nvSpPr>
        <p:spPr>
          <a:xfrm>
            <a:off x="10972800" y="2834640"/>
            <a:ext cx="640080" cy="201168"/>
          </a:xfrm>
          <a:prstGeom prst="rect">
            <a:avLst>
              <a:gd name="adj" fmla="val 36364"/>
            </a:avLst>
          </a:prstGeom>
          <a:solidFill>
            <a:srgbClr val="FCD34D">
              <a:alpha val="30000"/>
            </a:srgbClr>
          </a:solidFill>
          <a:ln w="10160">
            <a:solidFill>
              <a:srgbClr val="FCD34D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10972800" y="2834640"/>
            <a:ext cx="640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CD34D"/>
                </a:solidFill>
              </a:rPr>
              <a:t>3</a:t>
            </a:r>
            <a:endParaRPr lang="en-US" sz="850" dirty="0"/>
          </a:p>
        </p:txBody>
      </p:sp>
      <p:sp>
        <p:nvSpPr>
          <p:cNvPr id="58" name="Text 56"/>
          <p:cNvSpPr/>
          <p:nvPr/>
        </p:nvSpPr>
        <p:spPr>
          <a:xfrm>
            <a:off x="7635240" y="3182112"/>
            <a:ext cx="3200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</a:rPr>
              <a:t>Amoxicillin 250mg</a:t>
            </a:r>
            <a:endParaRPr lang="en-US" sz="950" dirty="0"/>
          </a:p>
        </p:txBody>
      </p:sp>
      <p:sp>
        <p:nvSpPr>
          <p:cNvPr id="59" name="Shape 57"/>
          <p:cNvSpPr/>
          <p:nvPr/>
        </p:nvSpPr>
        <p:spPr>
          <a:xfrm>
            <a:off x="10972800" y="3200400"/>
            <a:ext cx="640080" cy="201168"/>
          </a:xfrm>
          <a:prstGeom prst="rect">
            <a:avLst>
              <a:gd name="adj" fmla="val 36364"/>
            </a:avLst>
          </a:prstGeom>
          <a:solidFill>
            <a:srgbClr val="F87171">
              <a:alpha val="30000"/>
            </a:srgbClr>
          </a:solidFill>
          <a:ln w="10160">
            <a:solidFill>
              <a:srgbClr val="F87171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10972800" y="3200400"/>
            <a:ext cx="640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87171"/>
                </a:solidFill>
              </a:rPr>
              <a:t>OUT</a:t>
            </a:r>
            <a:endParaRPr lang="en-US" sz="850" dirty="0"/>
          </a:p>
        </p:txBody>
      </p:sp>
      <p:sp>
        <p:nvSpPr>
          <p:cNvPr id="61" name="Text 59"/>
          <p:cNvSpPr/>
          <p:nvPr/>
        </p:nvSpPr>
        <p:spPr>
          <a:xfrm>
            <a:off x="7635240" y="3547872"/>
            <a:ext cx="3200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</a:rPr>
              <a:t>Ibuprofen 400mg</a:t>
            </a:r>
            <a:endParaRPr lang="en-US" sz="950" dirty="0"/>
          </a:p>
        </p:txBody>
      </p:sp>
      <p:sp>
        <p:nvSpPr>
          <p:cNvPr id="62" name="Shape 60"/>
          <p:cNvSpPr/>
          <p:nvPr/>
        </p:nvSpPr>
        <p:spPr>
          <a:xfrm>
            <a:off x="10972800" y="3566160"/>
            <a:ext cx="640080" cy="201168"/>
          </a:xfrm>
          <a:prstGeom prst="rect">
            <a:avLst>
              <a:gd name="adj" fmla="val 36364"/>
            </a:avLst>
          </a:prstGeom>
          <a:solidFill>
            <a:srgbClr val="FCD34D">
              <a:alpha val="30000"/>
            </a:srgbClr>
          </a:solidFill>
          <a:ln w="10160">
            <a:solidFill>
              <a:srgbClr val="FCD34D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10972800" y="3566160"/>
            <a:ext cx="640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CD34D"/>
                </a:solidFill>
              </a:rPr>
              <a:t>5</a:t>
            </a:r>
            <a:endParaRPr lang="en-US" sz="850" dirty="0"/>
          </a:p>
        </p:txBody>
      </p:sp>
      <p:sp>
        <p:nvSpPr>
          <p:cNvPr id="64" name="Text 62"/>
          <p:cNvSpPr/>
          <p:nvPr/>
        </p:nvSpPr>
        <p:spPr>
          <a:xfrm>
            <a:off x="7635240" y="3913632"/>
            <a:ext cx="3200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</a:rPr>
              <a:t>Antacid Tabs</a:t>
            </a:r>
            <a:endParaRPr lang="en-US" sz="950" dirty="0"/>
          </a:p>
        </p:txBody>
      </p:sp>
      <p:sp>
        <p:nvSpPr>
          <p:cNvPr id="65" name="Shape 63"/>
          <p:cNvSpPr/>
          <p:nvPr/>
        </p:nvSpPr>
        <p:spPr>
          <a:xfrm>
            <a:off x="10972800" y="3931920"/>
            <a:ext cx="640080" cy="201168"/>
          </a:xfrm>
          <a:prstGeom prst="rect">
            <a:avLst>
              <a:gd name="adj" fmla="val 36364"/>
            </a:avLst>
          </a:prstGeom>
          <a:solidFill>
            <a:srgbClr val="FCD34D">
              <a:alpha val="30000"/>
            </a:srgbClr>
          </a:solidFill>
          <a:ln w="10160">
            <a:solidFill>
              <a:srgbClr val="FCD34D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10972800" y="3931920"/>
            <a:ext cx="640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CD34D"/>
                </a:solidFill>
              </a:rPr>
              <a:t>2</a:t>
            </a:r>
            <a:endParaRPr lang="en-US" sz="850" dirty="0"/>
          </a:p>
        </p:txBody>
      </p:sp>
      <p:sp>
        <p:nvSpPr>
          <p:cNvPr id="67" name="Text 65"/>
          <p:cNvSpPr/>
          <p:nvPr/>
        </p:nvSpPr>
        <p:spPr>
          <a:xfrm>
            <a:off x="7635240" y="4279392"/>
            <a:ext cx="3200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</a:rPr>
              <a:t>Vitamin C 1000mg</a:t>
            </a:r>
            <a:endParaRPr lang="en-US" sz="950" dirty="0"/>
          </a:p>
        </p:txBody>
      </p:sp>
      <p:sp>
        <p:nvSpPr>
          <p:cNvPr id="68" name="Shape 66"/>
          <p:cNvSpPr/>
          <p:nvPr/>
        </p:nvSpPr>
        <p:spPr>
          <a:xfrm>
            <a:off x="10972800" y="4297680"/>
            <a:ext cx="640080" cy="201168"/>
          </a:xfrm>
          <a:prstGeom prst="rect">
            <a:avLst>
              <a:gd name="adj" fmla="val 36364"/>
            </a:avLst>
          </a:prstGeom>
          <a:solidFill>
            <a:srgbClr val="FCD34D">
              <a:alpha val="30000"/>
            </a:srgbClr>
          </a:solidFill>
          <a:ln w="10160">
            <a:solidFill>
              <a:srgbClr val="FCD34D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10972800" y="4297680"/>
            <a:ext cx="640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CD34D"/>
                </a:solidFill>
              </a:rPr>
              <a:t>7</a:t>
            </a:r>
            <a:endParaRPr lang="en-US" sz="850" dirty="0"/>
          </a:p>
        </p:txBody>
      </p:sp>
      <p:sp>
        <p:nvSpPr>
          <p:cNvPr id="70" name="Text 68"/>
          <p:cNvSpPr/>
          <p:nvPr/>
        </p:nvSpPr>
        <p:spPr>
          <a:xfrm>
            <a:off x="7635240" y="4645152"/>
            <a:ext cx="3200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</a:rPr>
              <a:t>Cetirizine 10mg</a:t>
            </a:r>
            <a:endParaRPr lang="en-US" sz="950" dirty="0"/>
          </a:p>
        </p:txBody>
      </p:sp>
      <p:sp>
        <p:nvSpPr>
          <p:cNvPr id="71" name="Shape 69"/>
          <p:cNvSpPr/>
          <p:nvPr/>
        </p:nvSpPr>
        <p:spPr>
          <a:xfrm>
            <a:off x="10972800" y="4663440"/>
            <a:ext cx="640080" cy="201168"/>
          </a:xfrm>
          <a:prstGeom prst="rect">
            <a:avLst>
              <a:gd name="adj" fmla="val 36364"/>
            </a:avLst>
          </a:prstGeom>
          <a:solidFill>
            <a:srgbClr val="FCD34D">
              <a:alpha val="30000"/>
            </a:srgbClr>
          </a:solidFill>
          <a:ln w="10160">
            <a:solidFill>
              <a:srgbClr val="FCD34D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10972800" y="4663440"/>
            <a:ext cx="640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CD34D"/>
                </a:solidFill>
              </a:rPr>
              <a:t>4</a:t>
            </a:r>
            <a:endParaRPr lang="en-US" sz="850" dirty="0"/>
          </a:p>
        </p:txBody>
      </p:sp>
      <p:sp>
        <p:nvSpPr>
          <p:cNvPr id="73" name="Text 71"/>
          <p:cNvSpPr/>
          <p:nvPr/>
        </p:nvSpPr>
        <p:spPr>
          <a:xfrm>
            <a:off x="320040" y="5458968"/>
            <a:ext cx="11567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94A3B8"/>
                </a:solidFill>
              </a:rPr>
              <a:t>ข้อมูล real-time · อัปเดตทุกครั้งที่มีการรับ/จ่ายยา · แสดง bar chart 7 วัน IN vs OUT</a:t>
            </a:r>
            <a:endParaRPr lang="en-US" sz="950" dirty="0"/>
          </a:p>
        </p:txBody>
      </p:sp>
      <p:sp>
        <p:nvSpPr>
          <p:cNvPr id="74" name="Shape 72"/>
          <p:cNvSpPr/>
          <p:nvPr/>
        </p:nvSpPr>
        <p:spPr>
          <a:xfrm>
            <a:off x="0" y="6446520"/>
            <a:ext cx="12188952" cy="41148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75" name="Shape 73"/>
          <p:cNvSpPr/>
          <p:nvPr/>
        </p:nvSpPr>
        <p:spPr>
          <a:xfrm>
            <a:off x="0" y="6446520"/>
            <a:ext cx="12188952" cy="22860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76" name="Text 74"/>
          <p:cNvSpPr/>
          <p:nvPr/>
        </p:nvSpPr>
        <p:spPr>
          <a:xfrm>
            <a:off x="274320" y="6492240"/>
            <a:ext cx="11430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medstock-his.vercel.app  ·  IS-C Department  ·  Hospital Information System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50976"/>
            <a:ext cx="12188952" cy="22860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54864" cy="960120"/>
          </a:xfrm>
          <a:prstGeom prst="rect">
            <a:avLst/>
          </a:prstGeom>
          <a:solidFill>
            <a:srgbClr val="1D4ED8"/>
          </a:solidFill>
          <a:ln/>
        </p:spPr>
      </p:sp>
      <p:sp>
        <p:nvSpPr>
          <p:cNvPr id="5" name="Text 3"/>
          <p:cNvSpPr/>
          <p:nvPr/>
        </p:nvSpPr>
        <p:spPr>
          <a:xfrm>
            <a:off x="182880" y="73152"/>
            <a:ext cx="7315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93C5FD"/>
                </a:solidFill>
              </a:rPr>
              <a:t>MedStock HIS  ·  คลังยา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182880" y="292608"/>
            <a:ext cx="109728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Inventory Management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182880" y="731520"/>
            <a:ext cx="10972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</a:rPr>
              <a:t>จัดการรายการยาและเวชภัณฑ์ทั้งหมดใน location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20040" y="1097280"/>
            <a:ext cx="11567160" cy="475488"/>
          </a:xfrm>
          <a:prstGeom prst="rect">
            <a:avLst>
              <a:gd name="adj" fmla="val 15385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1207008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🔍  ค้นหาชื่อยา หรือ barcode...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583680" y="1170432"/>
            <a:ext cx="1188720" cy="329184"/>
          </a:xfrm>
          <a:prstGeom prst="rect">
            <a:avLst>
              <a:gd name="adj" fmla="val 16667"/>
            </a:avLst>
          </a:prstGeom>
          <a:solidFill>
            <a:srgbClr val="1D4ED8"/>
          </a:solidFill>
          <a:ln/>
        </p:spPr>
      </p:sp>
      <p:sp>
        <p:nvSpPr>
          <p:cNvPr id="11" name="Text 9"/>
          <p:cNvSpPr/>
          <p:nvPr/>
        </p:nvSpPr>
        <p:spPr>
          <a:xfrm>
            <a:off x="6583680" y="1225296"/>
            <a:ext cx="11887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</a:rPr>
              <a:t>+ Add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7909560" y="1170432"/>
            <a:ext cx="1463040" cy="329184"/>
          </a:xfrm>
          <a:prstGeom prst="rect">
            <a:avLst>
              <a:gd name="adj" fmla="val 16667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909560" y="1225296"/>
            <a:ext cx="14630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4A3B8"/>
                </a:solidFill>
              </a:rPr>
              <a:t>Export CSV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320040" y="1719072"/>
            <a:ext cx="3639312" cy="1783080"/>
          </a:xfrm>
          <a:prstGeom prst="rect">
            <a:avLst>
              <a:gd name="adj" fmla="val 4103"/>
            </a:avLst>
          </a:prstGeom>
          <a:solidFill>
            <a:srgbClr val="1E293B"/>
          </a:solidFill>
          <a:ln w="12700">
            <a:solidFill>
              <a:srgbClr val="F8717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20040" y="1719072"/>
            <a:ext cx="3639312" cy="54864"/>
          </a:xfrm>
          <a:prstGeom prst="rect">
            <a:avLst/>
          </a:prstGeom>
          <a:solidFill>
            <a:srgbClr val="F87171"/>
          </a:solidFill>
          <a:ln/>
        </p:spPr>
      </p:sp>
      <p:sp>
        <p:nvSpPr>
          <p:cNvPr id="16" name="Shape 14"/>
          <p:cNvSpPr/>
          <p:nvPr/>
        </p:nvSpPr>
        <p:spPr>
          <a:xfrm>
            <a:off x="429768" y="1856232"/>
            <a:ext cx="594360" cy="594360"/>
          </a:xfrm>
          <a:prstGeom prst="rect">
            <a:avLst>
              <a:gd name="adj" fmla="val 9231"/>
            </a:avLst>
          </a:prstGeom>
          <a:solidFill>
            <a:srgbClr val="0F172A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38912" y="1883664"/>
            <a:ext cx="576072" cy="5394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💊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1124712" y="1856232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Paracetamol 500mg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1124712" y="2148840"/>
            <a:ext cx="26517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8850000011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1124712" y="2340864"/>
            <a:ext cx="1371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87171"/>
                </a:solidFill>
              </a:rPr>
              <a:t>Analgesic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429768" y="256032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CD34D"/>
                </a:solidFill>
              </a:rPr>
              <a:t>Qty: 3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429768" y="2889504"/>
            <a:ext cx="1005840" cy="292608"/>
          </a:xfrm>
          <a:prstGeom prst="rect">
            <a:avLst>
              <a:gd name="adj" fmla="val 15625"/>
            </a:avLst>
          </a:prstGeom>
          <a:solidFill>
            <a:srgbClr val="1D4ED8"/>
          </a:solidFill>
          <a:ln/>
        </p:spPr>
      </p:sp>
      <p:sp>
        <p:nvSpPr>
          <p:cNvPr id="23" name="Text 21"/>
          <p:cNvSpPr/>
          <p:nvPr/>
        </p:nvSpPr>
        <p:spPr>
          <a:xfrm>
            <a:off x="429768" y="2926080"/>
            <a:ext cx="10058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</a:rPr>
              <a:t>✏️ Edit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1490472" y="2889504"/>
            <a:ext cx="1005840" cy="292608"/>
          </a:xfrm>
          <a:prstGeom prst="rect">
            <a:avLst>
              <a:gd name="adj" fmla="val 15625"/>
            </a:avLst>
          </a:prstGeom>
          <a:solidFill>
            <a:srgbClr val="FCD34D">
              <a:alpha val="30000"/>
            </a:srgbClr>
          </a:solidFill>
          <a:ln w="10160">
            <a:solidFill>
              <a:srgbClr val="FCD34D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490472" y="2926080"/>
            <a:ext cx="10058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CD34D"/>
                </a:solidFill>
              </a:rPr>
              <a:t>⚖️ Adjust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2551176" y="2889504"/>
            <a:ext cx="1005840" cy="292608"/>
          </a:xfrm>
          <a:prstGeom prst="rect">
            <a:avLst>
              <a:gd name="adj" fmla="val 15625"/>
            </a:avLst>
          </a:prstGeom>
          <a:solidFill>
            <a:srgbClr val="A78BFA">
              <a:alpha val="30000"/>
            </a:srgbClr>
          </a:solidFill>
          <a:ln w="10160">
            <a:solidFill>
              <a:srgbClr val="A78BF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51176" y="2926080"/>
            <a:ext cx="10058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A78BFA"/>
                </a:solidFill>
              </a:rPr>
              <a:t>🖨️ Print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4233672" y="1719072"/>
            <a:ext cx="3639312" cy="1783080"/>
          </a:xfrm>
          <a:prstGeom prst="rect">
            <a:avLst>
              <a:gd name="adj" fmla="val 4103"/>
            </a:avLst>
          </a:prstGeom>
          <a:solidFill>
            <a:srgbClr val="1E293B"/>
          </a:solidFill>
          <a:ln w="12700">
            <a:solidFill>
              <a:srgbClr val="F87171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233672" y="1719072"/>
            <a:ext cx="3639312" cy="54864"/>
          </a:xfrm>
          <a:prstGeom prst="rect">
            <a:avLst/>
          </a:prstGeom>
          <a:solidFill>
            <a:srgbClr val="F87171"/>
          </a:solidFill>
          <a:ln/>
        </p:spPr>
      </p:sp>
      <p:sp>
        <p:nvSpPr>
          <p:cNvPr id="30" name="Shape 28"/>
          <p:cNvSpPr/>
          <p:nvPr/>
        </p:nvSpPr>
        <p:spPr>
          <a:xfrm>
            <a:off x="4343400" y="1856232"/>
            <a:ext cx="594360" cy="594360"/>
          </a:xfrm>
          <a:prstGeom prst="rect">
            <a:avLst>
              <a:gd name="adj" fmla="val 9231"/>
            </a:avLst>
          </a:prstGeom>
          <a:solidFill>
            <a:srgbClr val="0F172A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352544" y="1883664"/>
            <a:ext cx="576072" cy="5394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💊</a:t>
            </a:r>
            <a:endParaRPr lang="en-US" sz="2000" dirty="0"/>
          </a:p>
        </p:txBody>
      </p:sp>
      <p:sp>
        <p:nvSpPr>
          <p:cNvPr id="32" name="Text 30"/>
          <p:cNvSpPr/>
          <p:nvPr/>
        </p:nvSpPr>
        <p:spPr>
          <a:xfrm>
            <a:off x="5038344" y="1856232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Amoxicillin 250mg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5038344" y="2148840"/>
            <a:ext cx="26517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8850000022</a:t>
            </a:r>
            <a:endParaRPr lang="en-US" sz="850" dirty="0"/>
          </a:p>
        </p:txBody>
      </p:sp>
      <p:sp>
        <p:nvSpPr>
          <p:cNvPr id="34" name="Text 32"/>
          <p:cNvSpPr/>
          <p:nvPr/>
        </p:nvSpPr>
        <p:spPr>
          <a:xfrm>
            <a:off x="5038344" y="2340864"/>
            <a:ext cx="1371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87171"/>
                </a:solidFill>
              </a:rPr>
              <a:t>Antibiotic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4343400" y="256032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87171"/>
                </a:solidFill>
              </a:rPr>
              <a:t>Qty: 0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4343400" y="2889504"/>
            <a:ext cx="1005840" cy="292608"/>
          </a:xfrm>
          <a:prstGeom prst="rect">
            <a:avLst>
              <a:gd name="adj" fmla="val 15625"/>
            </a:avLst>
          </a:prstGeom>
          <a:solidFill>
            <a:srgbClr val="1D4ED8"/>
          </a:solidFill>
          <a:ln/>
        </p:spPr>
      </p:sp>
      <p:sp>
        <p:nvSpPr>
          <p:cNvPr id="37" name="Text 35"/>
          <p:cNvSpPr/>
          <p:nvPr/>
        </p:nvSpPr>
        <p:spPr>
          <a:xfrm>
            <a:off x="4343400" y="2926080"/>
            <a:ext cx="10058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</a:rPr>
              <a:t>✏️ Edit</a:t>
            </a:r>
            <a:endParaRPr lang="en-US" sz="850" dirty="0"/>
          </a:p>
        </p:txBody>
      </p:sp>
      <p:sp>
        <p:nvSpPr>
          <p:cNvPr id="38" name="Shape 36"/>
          <p:cNvSpPr/>
          <p:nvPr/>
        </p:nvSpPr>
        <p:spPr>
          <a:xfrm>
            <a:off x="5404104" y="2889504"/>
            <a:ext cx="1005840" cy="292608"/>
          </a:xfrm>
          <a:prstGeom prst="rect">
            <a:avLst>
              <a:gd name="adj" fmla="val 15625"/>
            </a:avLst>
          </a:prstGeom>
          <a:solidFill>
            <a:srgbClr val="FCD34D">
              <a:alpha val="30000"/>
            </a:srgbClr>
          </a:solidFill>
          <a:ln w="10160">
            <a:solidFill>
              <a:srgbClr val="FCD34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404104" y="2926080"/>
            <a:ext cx="10058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CD34D"/>
                </a:solidFill>
              </a:rPr>
              <a:t>⚖️ Adjust</a:t>
            </a:r>
            <a:endParaRPr lang="en-US" sz="850" dirty="0"/>
          </a:p>
        </p:txBody>
      </p:sp>
      <p:sp>
        <p:nvSpPr>
          <p:cNvPr id="40" name="Shape 38"/>
          <p:cNvSpPr/>
          <p:nvPr/>
        </p:nvSpPr>
        <p:spPr>
          <a:xfrm>
            <a:off x="6464808" y="2889504"/>
            <a:ext cx="1005840" cy="292608"/>
          </a:xfrm>
          <a:prstGeom prst="rect">
            <a:avLst>
              <a:gd name="adj" fmla="val 15625"/>
            </a:avLst>
          </a:prstGeom>
          <a:solidFill>
            <a:srgbClr val="A78BFA">
              <a:alpha val="30000"/>
            </a:srgbClr>
          </a:solidFill>
          <a:ln w="10160">
            <a:solidFill>
              <a:srgbClr val="A78BFA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464808" y="2926080"/>
            <a:ext cx="10058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A78BFA"/>
                </a:solidFill>
              </a:rPr>
              <a:t>🖨️ Print</a:t>
            </a:r>
            <a:endParaRPr lang="en-US" sz="850" dirty="0"/>
          </a:p>
        </p:txBody>
      </p:sp>
      <p:sp>
        <p:nvSpPr>
          <p:cNvPr id="42" name="Shape 40"/>
          <p:cNvSpPr/>
          <p:nvPr/>
        </p:nvSpPr>
        <p:spPr>
          <a:xfrm>
            <a:off x="8147304" y="1719072"/>
            <a:ext cx="3639312" cy="1783080"/>
          </a:xfrm>
          <a:prstGeom prst="rect">
            <a:avLst>
              <a:gd name="adj" fmla="val 4103"/>
            </a:avLst>
          </a:prstGeom>
          <a:solidFill>
            <a:srgbClr val="1E293B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8147304" y="1719072"/>
            <a:ext cx="3639312" cy="54864"/>
          </a:xfrm>
          <a:prstGeom prst="rect">
            <a:avLst/>
          </a:prstGeom>
          <a:solidFill>
            <a:srgbClr val="34D399"/>
          </a:solidFill>
          <a:ln/>
        </p:spPr>
      </p:sp>
      <p:sp>
        <p:nvSpPr>
          <p:cNvPr id="44" name="Shape 42"/>
          <p:cNvSpPr/>
          <p:nvPr/>
        </p:nvSpPr>
        <p:spPr>
          <a:xfrm>
            <a:off x="8257032" y="1856232"/>
            <a:ext cx="594360" cy="594360"/>
          </a:xfrm>
          <a:prstGeom prst="rect">
            <a:avLst>
              <a:gd name="adj" fmla="val 9231"/>
            </a:avLst>
          </a:prstGeom>
          <a:solidFill>
            <a:srgbClr val="0F172A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8266176" y="1883664"/>
            <a:ext cx="576072" cy="5394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💊</a:t>
            </a:r>
            <a:endParaRPr lang="en-US" sz="2000" dirty="0"/>
          </a:p>
        </p:txBody>
      </p:sp>
      <p:sp>
        <p:nvSpPr>
          <p:cNvPr id="46" name="Text 44"/>
          <p:cNvSpPr/>
          <p:nvPr/>
        </p:nvSpPr>
        <p:spPr>
          <a:xfrm>
            <a:off x="8951976" y="1856232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Vitamin C 1000mg</a:t>
            </a:r>
            <a:endParaRPr lang="en-US" sz="1100" dirty="0"/>
          </a:p>
        </p:txBody>
      </p:sp>
      <p:sp>
        <p:nvSpPr>
          <p:cNvPr id="47" name="Text 45"/>
          <p:cNvSpPr/>
          <p:nvPr/>
        </p:nvSpPr>
        <p:spPr>
          <a:xfrm>
            <a:off x="8951976" y="2148840"/>
            <a:ext cx="26517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8850000033</a:t>
            </a:r>
            <a:endParaRPr lang="en-US" sz="850" dirty="0"/>
          </a:p>
        </p:txBody>
      </p:sp>
      <p:sp>
        <p:nvSpPr>
          <p:cNvPr id="48" name="Text 46"/>
          <p:cNvSpPr/>
          <p:nvPr/>
        </p:nvSpPr>
        <p:spPr>
          <a:xfrm>
            <a:off x="8951976" y="2340864"/>
            <a:ext cx="1371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4D399"/>
                </a:solidFill>
              </a:rPr>
              <a:t>Supplement</a:t>
            </a:r>
            <a:endParaRPr lang="en-US" sz="800" dirty="0"/>
          </a:p>
        </p:txBody>
      </p:sp>
      <p:sp>
        <p:nvSpPr>
          <p:cNvPr id="49" name="Text 47"/>
          <p:cNvSpPr/>
          <p:nvPr/>
        </p:nvSpPr>
        <p:spPr>
          <a:xfrm>
            <a:off x="8257032" y="256032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4D399"/>
                </a:solidFill>
              </a:rPr>
              <a:t>Qty: 120</a:t>
            </a:r>
            <a:endParaRPr lang="en-US" sz="1100" dirty="0"/>
          </a:p>
        </p:txBody>
      </p:sp>
      <p:sp>
        <p:nvSpPr>
          <p:cNvPr id="50" name="Shape 48"/>
          <p:cNvSpPr/>
          <p:nvPr/>
        </p:nvSpPr>
        <p:spPr>
          <a:xfrm>
            <a:off x="8257032" y="2889504"/>
            <a:ext cx="1005840" cy="292608"/>
          </a:xfrm>
          <a:prstGeom prst="rect">
            <a:avLst>
              <a:gd name="adj" fmla="val 15625"/>
            </a:avLst>
          </a:prstGeom>
          <a:solidFill>
            <a:srgbClr val="1D4ED8"/>
          </a:solidFill>
          <a:ln/>
        </p:spPr>
      </p:sp>
      <p:sp>
        <p:nvSpPr>
          <p:cNvPr id="51" name="Text 49"/>
          <p:cNvSpPr/>
          <p:nvPr/>
        </p:nvSpPr>
        <p:spPr>
          <a:xfrm>
            <a:off x="8257032" y="2926080"/>
            <a:ext cx="10058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</a:rPr>
              <a:t>✏️ Edit</a:t>
            </a:r>
            <a:endParaRPr lang="en-US" sz="850" dirty="0"/>
          </a:p>
        </p:txBody>
      </p:sp>
      <p:sp>
        <p:nvSpPr>
          <p:cNvPr id="52" name="Shape 50"/>
          <p:cNvSpPr/>
          <p:nvPr/>
        </p:nvSpPr>
        <p:spPr>
          <a:xfrm>
            <a:off x="9317736" y="2889504"/>
            <a:ext cx="1005840" cy="292608"/>
          </a:xfrm>
          <a:prstGeom prst="rect">
            <a:avLst>
              <a:gd name="adj" fmla="val 15625"/>
            </a:avLst>
          </a:prstGeom>
          <a:solidFill>
            <a:srgbClr val="FCD34D">
              <a:alpha val="30000"/>
            </a:srgbClr>
          </a:solidFill>
          <a:ln w="10160">
            <a:solidFill>
              <a:srgbClr val="FCD34D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9317736" y="2926080"/>
            <a:ext cx="10058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CD34D"/>
                </a:solidFill>
              </a:rPr>
              <a:t>⚖️ Adjust</a:t>
            </a:r>
            <a:endParaRPr lang="en-US" sz="850" dirty="0"/>
          </a:p>
        </p:txBody>
      </p:sp>
      <p:sp>
        <p:nvSpPr>
          <p:cNvPr id="54" name="Shape 52"/>
          <p:cNvSpPr/>
          <p:nvPr/>
        </p:nvSpPr>
        <p:spPr>
          <a:xfrm>
            <a:off x="10378440" y="2889504"/>
            <a:ext cx="1005840" cy="292608"/>
          </a:xfrm>
          <a:prstGeom prst="rect">
            <a:avLst>
              <a:gd name="adj" fmla="val 15625"/>
            </a:avLst>
          </a:prstGeom>
          <a:solidFill>
            <a:srgbClr val="A78BFA">
              <a:alpha val="30000"/>
            </a:srgbClr>
          </a:solidFill>
          <a:ln w="10160">
            <a:solidFill>
              <a:srgbClr val="A78BFA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10378440" y="2926080"/>
            <a:ext cx="10058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A78BFA"/>
                </a:solidFill>
              </a:rPr>
              <a:t>🖨️ Print</a:t>
            </a:r>
            <a:endParaRPr lang="en-US" sz="850" dirty="0"/>
          </a:p>
        </p:txBody>
      </p:sp>
      <p:sp>
        <p:nvSpPr>
          <p:cNvPr id="56" name="Shape 54"/>
          <p:cNvSpPr/>
          <p:nvPr/>
        </p:nvSpPr>
        <p:spPr>
          <a:xfrm>
            <a:off x="320040" y="3712464"/>
            <a:ext cx="3639312" cy="1783080"/>
          </a:xfrm>
          <a:prstGeom prst="rect">
            <a:avLst>
              <a:gd name="adj" fmla="val 4103"/>
            </a:avLst>
          </a:prstGeom>
          <a:solidFill>
            <a:srgbClr val="1E293B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320040" y="3712464"/>
            <a:ext cx="3639312" cy="54864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58" name="Shape 56"/>
          <p:cNvSpPr/>
          <p:nvPr/>
        </p:nvSpPr>
        <p:spPr>
          <a:xfrm>
            <a:off x="429768" y="3849624"/>
            <a:ext cx="594360" cy="594360"/>
          </a:xfrm>
          <a:prstGeom prst="rect">
            <a:avLst>
              <a:gd name="adj" fmla="val 9231"/>
            </a:avLst>
          </a:prstGeom>
          <a:solidFill>
            <a:srgbClr val="0F172A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438912" y="3877056"/>
            <a:ext cx="576072" cy="5394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💊</a:t>
            </a:r>
            <a:endParaRPr lang="en-US" sz="2000" dirty="0"/>
          </a:p>
        </p:txBody>
      </p:sp>
      <p:sp>
        <p:nvSpPr>
          <p:cNvPr id="60" name="Text 58"/>
          <p:cNvSpPr/>
          <p:nvPr/>
        </p:nvSpPr>
        <p:spPr>
          <a:xfrm>
            <a:off x="1124712" y="3849624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Antacid Tablets</a:t>
            </a:r>
            <a:endParaRPr lang="en-US" sz="1100" dirty="0"/>
          </a:p>
        </p:txBody>
      </p:sp>
      <p:sp>
        <p:nvSpPr>
          <p:cNvPr id="61" name="Text 59"/>
          <p:cNvSpPr/>
          <p:nvPr/>
        </p:nvSpPr>
        <p:spPr>
          <a:xfrm>
            <a:off x="1124712" y="4142232"/>
            <a:ext cx="26517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8850000044</a:t>
            </a:r>
            <a:endParaRPr lang="en-US" sz="850" dirty="0"/>
          </a:p>
        </p:txBody>
      </p:sp>
      <p:sp>
        <p:nvSpPr>
          <p:cNvPr id="62" name="Text 60"/>
          <p:cNvSpPr/>
          <p:nvPr/>
        </p:nvSpPr>
        <p:spPr>
          <a:xfrm>
            <a:off x="1124712" y="4334256"/>
            <a:ext cx="1371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B82F6"/>
                </a:solidFill>
              </a:rPr>
              <a:t>GI</a:t>
            </a:r>
            <a:endParaRPr lang="en-US" sz="800" dirty="0"/>
          </a:p>
        </p:txBody>
      </p:sp>
      <p:sp>
        <p:nvSpPr>
          <p:cNvPr id="63" name="Text 61"/>
          <p:cNvSpPr/>
          <p:nvPr/>
        </p:nvSpPr>
        <p:spPr>
          <a:xfrm>
            <a:off x="429768" y="4553712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4D399"/>
                </a:solidFill>
              </a:rPr>
              <a:t>Qty: 45</a:t>
            </a:r>
            <a:endParaRPr lang="en-US" sz="1100" dirty="0"/>
          </a:p>
        </p:txBody>
      </p:sp>
      <p:sp>
        <p:nvSpPr>
          <p:cNvPr id="64" name="Shape 62"/>
          <p:cNvSpPr/>
          <p:nvPr/>
        </p:nvSpPr>
        <p:spPr>
          <a:xfrm>
            <a:off x="429768" y="4882896"/>
            <a:ext cx="1005840" cy="292608"/>
          </a:xfrm>
          <a:prstGeom prst="rect">
            <a:avLst>
              <a:gd name="adj" fmla="val 15625"/>
            </a:avLst>
          </a:prstGeom>
          <a:solidFill>
            <a:srgbClr val="1D4ED8"/>
          </a:solidFill>
          <a:ln/>
        </p:spPr>
      </p:sp>
      <p:sp>
        <p:nvSpPr>
          <p:cNvPr id="65" name="Text 63"/>
          <p:cNvSpPr/>
          <p:nvPr/>
        </p:nvSpPr>
        <p:spPr>
          <a:xfrm>
            <a:off x="429768" y="4919472"/>
            <a:ext cx="10058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</a:rPr>
              <a:t>✏️ Edit</a:t>
            </a:r>
            <a:endParaRPr lang="en-US" sz="850" dirty="0"/>
          </a:p>
        </p:txBody>
      </p:sp>
      <p:sp>
        <p:nvSpPr>
          <p:cNvPr id="66" name="Shape 64"/>
          <p:cNvSpPr/>
          <p:nvPr/>
        </p:nvSpPr>
        <p:spPr>
          <a:xfrm>
            <a:off x="1490472" y="4882896"/>
            <a:ext cx="1005840" cy="292608"/>
          </a:xfrm>
          <a:prstGeom prst="rect">
            <a:avLst>
              <a:gd name="adj" fmla="val 15625"/>
            </a:avLst>
          </a:prstGeom>
          <a:solidFill>
            <a:srgbClr val="FCD34D">
              <a:alpha val="30000"/>
            </a:srgbClr>
          </a:solidFill>
          <a:ln w="10160">
            <a:solidFill>
              <a:srgbClr val="FCD34D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1490472" y="4919472"/>
            <a:ext cx="10058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CD34D"/>
                </a:solidFill>
              </a:rPr>
              <a:t>⚖️ Adjust</a:t>
            </a:r>
            <a:endParaRPr lang="en-US" sz="850" dirty="0"/>
          </a:p>
        </p:txBody>
      </p:sp>
      <p:sp>
        <p:nvSpPr>
          <p:cNvPr id="68" name="Shape 66"/>
          <p:cNvSpPr/>
          <p:nvPr/>
        </p:nvSpPr>
        <p:spPr>
          <a:xfrm>
            <a:off x="2551176" y="4882896"/>
            <a:ext cx="1005840" cy="292608"/>
          </a:xfrm>
          <a:prstGeom prst="rect">
            <a:avLst>
              <a:gd name="adj" fmla="val 15625"/>
            </a:avLst>
          </a:prstGeom>
          <a:solidFill>
            <a:srgbClr val="A78BFA">
              <a:alpha val="30000"/>
            </a:srgbClr>
          </a:solidFill>
          <a:ln w="10160">
            <a:solidFill>
              <a:srgbClr val="A78BFA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2551176" y="4919472"/>
            <a:ext cx="10058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A78BFA"/>
                </a:solidFill>
              </a:rPr>
              <a:t>🖨️ Print</a:t>
            </a:r>
            <a:endParaRPr lang="en-US" sz="850" dirty="0"/>
          </a:p>
        </p:txBody>
      </p:sp>
      <p:sp>
        <p:nvSpPr>
          <p:cNvPr id="70" name="Shape 68"/>
          <p:cNvSpPr/>
          <p:nvPr/>
        </p:nvSpPr>
        <p:spPr>
          <a:xfrm>
            <a:off x="4233672" y="3712464"/>
            <a:ext cx="3639312" cy="1783080"/>
          </a:xfrm>
          <a:prstGeom prst="rect">
            <a:avLst>
              <a:gd name="adj" fmla="val 4103"/>
            </a:avLst>
          </a:prstGeom>
          <a:solidFill>
            <a:srgbClr val="1E293B"/>
          </a:solidFill>
          <a:ln w="12700">
            <a:solidFill>
              <a:srgbClr val="FCD34D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4233672" y="3712464"/>
            <a:ext cx="3639312" cy="54864"/>
          </a:xfrm>
          <a:prstGeom prst="rect">
            <a:avLst/>
          </a:prstGeom>
          <a:solidFill>
            <a:srgbClr val="FCD34D"/>
          </a:solidFill>
          <a:ln/>
        </p:spPr>
      </p:sp>
      <p:sp>
        <p:nvSpPr>
          <p:cNvPr id="72" name="Shape 70"/>
          <p:cNvSpPr/>
          <p:nvPr/>
        </p:nvSpPr>
        <p:spPr>
          <a:xfrm>
            <a:off x="4343400" y="3849624"/>
            <a:ext cx="594360" cy="594360"/>
          </a:xfrm>
          <a:prstGeom prst="rect">
            <a:avLst>
              <a:gd name="adj" fmla="val 9231"/>
            </a:avLst>
          </a:prstGeom>
          <a:solidFill>
            <a:srgbClr val="0F172A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4352544" y="3877056"/>
            <a:ext cx="576072" cy="5394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💊</a:t>
            </a:r>
            <a:endParaRPr lang="en-US" sz="2000" dirty="0"/>
          </a:p>
        </p:txBody>
      </p:sp>
      <p:sp>
        <p:nvSpPr>
          <p:cNvPr id="74" name="Text 72"/>
          <p:cNvSpPr/>
          <p:nvPr/>
        </p:nvSpPr>
        <p:spPr>
          <a:xfrm>
            <a:off x="5038344" y="3849624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Ibuprofen 400mg</a:t>
            </a:r>
            <a:endParaRPr lang="en-US" sz="1100" dirty="0"/>
          </a:p>
        </p:txBody>
      </p:sp>
      <p:sp>
        <p:nvSpPr>
          <p:cNvPr id="75" name="Text 73"/>
          <p:cNvSpPr/>
          <p:nvPr/>
        </p:nvSpPr>
        <p:spPr>
          <a:xfrm>
            <a:off x="5038344" y="4142232"/>
            <a:ext cx="26517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8850000055</a:t>
            </a:r>
            <a:endParaRPr lang="en-US" sz="850" dirty="0"/>
          </a:p>
        </p:txBody>
      </p:sp>
      <p:sp>
        <p:nvSpPr>
          <p:cNvPr id="76" name="Text 74"/>
          <p:cNvSpPr/>
          <p:nvPr/>
        </p:nvSpPr>
        <p:spPr>
          <a:xfrm>
            <a:off x="5038344" y="4334256"/>
            <a:ext cx="1371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CD34D"/>
                </a:solidFill>
              </a:rPr>
              <a:t>Analgesic</a:t>
            </a:r>
            <a:endParaRPr lang="en-US" sz="800" dirty="0"/>
          </a:p>
        </p:txBody>
      </p:sp>
      <p:sp>
        <p:nvSpPr>
          <p:cNvPr id="77" name="Text 75"/>
          <p:cNvSpPr/>
          <p:nvPr/>
        </p:nvSpPr>
        <p:spPr>
          <a:xfrm>
            <a:off x="4343400" y="4553712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CD34D"/>
                </a:solidFill>
              </a:rPr>
              <a:t>Qty: 5</a:t>
            </a:r>
            <a:endParaRPr lang="en-US" sz="1100" dirty="0"/>
          </a:p>
        </p:txBody>
      </p:sp>
      <p:sp>
        <p:nvSpPr>
          <p:cNvPr id="78" name="Shape 76"/>
          <p:cNvSpPr/>
          <p:nvPr/>
        </p:nvSpPr>
        <p:spPr>
          <a:xfrm>
            <a:off x="4343400" y="4882896"/>
            <a:ext cx="1005840" cy="292608"/>
          </a:xfrm>
          <a:prstGeom prst="rect">
            <a:avLst>
              <a:gd name="adj" fmla="val 15625"/>
            </a:avLst>
          </a:prstGeom>
          <a:solidFill>
            <a:srgbClr val="1D4ED8"/>
          </a:solidFill>
          <a:ln/>
        </p:spPr>
      </p:sp>
      <p:sp>
        <p:nvSpPr>
          <p:cNvPr id="79" name="Text 77"/>
          <p:cNvSpPr/>
          <p:nvPr/>
        </p:nvSpPr>
        <p:spPr>
          <a:xfrm>
            <a:off x="4343400" y="4919472"/>
            <a:ext cx="10058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</a:rPr>
              <a:t>✏️ Edit</a:t>
            </a:r>
            <a:endParaRPr lang="en-US" sz="850" dirty="0"/>
          </a:p>
        </p:txBody>
      </p:sp>
      <p:sp>
        <p:nvSpPr>
          <p:cNvPr id="80" name="Shape 78"/>
          <p:cNvSpPr/>
          <p:nvPr/>
        </p:nvSpPr>
        <p:spPr>
          <a:xfrm>
            <a:off x="5404104" y="4882896"/>
            <a:ext cx="1005840" cy="292608"/>
          </a:xfrm>
          <a:prstGeom prst="rect">
            <a:avLst>
              <a:gd name="adj" fmla="val 15625"/>
            </a:avLst>
          </a:prstGeom>
          <a:solidFill>
            <a:srgbClr val="FCD34D">
              <a:alpha val="30000"/>
            </a:srgbClr>
          </a:solidFill>
          <a:ln w="10160">
            <a:solidFill>
              <a:srgbClr val="FCD34D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5404104" y="4919472"/>
            <a:ext cx="10058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CD34D"/>
                </a:solidFill>
              </a:rPr>
              <a:t>⚖️ Adjust</a:t>
            </a:r>
            <a:endParaRPr lang="en-US" sz="850" dirty="0"/>
          </a:p>
        </p:txBody>
      </p:sp>
      <p:sp>
        <p:nvSpPr>
          <p:cNvPr id="82" name="Shape 80"/>
          <p:cNvSpPr/>
          <p:nvPr/>
        </p:nvSpPr>
        <p:spPr>
          <a:xfrm>
            <a:off x="6464808" y="4882896"/>
            <a:ext cx="1005840" cy="292608"/>
          </a:xfrm>
          <a:prstGeom prst="rect">
            <a:avLst>
              <a:gd name="adj" fmla="val 15625"/>
            </a:avLst>
          </a:prstGeom>
          <a:solidFill>
            <a:srgbClr val="A78BFA">
              <a:alpha val="30000"/>
            </a:srgbClr>
          </a:solidFill>
          <a:ln w="10160">
            <a:solidFill>
              <a:srgbClr val="A78BFA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6464808" y="4919472"/>
            <a:ext cx="10058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A78BFA"/>
                </a:solidFill>
              </a:rPr>
              <a:t>🖨️ Print</a:t>
            </a:r>
            <a:endParaRPr lang="en-US" sz="850" dirty="0"/>
          </a:p>
        </p:txBody>
      </p:sp>
      <p:sp>
        <p:nvSpPr>
          <p:cNvPr id="84" name="Shape 82"/>
          <p:cNvSpPr/>
          <p:nvPr/>
        </p:nvSpPr>
        <p:spPr>
          <a:xfrm>
            <a:off x="8147304" y="3712464"/>
            <a:ext cx="3639312" cy="1783080"/>
          </a:xfrm>
          <a:prstGeom prst="rect">
            <a:avLst>
              <a:gd name="adj" fmla="val 4103"/>
            </a:avLst>
          </a:prstGeom>
          <a:solidFill>
            <a:srgbClr val="1E293B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8147304" y="3712464"/>
            <a:ext cx="3639312" cy="54864"/>
          </a:xfrm>
          <a:prstGeom prst="rect">
            <a:avLst/>
          </a:prstGeom>
          <a:solidFill>
            <a:srgbClr val="34D399"/>
          </a:solidFill>
          <a:ln/>
        </p:spPr>
      </p:sp>
      <p:sp>
        <p:nvSpPr>
          <p:cNvPr id="86" name="Shape 84"/>
          <p:cNvSpPr/>
          <p:nvPr/>
        </p:nvSpPr>
        <p:spPr>
          <a:xfrm>
            <a:off x="8257032" y="3849624"/>
            <a:ext cx="594360" cy="594360"/>
          </a:xfrm>
          <a:prstGeom prst="rect">
            <a:avLst>
              <a:gd name="adj" fmla="val 9231"/>
            </a:avLst>
          </a:prstGeom>
          <a:solidFill>
            <a:srgbClr val="0F172A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87" name="Text 85"/>
          <p:cNvSpPr/>
          <p:nvPr/>
        </p:nvSpPr>
        <p:spPr>
          <a:xfrm>
            <a:off x="8266176" y="3877056"/>
            <a:ext cx="576072" cy="5394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💊</a:t>
            </a:r>
            <a:endParaRPr lang="en-US" sz="2000" dirty="0"/>
          </a:p>
        </p:txBody>
      </p:sp>
      <p:sp>
        <p:nvSpPr>
          <p:cNvPr id="88" name="Text 86"/>
          <p:cNvSpPr/>
          <p:nvPr/>
        </p:nvSpPr>
        <p:spPr>
          <a:xfrm>
            <a:off x="8951976" y="3849624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Cetirizine 10mg</a:t>
            </a:r>
            <a:endParaRPr lang="en-US" sz="1100" dirty="0"/>
          </a:p>
        </p:txBody>
      </p:sp>
      <p:sp>
        <p:nvSpPr>
          <p:cNvPr id="89" name="Text 87"/>
          <p:cNvSpPr/>
          <p:nvPr/>
        </p:nvSpPr>
        <p:spPr>
          <a:xfrm>
            <a:off x="8951976" y="4142232"/>
            <a:ext cx="26517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8850000066</a:t>
            </a:r>
            <a:endParaRPr lang="en-US" sz="850" dirty="0"/>
          </a:p>
        </p:txBody>
      </p:sp>
      <p:sp>
        <p:nvSpPr>
          <p:cNvPr id="90" name="Text 88"/>
          <p:cNvSpPr/>
          <p:nvPr/>
        </p:nvSpPr>
        <p:spPr>
          <a:xfrm>
            <a:off x="8951976" y="4334256"/>
            <a:ext cx="1371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4D399"/>
                </a:solidFill>
              </a:rPr>
              <a:t>Antihistamine</a:t>
            </a:r>
            <a:endParaRPr lang="en-US" sz="800" dirty="0"/>
          </a:p>
        </p:txBody>
      </p:sp>
      <p:sp>
        <p:nvSpPr>
          <p:cNvPr id="91" name="Text 89"/>
          <p:cNvSpPr/>
          <p:nvPr/>
        </p:nvSpPr>
        <p:spPr>
          <a:xfrm>
            <a:off x="8257032" y="4553712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4D399"/>
                </a:solidFill>
              </a:rPr>
              <a:t>Qty: 88</a:t>
            </a:r>
            <a:endParaRPr lang="en-US" sz="1100" dirty="0"/>
          </a:p>
        </p:txBody>
      </p:sp>
      <p:sp>
        <p:nvSpPr>
          <p:cNvPr id="92" name="Shape 90"/>
          <p:cNvSpPr/>
          <p:nvPr/>
        </p:nvSpPr>
        <p:spPr>
          <a:xfrm>
            <a:off x="8257032" y="4882896"/>
            <a:ext cx="1005840" cy="292608"/>
          </a:xfrm>
          <a:prstGeom prst="rect">
            <a:avLst>
              <a:gd name="adj" fmla="val 15625"/>
            </a:avLst>
          </a:prstGeom>
          <a:solidFill>
            <a:srgbClr val="1D4ED8"/>
          </a:solidFill>
          <a:ln/>
        </p:spPr>
      </p:sp>
      <p:sp>
        <p:nvSpPr>
          <p:cNvPr id="93" name="Text 91"/>
          <p:cNvSpPr/>
          <p:nvPr/>
        </p:nvSpPr>
        <p:spPr>
          <a:xfrm>
            <a:off x="8257032" y="4919472"/>
            <a:ext cx="10058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</a:rPr>
              <a:t>✏️ Edit</a:t>
            </a:r>
            <a:endParaRPr lang="en-US" sz="850" dirty="0"/>
          </a:p>
        </p:txBody>
      </p:sp>
      <p:sp>
        <p:nvSpPr>
          <p:cNvPr id="94" name="Shape 92"/>
          <p:cNvSpPr/>
          <p:nvPr/>
        </p:nvSpPr>
        <p:spPr>
          <a:xfrm>
            <a:off x="9317736" y="4882896"/>
            <a:ext cx="1005840" cy="292608"/>
          </a:xfrm>
          <a:prstGeom prst="rect">
            <a:avLst>
              <a:gd name="adj" fmla="val 15625"/>
            </a:avLst>
          </a:prstGeom>
          <a:solidFill>
            <a:srgbClr val="FCD34D">
              <a:alpha val="30000"/>
            </a:srgbClr>
          </a:solidFill>
          <a:ln w="10160">
            <a:solidFill>
              <a:srgbClr val="FCD34D"/>
            </a:solidFill>
            <a:prstDash val="solid"/>
          </a:ln>
        </p:spPr>
      </p:sp>
      <p:sp>
        <p:nvSpPr>
          <p:cNvPr id="95" name="Text 93"/>
          <p:cNvSpPr/>
          <p:nvPr/>
        </p:nvSpPr>
        <p:spPr>
          <a:xfrm>
            <a:off x="9317736" y="4919472"/>
            <a:ext cx="10058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CD34D"/>
                </a:solidFill>
              </a:rPr>
              <a:t>⚖️ Adjust</a:t>
            </a:r>
            <a:endParaRPr lang="en-US" sz="850" dirty="0"/>
          </a:p>
        </p:txBody>
      </p:sp>
      <p:sp>
        <p:nvSpPr>
          <p:cNvPr id="96" name="Shape 94"/>
          <p:cNvSpPr/>
          <p:nvPr/>
        </p:nvSpPr>
        <p:spPr>
          <a:xfrm>
            <a:off x="10378440" y="4882896"/>
            <a:ext cx="1005840" cy="292608"/>
          </a:xfrm>
          <a:prstGeom prst="rect">
            <a:avLst>
              <a:gd name="adj" fmla="val 15625"/>
            </a:avLst>
          </a:prstGeom>
          <a:solidFill>
            <a:srgbClr val="A78BFA">
              <a:alpha val="30000"/>
            </a:srgbClr>
          </a:solidFill>
          <a:ln w="10160">
            <a:solidFill>
              <a:srgbClr val="A78BFA"/>
            </a:solidFill>
            <a:prstDash val="solid"/>
          </a:ln>
        </p:spPr>
      </p:sp>
      <p:sp>
        <p:nvSpPr>
          <p:cNvPr id="97" name="Text 95"/>
          <p:cNvSpPr/>
          <p:nvPr/>
        </p:nvSpPr>
        <p:spPr>
          <a:xfrm>
            <a:off x="10378440" y="4919472"/>
            <a:ext cx="10058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A78BFA"/>
                </a:solidFill>
              </a:rPr>
              <a:t>🖨️ Print</a:t>
            </a:r>
            <a:endParaRPr lang="en-US" sz="850" dirty="0"/>
          </a:p>
        </p:txBody>
      </p:sp>
      <p:sp>
        <p:nvSpPr>
          <p:cNvPr id="98" name="Shape 96"/>
          <p:cNvSpPr/>
          <p:nvPr/>
        </p:nvSpPr>
        <p:spPr>
          <a:xfrm>
            <a:off x="0" y="6446520"/>
            <a:ext cx="12188952" cy="41148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99" name="Shape 97"/>
          <p:cNvSpPr/>
          <p:nvPr/>
        </p:nvSpPr>
        <p:spPr>
          <a:xfrm>
            <a:off x="0" y="6446520"/>
            <a:ext cx="12188952" cy="22860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100" name="Text 98"/>
          <p:cNvSpPr/>
          <p:nvPr/>
        </p:nvSpPr>
        <p:spPr>
          <a:xfrm>
            <a:off x="274320" y="6492240"/>
            <a:ext cx="11430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medstock-his.vercel.app  ·  IS-C Department  ·  Hospital Information System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50976"/>
            <a:ext cx="12188952" cy="22860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54864" cy="960120"/>
          </a:xfrm>
          <a:prstGeom prst="rect">
            <a:avLst/>
          </a:prstGeom>
          <a:solidFill>
            <a:srgbClr val="1D4ED8"/>
          </a:solidFill>
          <a:ln/>
        </p:spPr>
      </p:sp>
      <p:sp>
        <p:nvSpPr>
          <p:cNvPr id="5" name="Text 3"/>
          <p:cNvSpPr/>
          <p:nvPr/>
        </p:nvSpPr>
        <p:spPr>
          <a:xfrm>
            <a:off x="182880" y="73152"/>
            <a:ext cx="7315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93C5FD"/>
                </a:solidFill>
              </a:rPr>
              <a:t>MedStock HIS  ·  คลังยา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182880" y="292608"/>
            <a:ext cx="109728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Inventory — ฟีเจอร์ทั้งหมด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182880" y="731520"/>
            <a:ext cx="10972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</a:rPr>
              <a:t>สิ่งที่ทำได้ในหน้า Inventory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20040" y="1097280"/>
            <a:ext cx="3639312" cy="2286000"/>
          </a:xfrm>
          <a:prstGeom prst="rect">
            <a:avLst>
              <a:gd name="adj" fmla="val 3200"/>
            </a:avLst>
          </a:prstGeom>
          <a:solidFill>
            <a:srgbClr val="1E293B"/>
          </a:solidFill>
          <a:ln w="19050">
            <a:solidFill>
              <a:srgbClr val="3B82F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20040" y="1097280"/>
            <a:ext cx="64008" cy="228600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10" name="Text 8"/>
          <p:cNvSpPr/>
          <p:nvPr/>
        </p:nvSpPr>
        <p:spPr>
          <a:xfrm>
            <a:off x="548640" y="1234440"/>
            <a:ext cx="32004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➕  Add Medicine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548640" y="1609344"/>
            <a:ext cx="3200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950" dirty="0">
                <a:solidFill>
                  <a:srgbClr val="94A3B8"/>
                </a:solidFill>
              </a:rPr>
              <a:t>เพิ่มยาใหม่ — กรอกชื่อ, barcode, จำนวน, หมวดหมู่</a:t>
            </a:r>
            <a:endParaRPr lang="en-US" sz="9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950" dirty="0">
                <a:solidFill>
                  <a:srgbClr val="94A3B8"/>
                </a:solidFill>
              </a:rPr>
              <a:t>อัปโหลดรูปภาพยาได้ (เก็บใน Supabase Storage)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548640" y="2304288"/>
            <a:ext cx="3200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3B82F6"/>
                </a:solidFill>
              </a:rPr>
              <a:t>ขั้นตอน: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548640" y="2505456"/>
            <a:ext cx="3200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</a:rPr>
              <a:t>1. กด "+ Add"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548640" y="2706624"/>
            <a:ext cx="3200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</a:rPr>
              <a:t>2. กรอกข้อมูลยา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548640" y="2907792"/>
            <a:ext cx="3200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</a:rPr>
              <a:t>3. อัปโหลดรูป (optional)</a:t>
            </a:r>
            <a:endParaRPr lang="en-US" sz="850" dirty="0"/>
          </a:p>
        </p:txBody>
      </p:sp>
      <p:sp>
        <p:nvSpPr>
          <p:cNvPr id="16" name="Text 14"/>
          <p:cNvSpPr/>
          <p:nvPr/>
        </p:nvSpPr>
        <p:spPr>
          <a:xfrm>
            <a:off x="548640" y="3108960"/>
            <a:ext cx="3200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</a:rPr>
              <a:t>4. กด Save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4233672" y="1097280"/>
            <a:ext cx="3639312" cy="2286000"/>
          </a:xfrm>
          <a:prstGeom prst="rect">
            <a:avLst>
              <a:gd name="adj" fmla="val 3200"/>
            </a:avLst>
          </a:prstGeom>
          <a:solidFill>
            <a:srgbClr val="1E293B"/>
          </a:solidFill>
          <a:ln w="19050">
            <a:solidFill>
              <a:srgbClr val="34D39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233672" y="1097280"/>
            <a:ext cx="64008" cy="2286000"/>
          </a:xfrm>
          <a:prstGeom prst="rect">
            <a:avLst/>
          </a:prstGeom>
          <a:solidFill>
            <a:srgbClr val="34D399"/>
          </a:solidFill>
          <a:ln/>
        </p:spPr>
      </p:sp>
      <p:sp>
        <p:nvSpPr>
          <p:cNvPr id="19" name="Text 17"/>
          <p:cNvSpPr/>
          <p:nvPr/>
        </p:nvSpPr>
        <p:spPr>
          <a:xfrm>
            <a:off x="4462272" y="1234440"/>
            <a:ext cx="32004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✏️  Edit Medicine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4462272" y="1609344"/>
            <a:ext cx="3200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950" dirty="0">
                <a:solidFill>
                  <a:srgbClr val="94A3B8"/>
                </a:solidFill>
              </a:rPr>
              <a:t>แก้ไขชื่อ, barcode, จำนวน, รูปภาพ</a:t>
            </a:r>
            <a:endParaRPr lang="en-US" sz="9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950" dirty="0">
                <a:solidFill>
                  <a:srgbClr val="94A3B8"/>
                </a:solidFill>
              </a:rPr>
              <a:t>บันทึกลง drug_master table ทันที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4462272" y="2304288"/>
            <a:ext cx="3200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34D399"/>
                </a:solidFill>
              </a:rPr>
              <a:t>ขั้นตอน: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462272" y="2505456"/>
            <a:ext cx="3200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</a:rPr>
              <a:t>1. กด "Edit"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4462272" y="2706624"/>
            <a:ext cx="3200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</a:rPr>
              <a:t>2. แก้ไขข้อมูล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4462272" y="2907792"/>
            <a:ext cx="3200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</a:rPr>
              <a:t>3. กด Save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8147304" y="1097280"/>
            <a:ext cx="3639312" cy="2286000"/>
          </a:xfrm>
          <a:prstGeom prst="rect">
            <a:avLst>
              <a:gd name="adj" fmla="val 3200"/>
            </a:avLst>
          </a:prstGeom>
          <a:solidFill>
            <a:srgbClr val="1E293B"/>
          </a:solidFill>
          <a:ln w="19050">
            <a:solidFill>
              <a:srgbClr val="FCD34D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147304" y="1097280"/>
            <a:ext cx="64008" cy="2286000"/>
          </a:xfrm>
          <a:prstGeom prst="rect">
            <a:avLst/>
          </a:prstGeom>
          <a:solidFill>
            <a:srgbClr val="FCD34D"/>
          </a:solidFill>
          <a:ln/>
        </p:spPr>
      </p:sp>
      <p:sp>
        <p:nvSpPr>
          <p:cNvPr id="27" name="Text 25"/>
          <p:cNvSpPr/>
          <p:nvPr/>
        </p:nvSpPr>
        <p:spPr>
          <a:xfrm>
            <a:off x="8375904" y="1234440"/>
            <a:ext cx="32004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⚖️  Stock Adjustment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8375904" y="1609344"/>
            <a:ext cx="3200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950" dirty="0">
                <a:solidFill>
                  <a:srgbClr val="94A3B8"/>
                </a:solidFill>
              </a:rPr>
              <a:t>ปรับยอด stock จากการนับจริง</a:t>
            </a:r>
            <a:endParaRPr lang="en-US" sz="9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950" dirty="0">
                <a:solidFill>
                  <a:srgbClr val="94A3B8"/>
                </a:solidFill>
              </a:rPr>
              <a:t>ระบบบันทึก diff เป็น transaction [adjust] อัตโนมัติ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8375904" y="2304288"/>
            <a:ext cx="3200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CD34D"/>
                </a:solidFill>
              </a:rPr>
              <a:t>ขั้นตอน:</a:t>
            </a:r>
            <a:endParaRPr lang="en-US" sz="850" dirty="0"/>
          </a:p>
        </p:txBody>
      </p:sp>
      <p:sp>
        <p:nvSpPr>
          <p:cNvPr id="30" name="Text 28"/>
          <p:cNvSpPr/>
          <p:nvPr/>
        </p:nvSpPr>
        <p:spPr>
          <a:xfrm>
            <a:off x="8375904" y="2505456"/>
            <a:ext cx="3200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</a:rPr>
              <a:t>1. กด "Adjust"</a:t>
            </a:r>
            <a:endParaRPr lang="en-US" sz="850" dirty="0"/>
          </a:p>
        </p:txBody>
      </p:sp>
      <p:sp>
        <p:nvSpPr>
          <p:cNvPr id="31" name="Text 29"/>
          <p:cNvSpPr/>
          <p:nvPr/>
        </p:nvSpPr>
        <p:spPr>
          <a:xfrm>
            <a:off x="8375904" y="2706624"/>
            <a:ext cx="3200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</a:rPr>
              <a:t>2. กรอกยอดที่นับได้จริง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8375904" y="2907792"/>
            <a:ext cx="3200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</a:rPr>
              <a:t>3. ใส่หมายเหตุ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8375904" y="3108960"/>
            <a:ext cx="3200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</a:rPr>
              <a:t>4. ระบบคำนวณ diff และบันทึก</a:t>
            </a:r>
            <a:endParaRPr lang="en-US" sz="850" dirty="0"/>
          </a:p>
        </p:txBody>
      </p:sp>
      <p:sp>
        <p:nvSpPr>
          <p:cNvPr id="34" name="Shape 32"/>
          <p:cNvSpPr/>
          <p:nvPr/>
        </p:nvSpPr>
        <p:spPr>
          <a:xfrm>
            <a:off x="320040" y="3611880"/>
            <a:ext cx="3639312" cy="2286000"/>
          </a:xfrm>
          <a:prstGeom prst="rect">
            <a:avLst>
              <a:gd name="adj" fmla="val 3200"/>
            </a:avLst>
          </a:prstGeom>
          <a:solidFill>
            <a:srgbClr val="1E293B"/>
          </a:solidFill>
          <a:ln w="19050">
            <a:solidFill>
              <a:srgbClr val="A78BFA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" y="3611880"/>
            <a:ext cx="64008" cy="2286000"/>
          </a:xfrm>
          <a:prstGeom prst="rect">
            <a:avLst/>
          </a:prstGeom>
          <a:solidFill>
            <a:srgbClr val="A78BFA"/>
          </a:solidFill>
          <a:ln/>
        </p:spPr>
      </p:sp>
      <p:sp>
        <p:nvSpPr>
          <p:cNvPr id="36" name="Text 34"/>
          <p:cNvSpPr/>
          <p:nvPr/>
        </p:nvSpPr>
        <p:spPr>
          <a:xfrm>
            <a:off x="548640" y="3749040"/>
            <a:ext cx="32004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🖨️  Print Barcode (single)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548640" y="4123944"/>
            <a:ext cx="3200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950" dirty="0">
                <a:solidFill>
                  <a:srgbClr val="94A3B8"/>
                </a:solidFill>
              </a:rPr>
              <a:t>พิมพ์ label barcode เดี่ยว 1 รายการ</a:t>
            </a:r>
            <a:endParaRPr lang="en-US" sz="9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950" dirty="0">
                <a:solidFill>
                  <a:srgbClr val="94A3B8"/>
                </a:solidFill>
              </a:rPr>
              <a:t>เปิด popup window พิมพ์เฉพาะ label ไม่พิมพ์ทั้งหน้า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548640" y="4818888"/>
            <a:ext cx="3200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A78BFA"/>
                </a:solidFill>
              </a:rPr>
              <a:t>ขั้นตอน:</a:t>
            </a:r>
            <a:endParaRPr lang="en-US" sz="850" dirty="0"/>
          </a:p>
        </p:txBody>
      </p:sp>
      <p:sp>
        <p:nvSpPr>
          <p:cNvPr id="39" name="Text 37"/>
          <p:cNvSpPr/>
          <p:nvPr/>
        </p:nvSpPr>
        <p:spPr>
          <a:xfrm>
            <a:off x="548640" y="5020056"/>
            <a:ext cx="3200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</a:rPr>
              <a:t>1. กด "Print"</a:t>
            </a:r>
            <a:endParaRPr lang="en-US" sz="850" dirty="0"/>
          </a:p>
        </p:txBody>
      </p:sp>
      <p:sp>
        <p:nvSpPr>
          <p:cNvPr id="40" name="Text 38"/>
          <p:cNvSpPr/>
          <p:nvPr/>
        </p:nvSpPr>
        <p:spPr>
          <a:xfrm>
            <a:off x="548640" y="5221224"/>
            <a:ext cx="3200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</a:rPr>
              <a:t>2. Popup เปิดขึ้น</a:t>
            </a:r>
            <a:endParaRPr lang="en-US" sz="850" dirty="0"/>
          </a:p>
        </p:txBody>
      </p:sp>
      <p:sp>
        <p:nvSpPr>
          <p:cNvPr id="41" name="Text 39"/>
          <p:cNvSpPr/>
          <p:nvPr/>
        </p:nvSpPr>
        <p:spPr>
          <a:xfrm>
            <a:off x="548640" y="5422392"/>
            <a:ext cx="3200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</a:rPr>
              <a:t>3. กด Print ใน popup</a:t>
            </a:r>
            <a:endParaRPr lang="en-US" sz="850" dirty="0"/>
          </a:p>
        </p:txBody>
      </p:sp>
      <p:sp>
        <p:nvSpPr>
          <p:cNvPr id="42" name="Shape 40"/>
          <p:cNvSpPr/>
          <p:nvPr/>
        </p:nvSpPr>
        <p:spPr>
          <a:xfrm>
            <a:off x="4233672" y="3611880"/>
            <a:ext cx="3639312" cy="2286000"/>
          </a:xfrm>
          <a:prstGeom prst="rect">
            <a:avLst>
              <a:gd name="adj" fmla="val 3200"/>
            </a:avLst>
          </a:prstGeom>
          <a:solidFill>
            <a:srgbClr val="1E293B"/>
          </a:solidFill>
          <a:ln w="19050">
            <a:solidFill>
              <a:srgbClr val="F87171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4233672" y="3611880"/>
            <a:ext cx="64008" cy="2286000"/>
          </a:xfrm>
          <a:prstGeom prst="rect">
            <a:avLst/>
          </a:prstGeom>
          <a:solidFill>
            <a:srgbClr val="F87171"/>
          </a:solidFill>
          <a:ln/>
        </p:spPr>
      </p:sp>
      <p:sp>
        <p:nvSpPr>
          <p:cNvPr id="44" name="Text 42"/>
          <p:cNvSpPr/>
          <p:nvPr/>
        </p:nvSpPr>
        <p:spPr>
          <a:xfrm>
            <a:off x="4462272" y="3749040"/>
            <a:ext cx="32004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🗑️  Delete Medicine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4462272" y="4123944"/>
            <a:ext cx="3200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950" dirty="0">
                <a:solidFill>
                  <a:srgbClr val="94A3B8"/>
                </a:solidFill>
              </a:rPr>
              <a:t>ลบรายการยาออกจาก location</a:t>
            </a:r>
            <a:endParaRPr lang="en-US" sz="9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950" dirty="0">
                <a:solidFill>
                  <a:srgbClr val="94A3B8"/>
                </a:solidFill>
              </a:rPr>
              <a:t>ต้องยืนยันก่อนลบ</a:t>
            </a:r>
            <a:endParaRPr lang="en-US" sz="950" dirty="0"/>
          </a:p>
        </p:txBody>
      </p:sp>
      <p:sp>
        <p:nvSpPr>
          <p:cNvPr id="46" name="Text 44"/>
          <p:cNvSpPr/>
          <p:nvPr/>
        </p:nvSpPr>
        <p:spPr>
          <a:xfrm>
            <a:off x="4462272" y="4818888"/>
            <a:ext cx="3200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87171"/>
                </a:solidFill>
              </a:rPr>
              <a:t>ขั้นตอน:</a:t>
            </a:r>
            <a:endParaRPr lang="en-US" sz="850" dirty="0"/>
          </a:p>
        </p:txBody>
      </p:sp>
      <p:sp>
        <p:nvSpPr>
          <p:cNvPr id="47" name="Text 45"/>
          <p:cNvSpPr/>
          <p:nvPr/>
        </p:nvSpPr>
        <p:spPr>
          <a:xfrm>
            <a:off x="4462272" y="5020056"/>
            <a:ext cx="3200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</a:rPr>
              <a:t>1. กด "Delete"</a:t>
            </a:r>
            <a:endParaRPr lang="en-US" sz="850" dirty="0"/>
          </a:p>
        </p:txBody>
      </p:sp>
      <p:sp>
        <p:nvSpPr>
          <p:cNvPr id="48" name="Text 46"/>
          <p:cNvSpPr/>
          <p:nvPr/>
        </p:nvSpPr>
        <p:spPr>
          <a:xfrm>
            <a:off x="4462272" y="5221224"/>
            <a:ext cx="3200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</a:rPr>
              <a:t>2. ยืนยันการลบ</a:t>
            </a:r>
            <a:endParaRPr lang="en-US" sz="850" dirty="0"/>
          </a:p>
        </p:txBody>
      </p:sp>
      <p:sp>
        <p:nvSpPr>
          <p:cNvPr id="49" name="Shape 47"/>
          <p:cNvSpPr/>
          <p:nvPr/>
        </p:nvSpPr>
        <p:spPr>
          <a:xfrm>
            <a:off x="8147304" y="3611880"/>
            <a:ext cx="3639312" cy="2286000"/>
          </a:xfrm>
          <a:prstGeom prst="rect">
            <a:avLst>
              <a:gd name="adj" fmla="val 3200"/>
            </a:avLst>
          </a:prstGeom>
          <a:solidFill>
            <a:srgbClr val="1E293B"/>
          </a:solidFill>
          <a:ln w="19050">
            <a:solidFill>
              <a:srgbClr val="22D3EE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8147304" y="3611880"/>
            <a:ext cx="64008" cy="2286000"/>
          </a:xfrm>
          <a:prstGeom prst="rect">
            <a:avLst/>
          </a:prstGeom>
          <a:solidFill>
            <a:srgbClr val="22D3EE"/>
          </a:solidFill>
          <a:ln/>
        </p:spPr>
      </p:sp>
      <p:sp>
        <p:nvSpPr>
          <p:cNvPr id="51" name="Text 49"/>
          <p:cNvSpPr/>
          <p:nvPr/>
        </p:nvSpPr>
        <p:spPr>
          <a:xfrm>
            <a:off x="8375904" y="3749040"/>
            <a:ext cx="32004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📥  Export CSV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8375904" y="4123944"/>
            <a:ext cx="3200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950" dirty="0">
                <a:solidFill>
                  <a:srgbClr val="94A3B8"/>
                </a:solidFill>
              </a:rPr>
              <a:t>Export รายการยาทั้งหมดที่กำลังแสดง</a:t>
            </a:r>
            <a:endParaRPr lang="en-US" sz="9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950" dirty="0">
                <a:solidFill>
                  <a:srgbClr val="94A3B8"/>
                </a:solidFill>
              </a:rPr>
              <a:t>รวม filter ที่ค้นหาอยู่ด้วย</a:t>
            </a:r>
            <a:endParaRPr lang="en-US" sz="950" dirty="0"/>
          </a:p>
        </p:txBody>
      </p:sp>
      <p:sp>
        <p:nvSpPr>
          <p:cNvPr id="53" name="Text 51"/>
          <p:cNvSpPr/>
          <p:nvPr/>
        </p:nvSpPr>
        <p:spPr>
          <a:xfrm>
            <a:off x="8375904" y="4818888"/>
            <a:ext cx="3200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2D3EE"/>
                </a:solidFill>
              </a:rPr>
              <a:t>ขั้นตอน:</a:t>
            </a:r>
            <a:endParaRPr lang="en-US" sz="850" dirty="0"/>
          </a:p>
        </p:txBody>
      </p:sp>
      <p:sp>
        <p:nvSpPr>
          <p:cNvPr id="54" name="Text 52"/>
          <p:cNvSpPr/>
          <p:nvPr/>
        </p:nvSpPr>
        <p:spPr>
          <a:xfrm>
            <a:off x="8375904" y="5020056"/>
            <a:ext cx="3200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</a:rPr>
              <a:t>1. กด "Export CSV"</a:t>
            </a:r>
            <a:endParaRPr lang="en-US" sz="850" dirty="0"/>
          </a:p>
        </p:txBody>
      </p:sp>
      <p:sp>
        <p:nvSpPr>
          <p:cNvPr id="55" name="Text 53"/>
          <p:cNvSpPr/>
          <p:nvPr/>
        </p:nvSpPr>
        <p:spPr>
          <a:xfrm>
            <a:off x="8375904" y="5221224"/>
            <a:ext cx="3200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</a:rPr>
              <a:t>2. ไฟล์ download อัตโนมัติ</a:t>
            </a:r>
            <a:endParaRPr lang="en-US" sz="850" dirty="0"/>
          </a:p>
        </p:txBody>
      </p:sp>
      <p:sp>
        <p:nvSpPr>
          <p:cNvPr id="56" name="Shape 54"/>
          <p:cNvSpPr/>
          <p:nvPr/>
        </p:nvSpPr>
        <p:spPr>
          <a:xfrm>
            <a:off x="0" y="6446520"/>
            <a:ext cx="12188952" cy="41148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57" name="Shape 55"/>
          <p:cNvSpPr/>
          <p:nvPr/>
        </p:nvSpPr>
        <p:spPr>
          <a:xfrm>
            <a:off x="0" y="6446520"/>
            <a:ext cx="12188952" cy="22860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58" name="Text 56"/>
          <p:cNvSpPr/>
          <p:nvPr/>
        </p:nvSpPr>
        <p:spPr>
          <a:xfrm>
            <a:off x="274320" y="6492240"/>
            <a:ext cx="11430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medstock-his.vercel.app  ·  IS-C Department  ·  Hospital Information System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50976"/>
            <a:ext cx="12188952" cy="22860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54864" cy="960120"/>
          </a:xfrm>
          <a:prstGeom prst="rect">
            <a:avLst/>
          </a:prstGeom>
          <a:solidFill>
            <a:srgbClr val="1D4ED8"/>
          </a:solidFill>
          <a:ln/>
        </p:spPr>
      </p:sp>
      <p:sp>
        <p:nvSpPr>
          <p:cNvPr id="5" name="Text 3"/>
          <p:cNvSpPr/>
          <p:nvPr/>
        </p:nvSpPr>
        <p:spPr>
          <a:xfrm>
            <a:off x="182880" y="73152"/>
            <a:ext cx="7315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93C5FD"/>
                </a:solidFill>
              </a:rPr>
              <a:t>MedStock HIS  ·  รับยาเข้า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182880" y="292608"/>
            <a:ext cx="109728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Receive Medicine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182880" y="731520"/>
            <a:ext cx="10972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</a:rPr>
              <a:t>รับยาเข้าสต็อก — 2 กรณี: ยาเดิม (Restock) และยาใหม่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20040" y="1097280"/>
            <a:ext cx="11887200" cy="475488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9" name="Shape 7"/>
          <p:cNvSpPr/>
          <p:nvPr/>
        </p:nvSpPr>
        <p:spPr>
          <a:xfrm>
            <a:off x="320040" y="1097280"/>
            <a:ext cx="2926080" cy="475488"/>
          </a:xfrm>
          <a:prstGeom prst="rect">
            <a:avLst/>
          </a:prstGeom>
          <a:solidFill>
            <a:srgbClr val="1D4ED8"/>
          </a:solidFill>
          <a:ln/>
        </p:spPr>
      </p:sp>
      <p:sp>
        <p:nvSpPr>
          <p:cNvPr id="10" name="Text 8"/>
          <p:cNvSpPr/>
          <p:nvPr/>
        </p:nvSpPr>
        <p:spPr>
          <a:xfrm>
            <a:off x="502920" y="1188720"/>
            <a:ext cx="2560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📦  Restock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3246120" y="1188720"/>
            <a:ext cx="29260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4A3B8"/>
                </a:solidFill>
              </a:rPr>
              <a:t>➕  New Medicine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20040" y="1691640"/>
            <a:ext cx="5486400" cy="4023360"/>
          </a:xfrm>
          <a:prstGeom prst="rect">
            <a:avLst>
              <a:gd name="adj" fmla="val 1818"/>
            </a:avLst>
          </a:prstGeom>
          <a:solidFill>
            <a:srgbClr val="1E293B"/>
          </a:solidFill>
          <a:ln w="19050">
            <a:solidFill>
              <a:srgbClr val="3B82F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20040" y="1691640"/>
            <a:ext cx="64008" cy="402336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14" name="Text 12"/>
          <p:cNvSpPr/>
          <p:nvPr/>
        </p:nvSpPr>
        <p:spPr>
          <a:xfrm>
            <a:off x="548640" y="1783080"/>
            <a:ext cx="5029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93C5FD"/>
                </a:solidFill>
              </a:rPr>
              <a:t>Tab 1: Restock (ยาเดิม)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548640" y="2121408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</a:rPr>
              <a:t>สำหรับยาที่มีอยู่แล้วในระบบ — scan barcode เพื่อดึงข้อมูล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502920" y="2468880"/>
            <a:ext cx="3931920" cy="384048"/>
          </a:xfrm>
          <a:prstGeom prst="rect">
            <a:avLst>
              <a:gd name="adj" fmla="val 14286"/>
            </a:avLst>
          </a:prstGeom>
          <a:solidFill>
            <a:srgbClr val="0F172A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85800" y="2542032"/>
            <a:ext cx="35661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</a:rPr>
              <a:t>📷  Scan หรือพิมพ์ barcode...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4526280" y="2468880"/>
            <a:ext cx="1097280" cy="384048"/>
          </a:xfrm>
          <a:prstGeom prst="rect">
            <a:avLst>
              <a:gd name="adj" fmla="val 14286"/>
            </a:avLst>
          </a:prstGeom>
          <a:solidFill>
            <a:srgbClr val="1D4ED8"/>
          </a:solidFill>
          <a:ln/>
        </p:spPr>
      </p:sp>
      <p:sp>
        <p:nvSpPr>
          <p:cNvPr id="19" name="Text 17"/>
          <p:cNvSpPr/>
          <p:nvPr/>
        </p:nvSpPr>
        <p:spPr>
          <a:xfrm>
            <a:off x="4526280" y="2542032"/>
            <a:ext cx="10972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</a:rPr>
              <a:t>Look Up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502920" y="2999232"/>
            <a:ext cx="5120640" cy="1188720"/>
          </a:xfrm>
          <a:prstGeom prst="rect">
            <a:avLst>
              <a:gd name="adj" fmla="val 6154"/>
            </a:avLst>
          </a:prstGeom>
          <a:solidFill>
            <a:srgbClr val="1E293B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85800" y="3072384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</a:rPr>
              <a:t>💊 Paracetamol 500mg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685800" y="3383280"/>
            <a:ext cx="45720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</a:rPr>
              <a:t>Barcode: 8850000011  |  Stock ปัจจุบัน: 45 หน่วย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685800" y="3639312"/>
            <a:ext cx="2011680" cy="347472"/>
          </a:xfrm>
          <a:prstGeom prst="rect">
            <a:avLst>
              <a:gd name="adj" fmla="val 15789"/>
            </a:avLst>
          </a:prstGeom>
          <a:solidFill>
            <a:srgbClr val="0F172A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77240" y="3694176"/>
            <a:ext cx="1828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</a:rPr>
              <a:t>จำนวนที่รับเข้า: 50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2834640" y="3639312"/>
            <a:ext cx="1463040" cy="347472"/>
          </a:xfrm>
          <a:prstGeom prst="rect">
            <a:avLst>
              <a:gd name="adj" fmla="val 15789"/>
            </a:avLst>
          </a:prstGeom>
          <a:solidFill>
            <a:srgbClr val="34D399"/>
          </a:solidFill>
          <a:ln/>
        </p:spPr>
      </p:sp>
      <p:sp>
        <p:nvSpPr>
          <p:cNvPr id="26" name="Text 24"/>
          <p:cNvSpPr/>
          <p:nvPr/>
        </p:nvSpPr>
        <p:spPr>
          <a:xfrm>
            <a:off x="2834640" y="3694176"/>
            <a:ext cx="14630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F172A"/>
                </a:solidFill>
              </a:rPr>
              <a:t>✓ Receive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530352" y="4407408"/>
            <a:ext cx="109728" cy="109728"/>
          </a:xfrm>
          <a:prstGeom prst="ellipse">
            <a:avLst/>
          </a:prstGeom>
          <a:solidFill>
            <a:srgbClr val="3B82F6"/>
          </a:solidFill>
          <a:ln/>
        </p:spPr>
      </p:sp>
      <p:sp>
        <p:nvSpPr>
          <p:cNvPr id="28" name="Text 26"/>
          <p:cNvSpPr/>
          <p:nvPr/>
        </p:nvSpPr>
        <p:spPr>
          <a:xfrm>
            <a:off x="713232" y="4352544"/>
            <a:ext cx="4937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</a:rPr>
              <a:t>Scan / พิมพ์ barcode → กด Look Up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530352" y="4700016"/>
            <a:ext cx="109728" cy="109728"/>
          </a:xfrm>
          <a:prstGeom prst="ellipse">
            <a:avLst/>
          </a:prstGeom>
          <a:solidFill>
            <a:srgbClr val="3B82F6"/>
          </a:solidFill>
          <a:ln/>
        </p:spPr>
      </p:sp>
      <p:sp>
        <p:nvSpPr>
          <p:cNvPr id="30" name="Text 28"/>
          <p:cNvSpPr/>
          <p:nvPr/>
        </p:nvSpPr>
        <p:spPr>
          <a:xfrm>
            <a:off x="713232" y="4645152"/>
            <a:ext cx="4937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</a:rPr>
              <a:t>ระบบดึงข้อมูลยาจาก drug_master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530352" y="4992624"/>
            <a:ext cx="109728" cy="109728"/>
          </a:xfrm>
          <a:prstGeom prst="ellipse">
            <a:avLst/>
          </a:prstGeom>
          <a:solidFill>
            <a:srgbClr val="3B82F6"/>
          </a:solidFill>
          <a:ln/>
        </p:spPr>
      </p:sp>
      <p:sp>
        <p:nvSpPr>
          <p:cNvPr id="32" name="Text 30"/>
          <p:cNvSpPr/>
          <p:nvPr/>
        </p:nvSpPr>
        <p:spPr>
          <a:xfrm>
            <a:off x="713232" y="4937760"/>
            <a:ext cx="4937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</a:rPr>
              <a:t>กรอกจำนวนที่รับเข้า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530352" y="5285232"/>
            <a:ext cx="109728" cy="109728"/>
          </a:xfrm>
          <a:prstGeom prst="ellipse">
            <a:avLst/>
          </a:prstGeom>
          <a:solidFill>
            <a:srgbClr val="3B82F6"/>
          </a:solidFill>
          <a:ln/>
        </p:spPr>
      </p:sp>
      <p:sp>
        <p:nvSpPr>
          <p:cNvPr id="34" name="Text 32"/>
          <p:cNvSpPr/>
          <p:nvPr/>
        </p:nvSpPr>
        <p:spPr>
          <a:xfrm>
            <a:off x="713232" y="5230368"/>
            <a:ext cx="4937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</a:rPr>
              <a:t>กด Receive → qty เพิ่ม + บันทึก transaction IN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6126480" y="1691640"/>
            <a:ext cx="6035040" cy="4023360"/>
          </a:xfrm>
          <a:prstGeom prst="rect">
            <a:avLst>
              <a:gd name="adj" fmla="val 1818"/>
            </a:avLst>
          </a:prstGeom>
          <a:solidFill>
            <a:srgbClr val="1E293B"/>
          </a:solidFill>
          <a:ln w="19050">
            <a:solidFill>
              <a:srgbClr val="34D39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126480" y="1691640"/>
            <a:ext cx="64008" cy="4023360"/>
          </a:xfrm>
          <a:prstGeom prst="rect">
            <a:avLst/>
          </a:prstGeom>
          <a:solidFill>
            <a:srgbClr val="34D399"/>
          </a:solidFill>
          <a:ln/>
        </p:spPr>
      </p:sp>
      <p:sp>
        <p:nvSpPr>
          <p:cNvPr id="37" name="Text 35"/>
          <p:cNvSpPr/>
          <p:nvPr/>
        </p:nvSpPr>
        <p:spPr>
          <a:xfrm>
            <a:off x="6355080" y="1783080"/>
            <a:ext cx="5486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4D399"/>
                </a:solidFill>
              </a:rPr>
              <a:t>Tab 2: New Medicine (ยาใหม่)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6355080" y="2121408"/>
            <a:ext cx="5486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</a:rPr>
              <a:t>สำหรับยาที่ยังไม่มีในระบบ — สร้าง barcode ใหม่</a:t>
            </a:r>
            <a:endParaRPr lang="en-US" sz="950" dirty="0"/>
          </a:p>
        </p:txBody>
      </p:sp>
      <p:sp>
        <p:nvSpPr>
          <p:cNvPr id="39" name="Text 37"/>
          <p:cNvSpPr/>
          <p:nvPr/>
        </p:nvSpPr>
        <p:spPr>
          <a:xfrm>
            <a:off x="6355080" y="2487168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4A3B8"/>
                </a:solidFill>
              </a:rPr>
              <a:t>ชื่อยา / เวชภัณฑ์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6355080" y="2706624"/>
            <a:ext cx="5577840" cy="329184"/>
          </a:xfrm>
          <a:prstGeom prst="rect">
            <a:avLst>
              <a:gd name="adj" fmla="val 16667"/>
            </a:avLst>
          </a:prstGeom>
          <a:solidFill>
            <a:srgbClr val="0F172A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492240" y="2761488"/>
            <a:ext cx="53035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e.g. Paracetamol 500mg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6355080" y="3145536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4A3B8"/>
                </a:solidFill>
              </a:rPr>
              <a:t>Barcode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6355080" y="3364992"/>
            <a:ext cx="5577840" cy="329184"/>
          </a:xfrm>
          <a:prstGeom prst="rect">
            <a:avLst>
              <a:gd name="adj" fmla="val 16667"/>
            </a:avLst>
          </a:prstGeom>
          <a:solidFill>
            <a:srgbClr val="0F172A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492240" y="3419856"/>
            <a:ext cx="53035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Generate อัตโนมัติ หรือพิมพ์เอง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6355080" y="3803904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4A3B8"/>
                </a:solidFill>
              </a:rPr>
              <a:t>จำนวน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6355080" y="4023360"/>
            <a:ext cx="5577840" cy="329184"/>
          </a:xfrm>
          <a:prstGeom prst="rect">
            <a:avLst>
              <a:gd name="adj" fmla="val 16667"/>
            </a:avLst>
          </a:prstGeom>
          <a:solidFill>
            <a:srgbClr val="0F172A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492240" y="4078224"/>
            <a:ext cx="53035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50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6355080" y="446227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4A3B8"/>
                </a:solidFill>
              </a:rPr>
              <a:t>หมวดหมู่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6355080" y="4681728"/>
            <a:ext cx="5577840" cy="329184"/>
          </a:xfrm>
          <a:prstGeom prst="rect">
            <a:avLst>
              <a:gd name="adj" fmla="val 16667"/>
            </a:avLst>
          </a:prstGeom>
          <a:solidFill>
            <a:srgbClr val="0F172A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492240" y="4736592"/>
            <a:ext cx="53035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Analgesic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6355080" y="5193792"/>
            <a:ext cx="5577840" cy="365760"/>
          </a:xfrm>
          <a:prstGeom prst="rect">
            <a:avLst>
              <a:gd name="adj" fmla="val 15000"/>
            </a:avLst>
          </a:prstGeom>
          <a:solidFill>
            <a:srgbClr val="34D399"/>
          </a:solidFill>
          <a:ln/>
        </p:spPr>
      </p:sp>
      <p:sp>
        <p:nvSpPr>
          <p:cNvPr id="52" name="Text 50"/>
          <p:cNvSpPr/>
          <p:nvPr/>
        </p:nvSpPr>
        <p:spPr>
          <a:xfrm>
            <a:off x="6355080" y="5266944"/>
            <a:ext cx="55778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F172A"/>
                </a:solidFill>
              </a:rPr>
              <a:t>✓  เพิ่มยาและรับเข้า location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6144768" y="5687568"/>
            <a:ext cx="109728" cy="109728"/>
          </a:xfrm>
          <a:prstGeom prst="ellipse">
            <a:avLst/>
          </a:prstGeom>
          <a:solidFill>
            <a:srgbClr val="34D399"/>
          </a:solidFill>
          <a:ln/>
        </p:spPr>
      </p:sp>
      <p:sp>
        <p:nvSpPr>
          <p:cNvPr id="54" name="Text 52"/>
          <p:cNvSpPr/>
          <p:nvPr/>
        </p:nvSpPr>
        <p:spPr>
          <a:xfrm>
            <a:off x="6327648" y="5632704"/>
            <a:ext cx="56692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</a:rPr>
              <a:t>กรอกข้อมูลยา ชื่อ / หมวดหมู่</a:t>
            </a:r>
            <a:endParaRPr lang="en-US" sz="950" dirty="0"/>
          </a:p>
        </p:txBody>
      </p:sp>
      <p:sp>
        <p:nvSpPr>
          <p:cNvPr id="55" name="Shape 53"/>
          <p:cNvSpPr/>
          <p:nvPr/>
        </p:nvSpPr>
        <p:spPr>
          <a:xfrm>
            <a:off x="6144768" y="5961888"/>
            <a:ext cx="109728" cy="109728"/>
          </a:xfrm>
          <a:prstGeom prst="ellipse">
            <a:avLst/>
          </a:prstGeom>
          <a:solidFill>
            <a:srgbClr val="34D399"/>
          </a:solidFill>
          <a:ln/>
        </p:spPr>
      </p:sp>
      <p:sp>
        <p:nvSpPr>
          <p:cNvPr id="56" name="Text 54"/>
          <p:cNvSpPr/>
          <p:nvPr/>
        </p:nvSpPr>
        <p:spPr>
          <a:xfrm>
            <a:off x="6327648" y="5907024"/>
            <a:ext cx="56692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</a:rPr>
              <a:t>Generate barcode อัตโนมัติ หรือกำหนดเอง</a:t>
            </a:r>
            <a:endParaRPr lang="en-US" sz="950" dirty="0"/>
          </a:p>
        </p:txBody>
      </p:sp>
      <p:sp>
        <p:nvSpPr>
          <p:cNvPr id="57" name="Shape 55"/>
          <p:cNvSpPr/>
          <p:nvPr/>
        </p:nvSpPr>
        <p:spPr>
          <a:xfrm>
            <a:off x="6144768" y="6236208"/>
            <a:ext cx="109728" cy="109728"/>
          </a:xfrm>
          <a:prstGeom prst="ellipse">
            <a:avLst/>
          </a:prstGeom>
          <a:solidFill>
            <a:srgbClr val="34D399"/>
          </a:solidFill>
          <a:ln/>
        </p:spPr>
      </p:sp>
      <p:sp>
        <p:nvSpPr>
          <p:cNvPr id="58" name="Text 56"/>
          <p:cNvSpPr/>
          <p:nvPr/>
        </p:nvSpPr>
        <p:spPr>
          <a:xfrm>
            <a:off x="6327648" y="6181344"/>
            <a:ext cx="56692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</a:rPr>
              <a:t>ระบบเพิ่มยาใน drug_master + บันทึก transaction IN</a:t>
            </a:r>
            <a:endParaRPr lang="en-US" sz="950" dirty="0"/>
          </a:p>
        </p:txBody>
      </p:sp>
      <p:sp>
        <p:nvSpPr>
          <p:cNvPr id="59" name="Shape 57"/>
          <p:cNvSpPr/>
          <p:nvPr/>
        </p:nvSpPr>
        <p:spPr>
          <a:xfrm>
            <a:off x="0" y="6446520"/>
            <a:ext cx="12188952" cy="41148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60" name="Shape 58"/>
          <p:cNvSpPr/>
          <p:nvPr/>
        </p:nvSpPr>
        <p:spPr>
          <a:xfrm>
            <a:off x="0" y="6446520"/>
            <a:ext cx="12188952" cy="22860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61" name="Text 59"/>
          <p:cNvSpPr/>
          <p:nvPr/>
        </p:nvSpPr>
        <p:spPr>
          <a:xfrm>
            <a:off x="274320" y="6492240"/>
            <a:ext cx="11430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medstock-his.vercel.app  ·  IS-C Department  ·  Hospital Information System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50976"/>
            <a:ext cx="12188952" cy="22860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54864" cy="960120"/>
          </a:xfrm>
          <a:prstGeom prst="rect">
            <a:avLst/>
          </a:prstGeom>
          <a:solidFill>
            <a:srgbClr val="1D4ED8"/>
          </a:solidFill>
          <a:ln/>
        </p:spPr>
      </p:sp>
      <p:sp>
        <p:nvSpPr>
          <p:cNvPr id="5" name="Text 3"/>
          <p:cNvSpPr/>
          <p:nvPr/>
        </p:nvSpPr>
        <p:spPr>
          <a:xfrm>
            <a:off x="182880" y="73152"/>
            <a:ext cx="7315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93C5FD"/>
                </a:solidFill>
              </a:rPr>
              <a:t>MedStock HIS  ·  จ่ายยา / ค้นหา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182880" y="292608"/>
            <a:ext cx="109728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Dispense &amp; Stock Lookup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182880" y="731520"/>
            <a:ext cx="10972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</a:rPr>
              <a:t>จ่ายยาออก และ ค้นหาสต็อกด้วย barcode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20040" y="1097280"/>
            <a:ext cx="5486400" cy="5074920"/>
          </a:xfrm>
          <a:prstGeom prst="rect">
            <a:avLst>
              <a:gd name="adj" fmla="val 1441"/>
            </a:avLst>
          </a:prstGeom>
          <a:solidFill>
            <a:srgbClr val="1E293B"/>
          </a:solidFill>
          <a:ln w="19050">
            <a:solidFill>
              <a:srgbClr val="F8717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20040" y="1097280"/>
            <a:ext cx="64008" cy="5074920"/>
          </a:xfrm>
          <a:prstGeom prst="rect">
            <a:avLst/>
          </a:prstGeom>
          <a:solidFill>
            <a:srgbClr val="F87171"/>
          </a:solidFill>
          <a:ln/>
        </p:spPr>
      </p:sp>
      <p:sp>
        <p:nvSpPr>
          <p:cNvPr id="10" name="Text 8"/>
          <p:cNvSpPr/>
          <p:nvPr/>
        </p:nvSpPr>
        <p:spPr>
          <a:xfrm>
            <a:off x="548640" y="1207008"/>
            <a:ext cx="50292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💊  Dispense — จ่ายยาออก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548640" y="1572768"/>
            <a:ext cx="50292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</a:rPr>
              <a:t>ลดสต็อกยาเมื่อจ่ายให้ผู้ป่วยหรือเบิกใช้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02920" y="1920240"/>
            <a:ext cx="5120640" cy="384048"/>
          </a:xfrm>
          <a:prstGeom prst="rect">
            <a:avLst>
              <a:gd name="adj" fmla="val 14286"/>
            </a:avLst>
          </a:prstGeom>
          <a:solidFill>
            <a:srgbClr val="0F172A"/>
          </a:solidFill>
          <a:ln w="12700">
            <a:solidFill>
              <a:srgbClr val="F8717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85800" y="1993392"/>
            <a:ext cx="47548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</a:rPr>
              <a:t>📷  Scan barcode (กด Enter หรือ Look Up)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502920" y="2450592"/>
            <a:ext cx="5120640" cy="1005840"/>
          </a:xfrm>
          <a:prstGeom prst="rect">
            <a:avLst>
              <a:gd name="adj" fmla="val 7273"/>
            </a:avLst>
          </a:prstGeom>
          <a:solidFill>
            <a:srgbClr val="1E293B"/>
          </a:solidFill>
          <a:ln w="12700">
            <a:solidFill>
              <a:srgbClr val="F8717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85800" y="2523744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</a:rPr>
              <a:t>💊 Amoxicillin 250mg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685800" y="2834640"/>
            <a:ext cx="45720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</a:rPr>
              <a:t>Barcode: 8850000022  |  Stock: 80 หน่วย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685800" y="3090672"/>
            <a:ext cx="1645920" cy="292608"/>
          </a:xfrm>
          <a:prstGeom prst="rect">
            <a:avLst>
              <a:gd name="adj" fmla="val 15625"/>
            </a:avLst>
          </a:prstGeom>
          <a:solidFill>
            <a:srgbClr val="0F172A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" y="3145536"/>
            <a:ext cx="14630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</a:rPr>
              <a:t>จำนวน: 3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2468880" y="3090672"/>
            <a:ext cx="1188720" cy="292608"/>
          </a:xfrm>
          <a:prstGeom prst="rect">
            <a:avLst>
              <a:gd name="adj" fmla="val 15625"/>
            </a:avLst>
          </a:prstGeom>
          <a:solidFill>
            <a:srgbClr val="F87171"/>
          </a:solidFill>
          <a:ln/>
        </p:spPr>
      </p:sp>
      <p:sp>
        <p:nvSpPr>
          <p:cNvPr id="20" name="Text 18"/>
          <p:cNvSpPr/>
          <p:nvPr/>
        </p:nvSpPr>
        <p:spPr>
          <a:xfrm>
            <a:off x="2468880" y="3145536"/>
            <a:ext cx="1188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</a:rPr>
              <a:t>Dispense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530352" y="3730752"/>
            <a:ext cx="109728" cy="109728"/>
          </a:xfrm>
          <a:prstGeom prst="ellipse">
            <a:avLst/>
          </a:prstGeom>
          <a:solidFill>
            <a:srgbClr val="F87171"/>
          </a:solidFill>
          <a:ln/>
        </p:spPr>
      </p:sp>
      <p:sp>
        <p:nvSpPr>
          <p:cNvPr id="22" name="Text 20"/>
          <p:cNvSpPr/>
          <p:nvPr/>
        </p:nvSpPr>
        <p:spPr>
          <a:xfrm>
            <a:off x="713232" y="3675888"/>
            <a:ext cx="4937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</a:rPr>
              <a:t>Scan barcode หรือพิมพ์เอง → กด Enter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530352" y="4078224"/>
            <a:ext cx="109728" cy="109728"/>
          </a:xfrm>
          <a:prstGeom prst="ellipse">
            <a:avLst/>
          </a:prstGeom>
          <a:solidFill>
            <a:srgbClr val="F87171"/>
          </a:solidFill>
          <a:ln/>
        </p:spPr>
      </p:sp>
      <p:sp>
        <p:nvSpPr>
          <p:cNvPr id="24" name="Text 22"/>
          <p:cNvSpPr/>
          <p:nvPr/>
        </p:nvSpPr>
        <p:spPr>
          <a:xfrm>
            <a:off x="713232" y="4023360"/>
            <a:ext cx="4937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</a:rPr>
              <a:t>ระบบแสดงชื่อยา + stock ปัจจุบัน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530352" y="4425696"/>
            <a:ext cx="109728" cy="109728"/>
          </a:xfrm>
          <a:prstGeom prst="ellipse">
            <a:avLst/>
          </a:prstGeom>
          <a:solidFill>
            <a:srgbClr val="F87171"/>
          </a:solidFill>
          <a:ln/>
        </p:spPr>
      </p:sp>
      <p:sp>
        <p:nvSpPr>
          <p:cNvPr id="26" name="Text 24"/>
          <p:cNvSpPr/>
          <p:nvPr/>
        </p:nvSpPr>
        <p:spPr>
          <a:xfrm>
            <a:off x="713232" y="4370832"/>
            <a:ext cx="4937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</a:rPr>
              <a:t>กรอกจำนวนที่ต้องการจ่าย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530352" y="4773168"/>
            <a:ext cx="109728" cy="109728"/>
          </a:xfrm>
          <a:prstGeom prst="ellipse">
            <a:avLst/>
          </a:prstGeom>
          <a:solidFill>
            <a:srgbClr val="F87171"/>
          </a:solidFill>
          <a:ln/>
        </p:spPr>
      </p:sp>
      <p:sp>
        <p:nvSpPr>
          <p:cNvPr id="28" name="Text 26"/>
          <p:cNvSpPr/>
          <p:nvPr/>
        </p:nvSpPr>
        <p:spPr>
          <a:xfrm>
            <a:off x="713232" y="4718304"/>
            <a:ext cx="4937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</a:rPr>
              <a:t>กด Dispense → qty ลด + บันทึก transaction OUT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530352" y="5120640"/>
            <a:ext cx="109728" cy="109728"/>
          </a:xfrm>
          <a:prstGeom prst="ellipse">
            <a:avLst/>
          </a:prstGeom>
          <a:solidFill>
            <a:srgbClr val="F87171"/>
          </a:solidFill>
          <a:ln/>
        </p:spPr>
      </p:sp>
      <p:sp>
        <p:nvSpPr>
          <p:cNvPr id="30" name="Text 28"/>
          <p:cNvSpPr/>
          <p:nvPr/>
        </p:nvSpPr>
        <p:spPr>
          <a:xfrm>
            <a:off x="713232" y="5065776"/>
            <a:ext cx="4937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</a:rPr>
              <a:t>ถ้า stock ไม่พอ ระบบแจ้งเตือน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502920" y="5440680"/>
            <a:ext cx="5120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900" dirty="0">
                <a:solidFill>
                  <a:srgbClr val="64748B"/>
                </a:solidFill>
              </a:rPr>
              <a:t>⚡ รองรับ barcode scanner ภายนอก</a:t>
            </a:r>
            <a:endParaRPr lang="en-US" sz="9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900" dirty="0">
                <a:solidFill>
                  <a:srgbClr val="64748B"/>
                </a:solidFill>
              </a:rPr>
              <a:t>📱 ใช้ keyboard บนมือถือได้ (inputMode: text)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6126480" y="1097280"/>
            <a:ext cx="6035040" cy="5074920"/>
          </a:xfrm>
          <a:prstGeom prst="rect">
            <a:avLst>
              <a:gd name="adj" fmla="val 1441"/>
            </a:avLst>
          </a:prstGeom>
          <a:solidFill>
            <a:srgbClr val="1E293B"/>
          </a:solidFill>
          <a:ln w="19050">
            <a:solidFill>
              <a:srgbClr val="22D3EE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126480" y="1097280"/>
            <a:ext cx="64008" cy="5074920"/>
          </a:xfrm>
          <a:prstGeom prst="rect">
            <a:avLst/>
          </a:prstGeom>
          <a:solidFill>
            <a:srgbClr val="22D3EE"/>
          </a:solidFill>
          <a:ln/>
        </p:spPr>
      </p:sp>
      <p:sp>
        <p:nvSpPr>
          <p:cNvPr id="34" name="Text 32"/>
          <p:cNvSpPr/>
          <p:nvPr/>
        </p:nvSpPr>
        <p:spPr>
          <a:xfrm>
            <a:off x="6355080" y="1207008"/>
            <a:ext cx="54864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🔎  Stock Lookup — ค้นหาสต็อก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6355080" y="1572768"/>
            <a:ext cx="54864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</a:rPr>
              <a:t>ค้นหาข้อมูลยาโดย scan barcode ไม่มีการตัดสต็อก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6309360" y="1920240"/>
            <a:ext cx="5577840" cy="384048"/>
          </a:xfrm>
          <a:prstGeom prst="rect">
            <a:avLst>
              <a:gd name="adj" fmla="val 14286"/>
            </a:avLst>
          </a:prstGeom>
          <a:solidFill>
            <a:srgbClr val="0F172A"/>
          </a:solidFill>
          <a:ln w="12700">
            <a:solidFill>
              <a:srgbClr val="22D3EE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492240" y="1993392"/>
            <a:ext cx="5212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</a:rPr>
              <a:t>📷  Scan barcode...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6309360" y="2450592"/>
            <a:ext cx="5577840" cy="2286000"/>
          </a:xfrm>
          <a:prstGeom prst="rect">
            <a:avLst>
              <a:gd name="adj" fmla="val 3200"/>
            </a:avLst>
          </a:prstGeom>
          <a:solidFill>
            <a:srgbClr val="1E293B"/>
          </a:solidFill>
          <a:ln w="12700">
            <a:solidFill>
              <a:srgbClr val="22D3EE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92240" y="2542032"/>
            <a:ext cx="5029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💊 Vitamin C 1000mg</a:t>
            </a:r>
            <a:endParaRPr lang="en-US" sz="1300" dirty="0"/>
          </a:p>
        </p:txBody>
      </p:sp>
      <p:sp>
        <p:nvSpPr>
          <p:cNvPr id="40" name="Text 38"/>
          <p:cNvSpPr/>
          <p:nvPr/>
        </p:nvSpPr>
        <p:spPr>
          <a:xfrm>
            <a:off x="6492240" y="2907792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</a:rPr>
              <a:t>Barcode:</a:t>
            </a:r>
            <a:endParaRPr lang="en-US" sz="950" dirty="0"/>
          </a:p>
        </p:txBody>
      </p:sp>
      <p:sp>
        <p:nvSpPr>
          <p:cNvPr id="41" name="Text 39"/>
          <p:cNvSpPr/>
          <p:nvPr/>
        </p:nvSpPr>
        <p:spPr>
          <a:xfrm>
            <a:off x="7955280" y="2907792"/>
            <a:ext cx="3657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</a:rPr>
              <a:t>8850000033</a:t>
            </a:r>
            <a:endParaRPr lang="en-US" sz="950" dirty="0"/>
          </a:p>
        </p:txBody>
      </p:sp>
      <p:sp>
        <p:nvSpPr>
          <p:cNvPr id="42" name="Text 40"/>
          <p:cNvSpPr/>
          <p:nvPr/>
        </p:nvSpPr>
        <p:spPr>
          <a:xfrm>
            <a:off x="6492240" y="3310128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</a:rPr>
              <a:t>Stock:</a:t>
            </a:r>
            <a:endParaRPr lang="en-US" sz="950" dirty="0"/>
          </a:p>
        </p:txBody>
      </p:sp>
      <p:sp>
        <p:nvSpPr>
          <p:cNvPr id="43" name="Text 41"/>
          <p:cNvSpPr/>
          <p:nvPr/>
        </p:nvSpPr>
        <p:spPr>
          <a:xfrm>
            <a:off x="7955280" y="3310128"/>
            <a:ext cx="3657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</a:rPr>
              <a:t>120 หน่วย</a:t>
            </a:r>
            <a:endParaRPr lang="en-US" sz="950" dirty="0"/>
          </a:p>
        </p:txBody>
      </p:sp>
      <p:sp>
        <p:nvSpPr>
          <p:cNvPr id="44" name="Text 42"/>
          <p:cNvSpPr/>
          <p:nvPr/>
        </p:nvSpPr>
        <p:spPr>
          <a:xfrm>
            <a:off x="6492240" y="3712464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</a:rPr>
              <a:t>หมวดหมู่:</a:t>
            </a:r>
            <a:endParaRPr lang="en-US" sz="950" dirty="0"/>
          </a:p>
        </p:txBody>
      </p:sp>
      <p:sp>
        <p:nvSpPr>
          <p:cNvPr id="45" name="Text 43"/>
          <p:cNvSpPr/>
          <p:nvPr/>
        </p:nvSpPr>
        <p:spPr>
          <a:xfrm>
            <a:off x="7955280" y="3712464"/>
            <a:ext cx="3657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</a:rPr>
              <a:t>Supplement</a:t>
            </a:r>
            <a:endParaRPr lang="en-US" sz="950" dirty="0"/>
          </a:p>
        </p:txBody>
      </p:sp>
      <p:sp>
        <p:nvSpPr>
          <p:cNvPr id="46" name="Text 44"/>
          <p:cNvSpPr/>
          <p:nvPr/>
        </p:nvSpPr>
        <p:spPr>
          <a:xfrm>
            <a:off x="6492240" y="4114800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</a:rPr>
              <a:t>Location:</a:t>
            </a:r>
            <a:endParaRPr lang="en-US" sz="950" dirty="0"/>
          </a:p>
        </p:txBody>
      </p:sp>
      <p:sp>
        <p:nvSpPr>
          <p:cNvPr id="47" name="Text 45"/>
          <p:cNvSpPr/>
          <p:nvPr/>
        </p:nvSpPr>
        <p:spPr>
          <a:xfrm>
            <a:off x="7955280" y="4114800"/>
            <a:ext cx="3657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</a:rPr>
              <a:t>OPC - Out-Patient</a:t>
            </a:r>
            <a:endParaRPr lang="en-US" sz="950" dirty="0"/>
          </a:p>
        </p:txBody>
      </p:sp>
      <p:sp>
        <p:nvSpPr>
          <p:cNvPr id="48" name="Shape 46"/>
          <p:cNvSpPr/>
          <p:nvPr/>
        </p:nvSpPr>
        <p:spPr>
          <a:xfrm>
            <a:off x="6327648" y="4956048"/>
            <a:ext cx="109728" cy="109728"/>
          </a:xfrm>
          <a:prstGeom prst="ellipse">
            <a:avLst/>
          </a:prstGeom>
          <a:solidFill>
            <a:srgbClr val="22D3EE"/>
          </a:solidFill>
          <a:ln/>
        </p:spPr>
      </p:sp>
      <p:sp>
        <p:nvSpPr>
          <p:cNvPr id="49" name="Text 47"/>
          <p:cNvSpPr/>
          <p:nvPr/>
        </p:nvSpPr>
        <p:spPr>
          <a:xfrm>
            <a:off x="6510528" y="4901184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</a:rPr>
              <a:t>Scan barcode → แสดงข้อมูลทันที</a:t>
            </a:r>
            <a:endParaRPr lang="en-US" sz="950" dirty="0"/>
          </a:p>
        </p:txBody>
      </p:sp>
      <p:sp>
        <p:nvSpPr>
          <p:cNvPr id="50" name="Shape 48"/>
          <p:cNvSpPr/>
          <p:nvPr/>
        </p:nvSpPr>
        <p:spPr>
          <a:xfrm>
            <a:off x="6327648" y="5266944"/>
            <a:ext cx="109728" cy="109728"/>
          </a:xfrm>
          <a:prstGeom prst="ellipse">
            <a:avLst/>
          </a:prstGeom>
          <a:solidFill>
            <a:srgbClr val="22D3EE"/>
          </a:solidFill>
          <a:ln/>
        </p:spPr>
      </p:sp>
      <p:sp>
        <p:nvSpPr>
          <p:cNvPr id="51" name="Text 49"/>
          <p:cNvSpPr/>
          <p:nvPr/>
        </p:nvSpPr>
        <p:spPr>
          <a:xfrm>
            <a:off x="6510528" y="5212080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</a:rPr>
              <a:t>เห็น stock ปัจจุบัน ชื่อยา หมวดหมู่</a:t>
            </a:r>
            <a:endParaRPr lang="en-US" sz="950" dirty="0"/>
          </a:p>
        </p:txBody>
      </p:sp>
      <p:sp>
        <p:nvSpPr>
          <p:cNvPr id="52" name="Shape 50"/>
          <p:cNvSpPr/>
          <p:nvPr/>
        </p:nvSpPr>
        <p:spPr>
          <a:xfrm>
            <a:off x="6327648" y="5577840"/>
            <a:ext cx="109728" cy="109728"/>
          </a:xfrm>
          <a:prstGeom prst="ellipse">
            <a:avLst/>
          </a:prstGeom>
          <a:solidFill>
            <a:srgbClr val="22D3EE"/>
          </a:solidFill>
          <a:ln/>
        </p:spPr>
      </p:sp>
      <p:sp>
        <p:nvSpPr>
          <p:cNvPr id="53" name="Text 51"/>
          <p:cNvSpPr/>
          <p:nvPr/>
        </p:nvSpPr>
        <p:spPr>
          <a:xfrm>
            <a:off x="6510528" y="5522976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</a:rPr>
              <a:t>ไม่มีการตัด/เพิ่ม stock (read-only)</a:t>
            </a:r>
            <a:endParaRPr lang="en-US" sz="950" dirty="0"/>
          </a:p>
        </p:txBody>
      </p:sp>
      <p:sp>
        <p:nvSpPr>
          <p:cNvPr id="54" name="Shape 52"/>
          <p:cNvSpPr/>
          <p:nvPr/>
        </p:nvSpPr>
        <p:spPr>
          <a:xfrm>
            <a:off x="6327648" y="5888736"/>
            <a:ext cx="109728" cy="109728"/>
          </a:xfrm>
          <a:prstGeom prst="ellipse">
            <a:avLst/>
          </a:prstGeom>
          <a:solidFill>
            <a:srgbClr val="22D3EE"/>
          </a:solidFill>
          <a:ln/>
        </p:spPr>
      </p:sp>
      <p:sp>
        <p:nvSpPr>
          <p:cNvPr id="55" name="Text 53"/>
          <p:cNvSpPr/>
          <p:nvPr/>
        </p:nvSpPr>
        <p:spPr>
          <a:xfrm>
            <a:off x="6510528" y="5833872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</a:rPr>
              <a:t>ใช้ตรวจสอบก่อน dispense</a:t>
            </a:r>
            <a:endParaRPr lang="en-US" sz="950" dirty="0"/>
          </a:p>
        </p:txBody>
      </p:sp>
      <p:sp>
        <p:nvSpPr>
          <p:cNvPr id="56" name="Shape 54"/>
          <p:cNvSpPr/>
          <p:nvPr/>
        </p:nvSpPr>
        <p:spPr>
          <a:xfrm>
            <a:off x="0" y="6446520"/>
            <a:ext cx="12188952" cy="41148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57" name="Shape 55"/>
          <p:cNvSpPr/>
          <p:nvPr/>
        </p:nvSpPr>
        <p:spPr>
          <a:xfrm>
            <a:off x="0" y="6446520"/>
            <a:ext cx="12188952" cy="22860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58" name="Text 56"/>
          <p:cNvSpPr/>
          <p:nvPr/>
        </p:nvSpPr>
        <p:spPr>
          <a:xfrm>
            <a:off x="274320" y="6492240"/>
            <a:ext cx="11430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medstock-his.vercel.app  ·  IS-C Department  ·  Hospital Information System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50976"/>
            <a:ext cx="12188952" cy="22860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54864" cy="960120"/>
          </a:xfrm>
          <a:prstGeom prst="rect">
            <a:avLst/>
          </a:prstGeom>
          <a:solidFill>
            <a:srgbClr val="1D4ED8"/>
          </a:solidFill>
          <a:ln/>
        </p:spPr>
      </p:sp>
      <p:sp>
        <p:nvSpPr>
          <p:cNvPr id="5" name="Text 3"/>
          <p:cNvSpPr/>
          <p:nvPr/>
        </p:nvSpPr>
        <p:spPr>
          <a:xfrm>
            <a:off x="182880" y="73152"/>
            <a:ext cx="7315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93C5FD"/>
                </a:solidFill>
              </a:rPr>
              <a:t>MedStock HIS  ·  Print / History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182880" y="292608"/>
            <a:ext cx="109728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Print Barcode &amp; Transaction History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182880" y="731520"/>
            <a:ext cx="10972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</a:rPr>
              <a:t>พิมพ์ label และดูประวัติการเคลื่อนไหวสต็อก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20040" y="1097280"/>
            <a:ext cx="5486400" cy="5074920"/>
          </a:xfrm>
          <a:prstGeom prst="rect">
            <a:avLst>
              <a:gd name="adj" fmla="val 1441"/>
            </a:avLst>
          </a:prstGeom>
          <a:solidFill>
            <a:srgbClr val="1E293B"/>
          </a:solidFill>
          <a:ln w="19050">
            <a:solidFill>
              <a:srgbClr val="A78BF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20040" y="1097280"/>
            <a:ext cx="64008" cy="5074920"/>
          </a:xfrm>
          <a:prstGeom prst="rect">
            <a:avLst/>
          </a:prstGeom>
          <a:solidFill>
            <a:srgbClr val="A78BFA"/>
          </a:solidFill>
          <a:ln/>
        </p:spPr>
      </p:sp>
      <p:sp>
        <p:nvSpPr>
          <p:cNvPr id="10" name="Text 8"/>
          <p:cNvSpPr/>
          <p:nvPr/>
        </p:nvSpPr>
        <p:spPr>
          <a:xfrm>
            <a:off x="548640" y="1207008"/>
            <a:ext cx="50292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🖨️  Print Barcode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548640" y="1572768"/>
            <a:ext cx="50292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</a:rPr>
              <a:t>พิมพ์ barcode label — 2 วิธี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02920" y="1901952"/>
            <a:ext cx="5120640" cy="1463040"/>
          </a:xfrm>
          <a:prstGeom prst="rect">
            <a:avLst>
              <a:gd name="adj" fmla="val 5000"/>
            </a:avLst>
          </a:prstGeom>
          <a:solidFill>
            <a:srgbClr val="1E293B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85800" y="1993392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78BFA"/>
                </a:solidFill>
              </a:rPr>
              <a:t>📋  Bulk Print (หน้า Print Barcode)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85800" y="2286000"/>
            <a:ext cx="45720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</a:rPr>
              <a:t>เลือกหลายรายการพร้อมกัน ใส่จำนวน label ต่อรายการ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685800" y="2596896"/>
            <a:ext cx="201168" cy="201168"/>
          </a:xfrm>
          <a:prstGeom prst="rect">
            <a:avLst>
              <a:gd name="adj" fmla="val 18182"/>
            </a:avLst>
          </a:prstGeom>
          <a:solidFill>
            <a:srgbClr val="A78BFA">
              <a:alpha val="40000"/>
            </a:srgbClr>
          </a:solidFill>
          <a:ln w="10160">
            <a:solidFill>
              <a:srgbClr val="A78BF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60120" y="2596896"/>
            <a:ext cx="43891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</a:rPr>
              <a:t>Paracetamol 500mg — ×2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685800" y="2852928"/>
            <a:ext cx="201168" cy="201168"/>
          </a:xfrm>
          <a:prstGeom prst="rect">
            <a:avLst>
              <a:gd name="adj" fmla="val 18182"/>
            </a:avLst>
          </a:prstGeom>
          <a:solidFill>
            <a:srgbClr val="A78BFA">
              <a:alpha val="40000"/>
            </a:srgbClr>
          </a:solidFill>
          <a:ln w="10160">
            <a:solidFill>
              <a:srgbClr val="A78BF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60120" y="2852928"/>
            <a:ext cx="43891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</a:rPr>
              <a:t>Amoxicillin 250mg — ×1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685800" y="3108960"/>
            <a:ext cx="201168" cy="201168"/>
          </a:xfrm>
          <a:prstGeom prst="rect">
            <a:avLst>
              <a:gd name="adj" fmla="val 18182"/>
            </a:avLst>
          </a:prstGeom>
          <a:solidFill>
            <a:srgbClr val="A78BFA">
              <a:alpha val="40000"/>
            </a:srgbClr>
          </a:solidFill>
          <a:ln w="10160">
            <a:solidFill>
              <a:srgbClr val="A78BF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60120" y="3108960"/>
            <a:ext cx="43891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</a:rPr>
              <a:t>Vitamin C 1000mg — ×3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502920" y="3547872"/>
            <a:ext cx="5120640" cy="1188720"/>
          </a:xfrm>
          <a:prstGeom prst="rect">
            <a:avLst>
              <a:gd name="adj" fmla="val 6154"/>
            </a:avLst>
          </a:prstGeom>
          <a:solidFill>
            <a:srgbClr val="1E293B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85800" y="3639312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78BFA"/>
                </a:solidFill>
              </a:rPr>
              <a:t>🃏  Single Print (จาก Inventory card)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85800" y="3931920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950" dirty="0">
                <a:solidFill>
                  <a:srgbClr val="94A3B8"/>
                </a:solidFill>
              </a:rPr>
              <a:t>กด "Print" บน drug card → popup window เปิดขึ้น</a:t>
            </a:r>
            <a:endParaRPr lang="en-US" sz="9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950" dirty="0">
                <a:solidFill>
                  <a:srgbClr val="94A3B8"/>
                </a:solidFill>
              </a:rPr>
              <a:t>พิมพ์เฉพาะ label นั้น ไม่พิมพ์ทั้งหน้า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914400" y="4864608"/>
            <a:ext cx="4297680" cy="1051560"/>
          </a:xfrm>
          <a:prstGeom prst="rect">
            <a:avLst>
              <a:gd name="adj" fmla="val 6957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005840" y="4937760"/>
            <a:ext cx="4114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||| ||| || | || ||| |  BARCODE  | ||| | || |||</a:t>
            </a:r>
            <a:endParaRPr lang="en-US" sz="700" dirty="0"/>
          </a:p>
        </p:txBody>
      </p:sp>
      <p:sp>
        <p:nvSpPr>
          <p:cNvPr id="26" name="Text 24"/>
          <p:cNvSpPr/>
          <p:nvPr/>
        </p:nvSpPr>
        <p:spPr>
          <a:xfrm>
            <a:off x="1005840" y="5230368"/>
            <a:ext cx="4114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8850000011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1005840" y="5449824"/>
            <a:ext cx="4114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Paracetamol 500mg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502920" y="6016752"/>
            <a:ext cx="5120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</a:rPr>
              <a:t>JsBarcode library (CDN) ใน popup window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6126480" y="1097280"/>
            <a:ext cx="6035040" cy="5074920"/>
          </a:xfrm>
          <a:prstGeom prst="rect">
            <a:avLst>
              <a:gd name="adj" fmla="val 1441"/>
            </a:avLst>
          </a:prstGeom>
          <a:solidFill>
            <a:srgbClr val="1E293B"/>
          </a:solidFill>
          <a:ln w="19050">
            <a:solidFill>
              <a:srgbClr val="22D3EE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126480" y="1097280"/>
            <a:ext cx="64008" cy="5074920"/>
          </a:xfrm>
          <a:prstGeom prst="rect">
            <a:avLst/>
          </a:prstGeom>
          <a:solidFill>
            <a:srgbClr val="22D3EE"/>
          </a:solidFill>
          <a:ln/>
        </p:spPr>
      </p:sp>
      <p:sp>
        <p:nvSpPr>
          <p:cNvPr id="31" name="Text 29"/>
          <p:cNvSpPr/>
          <p:nvPr/>
        </p:nvSpPr>
        <p:spPr>
          <a:xfrm>
            <a:off x="6355080" y="1207008"/>
            <a:ext cx="54864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📜  Transaction History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6355080" y="1572768"/>
            <a:ext cx="54864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</a:rPr>
              <a:t>ดูประวัติการรับ/จ่ายยาทั้งหมดใน location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6309360" y="1901952"/>
            <a:ext cx="5577840" cy="384048"/>
          </a:xfrm>
          <a:prstGeom prst="rect">
            <a:avLst>
              <a:gd name="adj" fmla="val 19048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46520" y="1975104"/>
            <a:ext cx="22860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</a:rPr>
              <a:t>🔍 ค้นหา barcode/user</a:t>
            </a:r>
            <a:endParaRPr lang="en-US" sz="850" dirty="0"/>
          </a:p>
        </p:txBody>
      </p:sp>
      <p:sp>
        <p:nvSpPr>
          <p:cNvPr id="35" name="Shape 33"/>
          <p:cNvSpPr/>
          <p:nvPr/>
        </p:nvSpPr>
        <p:spPr>
          <a:xfrm>
            <a:off x="8869680" y="1975104"/>
            <a:ext cx="378562" cy="219456"/>
          </a:xfrm>
          <a:prstGeom prst="rect">
            <a:avLst>
              <a:gd name="adj" fmla="val 50000"/>
            </a:avLst>
          </a:prstGeom>
          <a:solidFill>
            <a:srgbClr val="34D399">
              <a:alpha val="18000"/>
            </a:srgbClr>
          </a:solidFill>
          <a:ln w="10160">
            <a:solidFill>
              <a:srgbClr val="34D399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869680" y="1984248"/>
            <a:ext cx="37856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4D399"/>
                </a:solidFill>
              </a:rPr>
              <a:t>IN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9281160" y="1975104"/>
            <a:ext cx="453542" cy="219456"/>
          </a:xfrm>
          <a:prstGeom prst="rect">
            <a:avLst>
              <a:gd name="adj" fmla="val 50000"/>
            </a:avLst>
          </a:prstGeom>
          <a:solidFill>
            <a:srgbClr val="F87171">
              <a:alpha val="18000"/>
            </a:srgbClr>
          </a:solidFill>
          <a:ln w="10160">
            <a:solidFill>
              <a:srgbClr val="F87171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9281160" y="1984248"/>
            <a:ext cx="45354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87171"/>
                </a:solidFill>
              </a:rPr>
              <a:t>OUT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9738360" y="1975104"/>
            <a:ext cx="678485" cy="219456"/>
          </a:xfrm>
          <a:prstGeom prst="rect">
            <a:avLst>
              <a:gd name="adj" fmla="val 50000"/>
            </a:avLst>
          </a:prstGeom>
          <a:solidFill>
            <a:srgbClr val="FCD34D">
              <a:alpha val="18000"/>
            </a:srgbClr>
          </a:solidFill>
          <a:ln w="10160">
            <a:solidFill>
              <a:srgbClr val="FCD34D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9738360" y="1984248"/>
            <a:ext cx="67848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CD34D"/>
                </a:solidFill>
              </a:rPr>
              <a:t>วันที่</a:t>
            </a:r>
            <a:endParaRPr lang="en-US" sz="800" dirty="0"/>
          </a:p>
        </p:txBody>
      </p:sp>
      <p:sp>
        <p:nvSpPr>
          <p:cNvPr id="41" name="Shape 39"/>
          <p:cNvSpPr/>
          <p:nvPr/>
        </p:nvSpPr>
        <p:spPr>
          <a:xfrm>
            <a:off x="11109960" y="1938528"/>
            <a:ext cx="1097280" cy="292608"/>
          </a:xfrm>
          <a:prstGeom prst="rect">
            <a:avLst>
              <a:gd name="adj" fmla="val 15625"/>
            </a:avLst>
          </a:prstGeom>
          <a:solidFill>
            <a:srgbClr val="34D399">
              <a:alpha val="20000"/>
            </a:srgbClr>
          </a:solidFill>
          <a:ln w="10160">
            <a:solidFill>
              <a:srgbClr val="34D399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11109960" y="1993392"/>
            <a:ext cx="10972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34D399"/>
                </a:solidFill>
              </a:rPr>
              <a:t>Export CSV</a:t>
            </a:r>
            <a:endParaRPr lang="en-US" sz="750" dirty="0"/>
          </a:p>
        </p:txBody>
      </p:sp>
      <p:sp>
        <p:nvSpPr>
          <p:cNvPr id="43" name="Shape 41"/>
          <p:cNvSpPr/>
          <p:nvPr/>
        </p:nvSpPr>
        <p:spPr>
          <a:xfrm>
            <a:off x="6309360" y="2377440"/>
            <a:ext cx="5577840" cy="27432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44" name="Text 42"/>
          <p:cNvSpPr/>
          <p:nvPr/>
        </p:nvSpPr>
        <p:spPr>
          <a:xfrm>
            <a:off x="6446520" y="2423160"/>
            <a:ext cx="12801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94A3B8"/>
                </a:solidFill>
              </a:rPr>
              <a:t>เวลา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7818120" y="2423160"/>
            <a:ext cx="12801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94A3B8"/>
                </a:solidFill>
              </a:rPr>
              <a:t>ยา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9372600" y="2423160"/>
            <a:ext cx="12801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94A3B8"/>
                </a:solidFill>
              </a:rPr>
              <a:t>Type</a:t>
            </a:r>
            <a:endParaRPr lang="en-US" sz="800" dirty="0"/>
          </a:p>
        </p:txBody>
      </p:sp>
      <p:sp>
        <p:nvSpPr>
          <p:cNvPr id="47" name="Text 45"/>
          <p:cNvSpPr/>
          <p:nvPr/>
        </p:nvSpPr>
        <p:spPr>
          <a:xfrm>
            <a:off x="10104120" y="2423160"/>
            <a:ext cx="12801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94A3B8"/>
                </a:solidFill>
              </a:rPr>
              <a:t>จำนวน</a:t>
            </a:r>
            <a:endParaRPr lang="en-US" sz="800" dirty="0"/>
          </a:p>
        </p:txBody>
      </p:sp>
      <p:sp>
        <p:nvSpPr>
          <p:cNvPr id="48" name="Text 46"/>
          <p:cNvSpPr/>
          <p:nvPr/>
        </p:nvSpPr>
        <p:spPr>
          <a:xfrm>
            <a:off x="10927080" y="2423160"/>
            <a:ext cx="12801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94A3B8"/>
                </a:solidFill>
              </a:rPr>
              <a:t>โดย</a:t>
            </a:r>
            <a:endParaRPr lang="en-US" sz="800" dirty="0"/>
          </a:p>
        </p:txBody>
      </p:sp>
      <p:sp>
        <p:nvSpPr>
          <p:cNvPr id="49" name="Shape 47"/>
          <p:cNvSpPr/>
          <p:nvPr/>
        </p:nvSpPr>
        <p:spPr>
          <a:xfrm>
            <a:off x="6309360" y="2651760"/>
            <a:ext cx="5577840" cy="347472"/>
          </a:xfrm>
          <a:prstGeom prst="rect">
            <a:avLst/>
          </a:prstGeom>
          <a:solidFill>
            <a:srgbClr val="FFFFFF">
              <a:alpha val="3000"/>
            </a:srgbClr>
          </a:solidFill>
          <a:ln/>
        </p:spPr>
      </p:sp>
      <p:sp>
        <p:nvSpPr>
          <p:cNvPr id="50" name="Text 48"/>
          <p:cNvSpPr/>
          <p:nvPr/>
        </p:nvSpPr>
        <p:spPr>
          <a:xfrm>
            <a:off x="6446520" y="2706624"/>
            <a:ext cx="12801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10:32</a:t>
            </a:r>
            <a:endParaRPr lang="en-US" sz="850" dirty="0"/>
          </a:p>
        </p:txBody>
      </p:sp>
      <p:sp>
        <p:nvSpPr>
          <p:cNvPr id="51" name="Text 49"/>
          <p:cNvSpPr/>
          <p:nvPr/>
        </p:nvSpPr>
        <p:spPr>
          <a:xfrm>
            <a:off x="7818120" y="2706624"/>
            <a:ext cx="14630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FFFFF"/>
                </a:solidFill>
              </a:rPr>
              <a:t>Paracetamol 500mg</a:t>
            </a:r>
            <a:endParaRPr lang="en-US" sz="850" dirty="0"/>
          </a:p>
        </p:txBody>
      </p:sp>
      <p:sp>
        <p:nvSpPr>
          <p:cNvPr id="52" name="Shape 50"/>
          <p:cNvSpPr/>
          <p:nvPr/>
        </p:nvSpPr>
        <p:spPr>
          <a:xfrm>
            <a:off x="9326880" y="2724912"/>
            <a:ext cx="548640" cy="201168"/>
          </a:xfrm>
          <a:prstGeom prst="rect">
            <a:avLst>
              <a:gd name="adj" fmla="val 27273"/>
            </a:avLst>
          </a:prstGeom>
          <a:solidFill>
            <a:srgbClr val="34D399">
              <a:alpha val="20000"/>
            </a:srgbClr>
          </a:solidFill>
          <a:ln w="7620">
            <a:solidFill>
              <a:srgbClr val="34D399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9326880" y="2724912"/>
            <a:ext cx="548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34D399"/>
                </a:solidFill>
              </a:rPr>
              <a:t>IN</a:t>
            </a:r>
            <a:endParaRPr lang="en-US" sz="700" dirty="0"/>
          </a:p>
        </p:txBody>
      </p:sp>
      <p:sp>
        <p:nvSpPr>
          <p:cNvPr id="54" name="Text 52"/>
          <p:cNvSpPr/>
          <p:nvPr/>
        </p:nvSpPr>
        <p:spPr>
          <a:xfrm>
            <a:off x="10012680" y="2706624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4D399"/>
                </a:solidFill>
              </a:rPr>
              <a:t>+50</a:t>
            </a:r>
            <a:endParaRPr lang="en-US" sz="900" dirty="0"/>
          </a:p>
        </p:txBody>
      </p:sp>
      <p:sp>
        <p:nvSpPr>
          <p:cNvPr id="55" name="Text 53"/>
          <p:cNvSpPr/>
          <p:nvPr/>
        </p:nvSpPr>
        <p:spPr>
          <a:xfrm>
            <a:off x="10698480" y="2706624"/>
            <a:ext cx="10058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</a:rPr>
              <a:t>admin</a:t>
            </a:r>
            <a:endParaRPr lang="en-US" sz="850" dirty="0"/>
          </a:p>
        </p:txBody>
      </p:sp>
      <p:sp>
        <p:nvSpPr>
          <p:cNvPr id="56" name="Text 54"/>
          <p:cNvSpPr/>
          <p:nvPr/>
        </p:nvSpPr>
        <p:spPr>
          <a:xfrm>
            <a:off x="6446520" y="3054096"/>
            <a:ext cx="12801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10:15</a:t>
            </a:r>
            <a:endParaRPr lang="en-US" sz="850" dirty="0"/>
          </a:p>
        </p:txBody>
      </p:sp>
      <p:sp>
        <p:nvSpPr>
          <p:cNvPr id="57" name="Text 55"/>
          <p:cNvSpPr/>
          <p:nvPr/>
        </p:nvSpPr>
        <p:spPr>
          <a:xfrm>
            <a:off x="7818120" y="3054096"/>
            <a:ext cx="14630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FFFFF"/>
                </a:solidFill>
              </a:rPr>
              <a:t>Amoxicillin 250mg</a:t>
            </a:r>
            <a:endParaRPr lang="en-US" sz="850" dirty="0"/>
          </a:p>
        </p:txBody>
      </p:sp>
      <p:sp>
        <p:nvSpPr>
          <p:cNvPr id="58" name="Shape 56"/>
          <p:cNvSpPr/>
          <p:nvPr/>
        </p:nvSpPr>
        <p:spPr>
          <a:xfrm>
            <a:off x="9326880" y="3072384"/>
            <a:ext cx="548640" cy="201168"/>
          </a:xfrm>
          <a:prstGeom prst="rect">
            <a:avLst>
              <a:gd name="adj" fmla="val 27273"/>
            </a:avLst>
          </a:prstGeom>
          <a:solidFill>
            <a:srgbClr val="F87171">
              <a:alpha val="20000"/>
            </a:srgbClr>
          </a:solidFill>
          <a:ln w="7620">
            <a:solidFill>
              <a:srgbClr val="F8717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9326880" y="3072384"/>
            <a:ext cx="548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87171"/>
                </a:solidFill>
              </a:rPr>
              <a:t>OUT</a:t>
            </a:r>
            <a:endParaRPr lang="en-US" sz="700" dirty="0"/>
          </a:p>
        </p:txBody>
      </p:sp>
      <p:sp>
        <p:nvSpPr>
          <p:cNvPr id="60" name="Text 58"/>
          <p:cNvSpPr/>
          <p:nvPr/>
        </p:nvSpPr>
        <p:spPr>
          <a:xfrm>
            <a:off x="10012680" y="3054096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87171"/>
                </a:solidFill>
              </a:rPr>
              <a:t>-3</a:t>
            </a:r>
            <a:endParaRPr lang="en-US" sz="900" dirty="0"/>
          </a:p>
        </p:txBody>
      </p:sp>
      <p:sp>
        <p:nvSpPr>
          <p:cNvPr id="61" name="Text 59"/>
          <p:cNvSpPr/>
          <p:nvPr/>
        </p:nvSpPr>
        <p:spPr>
          <a:xfrm>
            <a:off x="10698480" y="3054096"/>
            <a:ext cx="10058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</a:rPr>
              <a:t>staff1</a:t>
            </a:r>
            <a:endParaRPr lang="en-US" sz="850" dirty="0"/>
          </a:p>
        </p:txBody>
      </p:sp>
      <p:sp>
        <p:nvSpPr>
          <p:cNvPr id="62" name="Shape 60"/>
          <p:cNvSpPr/>
          <p:nvPr/>
        </p:nvSpPr>
        <p:spPr>
          <a:xfrm>
            <a:off x="6309360" y="3346704"/>
            <a:ext cx="5577840" cy="347472"/>
          </a:xfrm>
          <a:prstGeom prst="rect">
            <a:avLst/>
          </a:prstGeom>
          <a:solidFill>
            <a:srgbClr val="FFFFFF">
              <a:alpha val="3000"/>
            </a:srgbClr>
          </a:solidFill>
          <a:ln/>
        </p:spPr>
      </p:sp>
      <p:sp>
        <p:nvSpPr>
          <p:cNvPr id="63" name="Text 61"/>
          <p:cNvSpPr/>
          <p:nvPr/>
        </p:nvSpPr>
        <p:spPr>
          <a:xfrm>
            <a:off x="6446520" y="3401568"/>
            <a:ext cx="12801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09:50</a:t>
            </a:r>
            <a:endParaRPr lang="en-US" sz="850" dirty="0"/>
          </a:p>
        </p:txBody>
      </p:sp>
      <p:sp>
        <p:nvSpPr>
          <p:cNvPr id="64" name="Text 62"/>
          <p:cNvSpPr/>
          <p:nvPr/>
        </p:nvSpPr>
        <p:spPr>
          <a:xfrm>
            <a:off x="7818120" y="3401568"/>
            <a:ext cx="14630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FFFFF"/>
                </a:solidFill>
              </a:rPr>
              <a:t>Vitamin C</a:t>
            </a:r>
            <a:endParaRPr lang="en-US" sz="850" dirty="0"/>
          </a:p>
        </p:txBody>
      </p:sp>
      <p:sp>
        <p:nvSpPr>
          <p:cNvPr id="65" name="Shape 63"/>
          <p:cNvSpPr/>
          <p:nvPr/>
        </p:nvSpPr>
        <p:spPr>
          <a:xfrm>
            <a:off x="9326880" y="3419856"/>
            <a:ext cx="548640" cy="201168"/>
          </a:xfrm>
          <a:prstGeom prst="rect">
            <a:avLst>
              <a:gd name="adj" fmla="val 27273"/>
            </a:avLst>
          </a:prstGeom>
          <a:solidFill>
            <a:srgbClr val="34D399">
              <a:alpha val="20000"/>
            </a:srgbClr>
          </a:solidFill>
          <a:ln w="7620">
            <a:solidFill>
              <a:srgbClr val="34D399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9326880" y="3419856"/>
            <a:ext cx="548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34D399"/>
                </a:solidFill>
              </a:rPr>
              <a:t>IN</a:t>
            </a:r>
            <a:endParaRPr lang="en-US" sz="700" dirty="0"/>
          </a:p>
        </p:txBody>
      </p:sp>
      <p:sp>
        <p:nvSpPr>
          <p:cNvPr id="67" name="Text 65"/>
          <p:cNvSpPr/>
          <p:nvPr/>
        </p:nvSpPr>
        <p:spPr>
          <a:xfrm>
            <a:off x="10012680" y="3401568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4D399"/>
                </a:solidFill>
              </a:rPr>
              <a:t>+100</a:t>
            </a:r>
            <a:endParaRPr lang="en-US" sz="900" dirty="0"/>
          </a:p>
        </p:txBody>
      </p:sp>
      <p:sp>
        <p:nvSpPr>
          <p:cNvPr id="68" name="Text 66"/>
          <p:cNvSpPr/>
          <p:nvPr/>
        </p:nvSpPr>
        <p:spPr>
          <a:xfrm>
            <a:off x="10698480" y="3401568"/>
            <a:ext cx="10058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</a:rPr>
              <a:t>admin</a:t>
            </a:r>
            <a:endParaRPr lang="en-US" sz="850" dirty="0"/>
          </a:p>
        </p:txBody>
      </p:sp>
      <p:sp>
        <p:nvSpPr>
          <p:cNvPr id="69" name="Text 67"/>
          <p:cNvSpPr/>
          <p:nvPr/>
        </p:nvSpPr>
        <p:spPr>
          <a:xfrm>
            <a:off x="6446520" y="3749040"/>
            <a:ext cx="12801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09:22</a:t>
            </a:r>
            <a:endParaRPr lang="en-US" sz="850" dirty="0"/>
          </a:p>
        </p:txBody>
      </p:sp>
      <p:sp>
        <p:nvSpPr>
          <p:cNvPr id="70" name="Text 68"/>
          <p:cNvSpPr/>
          <p:nvPr/>
        </p:nvSpPr>
        <p:spPr>
          <a:xfrm>
            <a:off x="7818120" y="3749040"/>
            <a:ext cx="14630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FFFFF"/>
                </a:solidFill>
              </a:rPr>
              <a:t>Antacid Tabs</a:t>
            </a:r>
            <a:endParaRPr lang="en-US" sz="850" dirty="0"/>
          </a:p>
        </p:txBody>
      </p:sp>
      <p:sp>
        <p:nvSpPr>
          <p:cNvPr id="71" name="Shape 69"/>
          <p:cNvSpPr/>
          <p:nvPr/>
        </p:nvSpPr>
        <p:spPr>
          <a:xfrm>
            <a:off x="9326880" y="3767328"/>
            <a:ext cx="548640" cy="201168"/>
          </a:xfrm>
          <a:prstGeom prst="rect">
            <a:avLst>
              <a:gd name="adj" fmla="val 27273"/>
            </a:avLst>
          </a:prstGeom>
          <a:solidFill>
            <a:srgbClr val="F87171">
              <a:alpha val="20000"/>
            </a:srgbClr>
          </a:solidFill>
          <a:ln w="7620">
            <a:solidFill>
              <a:srgbClr val="F87171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9326880" y="3767328"/>
            <a:ext cx="548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87171"/>
                </a:solidFill>
              </a:rPr>
              <a:t>OUT</a:t>
            </a:r>
            <a:endParaRPr lang="en-US" sz="700" dirty="0"/>
          </a:p>
        </p:txBody>
      </p:sp>
      <p:sp>
        <p:nvSpPr>
          <p:cNvPr id="73" name="Text 71"/>
          <p:cNvSpPr/>
          <p:nvPr/>
        </p:nvSpPr>
        <p:spPr>
          <a:xfrm>
            <a:off x="10012680" y="3749040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87171"/>
                </a:solidFill>
              </a:rPr>
              <a:t>-5</a:t>
            </a:r>
            <a:endParaRPr lang="en-US" sz="900" dirty="0"/>
          </a:p>
        </p:txBody>
      </p:sp>
      <p:sp>
        <p:nvSpPr>
          <p:cNvPr id="74" name="Text 72"/>
          <p:cNvSpPr/>
          <p:nvPr/>
        </p:nvSpPr>
        <p:spPr>
          <a:xfrm>
            <a:off x="10698480" y="3749040"/>
            <a:ext cx="10058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</a:rPr>
              <a:t>staff2</a:t>
            </a:r>
            <a:endParaRPr lang="en-US" sz="850" dirty="0"/>
          </a:p>
        </p:txBody>
      </p:sp>
      <p:sp>
        <p:nvSpPr>
          <p:cNvPr id="75" name="Shape 73"/>
          <p:cNvSpPr/>
          <p:nvPr/>
        </p:nvSpPr>
        <p:spPr>
          <a:xfrm>
            <a:off x="6309360" y="4041648"/>
            <a:ext cx="5577840" cy="347472"/>
          </a:xfrm>
          <a:prstGeom prst="rect">
            <a:avLst/>
          </a:prstGeom>
          <a:solidFill>
            <a:srgbClr val="FFFFFF">
              <a:alpha val="3000"/>
            </a:srgbClr>
          </a:solidFill>
          <a:ln/>
        </p:spPr>
      </p:sp>
      <p:sp>
        <p:nvSpPr>
          <p:cNvPr id="76" name="Text 74"/>
          <p:cNvSpPr/>
          <p:nvPr/>
        </p:nvSpPr>
        <p:spPr>
          <a:xfrm>
            <a:off x="6446520" y="4096512"/>
            <a:ext cx="12801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09:05</a:t>
            </a:r>
            <a:endParaRPr lang="en-US" sz="850" dirty="0"/>
          </a:p>
        </p:txBody>
      </p:sp>
      <p:sp>
        <p:nvSpPr>
          <p:cNvPr id="77" name="Text 75"/>
          <p:cNvSpPr/>
          <p:nvPr/>
        </p:nvSpPr>
        <p:spPr>
          <a:xfrm>
            <a:off x="7818120" y="4096512"/>
            <a:ext cx="14630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FFFFF"/>
                </a:solidFill>
              </a:rPr>
              <a:t>Ibuprofen 400mg</a:t>
            </a:r>
            <a:endParaRPr lang="en-US" sz="850" dirty="0"/>
          </a:p>
        </p:txBody>
      </p:sp>
      <p:sp>
        <p:nvSpPr>
          <p:cNvPr id="78" name="Shape 76"/>
          <p:cNvSpPr/>
          <p:nvPr/>
        </p:nvSpPr>
        <p:spPr>
          <a:xfrm>
            <a:off x="9326880" y="4114800"/>
            <a:ext cx="548640" cy="201168"/>
          </a:xfrm>
          <a:prstGeom prst="rect">
            <a:avLst>
              <a:gd name="adj" fmla="val 27273"/>
            </a:avLst>
          </a:prstGeom>
          <a:solidFill>
            <a:srgbClr val="FCD34D">
              <a:alpha val="20000"/>
            </a:srgbClr>
          </a:solidFill>
          <a:ln w="7620">
            <a:solidFill>
              <a:srgbClr val="FCD34D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9326880" y="4114800"/>
            <a:ext cx="548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CD34D"/>
                </a:solidFill>
              </a:rPr>
              <a:t>[adjust]</a:t>
            </a:r>
            <a:endParaRPr lang="en-US" sz="700" dirty="0"/>
          </a:p>
        </p:txBody>
      </p:sp>
      <p:sp>
        <p:nvSpPr>
          <p:cNvPr id="80" name="Text 78"/>
          <p:cNvSpPr/>
          <p:nvPr/>
        </p:nvSpPr>
        <p:spPr>
          <a:xfrm>
            <a:off x="10012680" y="4096512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CD34D"/>
                </a:solidFill>
              </a:rPr>
              <a:t>+2</a:t>
            </a:r>
            <a:endParaRPr lang="en-US" sz="900" dirty="0"/>
          </a:p>
        </p:txBody>
      </p:sp>
      <p:sp>
        <p:nvSpPr>
          <p:cNvPr id="81" name="Text 79"/>
          <p:cNvSpPr/>
          <p:nvPr/>
        </p:nvSpPr>
        <p:spPr>
          <a:xfrm>
            <a:off x="10698480" y="4096512"/>
            <a:ext cx="10058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</a:rPr>
              <a:t>admin</a:t>
            </a:r>
            <a:endParaRPr lang="en-US" sz="850" dirty="0"/>
          </a:p>
        </p:txBody>
      </p:sp>
      <p:sp>
        <p:nvSpPr>
          <p:cNvPr id="82" name="Text 80"/>
          <p:cNvSpPr/>
          <p:nvPr/>
        </p:nvSpPr>
        <p:spPr>
          <a:xfrm>
            <a:off x="6446520" y="4443984"/>
            <a:ext cx="12801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08:44</a:t>
            </a:r>
            <a:endParaRPr lang="en-US" sz="850" dirty="0"/>
          </a:p>
        </p:txBody>
      </p:sp>
      <p:sp>
        <p:nvSpPr>
          <p:cNvPr id="83" name="Text 81"/>
          <p:cNvSpPr/>
          <p:nvPr/>
        </p:nvSpPr>
        <p:spPr>
          <a:xfrm>
            <a:off x="7818120" y="4443984"/>
            <a:ext cx="14630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FFFFF"/>
                </a:solidFill>
              </a:rPr>
              <a:t>Cetirizine 10mg</a:t>
            </a:r>
            <a:endParaRPr lang="en-US" sz="850" dirty="0"/>
          </a:p>
        </p:txBody>
      </p:sp>
      <p:sp>
        <p:nvSpPr>
          <p:cNvPr id="84" name="Shape 82"/>
          <p:cNvSpPr/>
          <p:nvPr/>
        </p:nvSpPr>
        <p:spPr>
          <a:xfrm>
            <a:off x="9326880" y="4462272"/>
            <a:ext cx="548640" cy="201168"/>
          </a:xfrm>
          <a:prstGeom prst="rect">
            <a:avLst>
              <a:gd name="adj" fmla="val 27273"/>
            </a:avLst>
          </a:prstGeom>
          <a:solidFill>
            <a:srgbClr val="F87171">
              <a:alpha val="20000"/>
            </a:srgbClr>
          </a:solidFill>
          <a:ln w="7620">
            <a:solidFill>
              <a:srgbClr val="F87171"/>
            </a:solidFill>
            <a:prstDash val="solid"/>
          </a:ln>
        </p:spPr>
      </p:sp>
      <p:sp>
        <p:nvSpPr>
          <p:cNvPr id="85" name="Text 83"/>
          <p:cNvSpPr/>
          <p:nvPr/>
        </p:nvSpPr>
        <p:spPr>
          <a:xfrm>
            <a:off x="9326880" y="4462272"/>
            <a:ext cx="548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87171"/>
                </a:solidFill>
              </a:rPr>
              <a:t>OUT</a:t>
            </a:r>
            <a:endParaRPr lang="en-US" sz="700" dirty="0"/>
          </a:p>
        </p:txBody>
      </p:sp>
      <p:sp>
        <p:nvSpPr>
          <p:cNvPr id="86" name="Text 84"/>
          <p:cNvSpPr/>
          <p:nvPr/>
        </p:nvSpPr>
        <p:spPr>
          <a:xfrm>
            <a:off x="10012680" y="4443984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87171"/>
                </a:solidFill>
              </a:rPr>
              <a:t>-10</a:t>
            </a:r>
            <a:endParaRPr lang="en-US" sz="900" dirty="0"/>
          </a:p>
        </p:txBody>
      </p:sp>
      <p:sp>
        <p:nvSpPr>
          <p:cNvPr id="87" name="Text 85"/>
          <p:cNvSpPr/>
          <p:nvPr/>
        </p:nvSpPr>
        <p:spPr>
          <a:xfrm>
            <a:off x="10698480" y="4443984"/>
            <a:ext cx="10058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</a:rPr>
              <a:t>staff1</a:t>
            </a:r>
            <a:endParaRPr lang="en-US" sz="850" dirty="0"/>
          </a:p>
        </p:txBody>
      </p:sp>
      <p:sp>
        <p:nvSpPr>
          <p:cNvPr id="88" name="Text 86"/>
          <p:cNvSpPr/>
          <p:nvPr/>
        </p:nvSpPr>
        <p:spPr>
          <a:xfrm>
            <a:off x="6309360" y="5961888"/>
            <a:ext cx="5577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</a:rPr>
              <a:t>50 rows/page · โหลดสูงสุด 2000 records · ค้นหา filter ทำงาน client-side · Export เป็น .csv</a:t>
            </a:r>
            <a:endParaRPr lang="en-US" sz="850" dirty="0"/>
          </a:p>
        </p:txBody>
      </p:sp>
      <p:sp>
        <p:nvSpPr>
          <p:cNvPr id="89" name="Shape 87"/>
          <p:cNvSpPr/>
          <p:nvPr/>
        </p:nvSpPr>
        <p:spPr>
          <a:xfrm>
            <a:off x="0" y="6446520"/>
            <a:ext cx="12188952" cy="41148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90" name="Shape 88"/>
          <p:cNvSpPr/>
          <p:nvPr/>
        </p:nvSpPr>
        <p:spPr>
          <a:xfrm>
            <a:off x="0" y="6446520"/>
            <a:ext cx="12188952" cy="22860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91" name="Text 89"/>
          <p:cNvSpPr/>
          <p:nvPr/>
        </p:nvSpPr>
        <p:spPr>
          <a:xfrm>
            <a:off x="274320" y="6492240"/>
            <a:ext cx="11430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medstock-his.vercel.app  ·  IS-C Department  ·  Hospital Information System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50976"/>
            <a:ext cx="12188952" cy="22860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54864" cy="960120"/>
          </a:xfrm>
          <a:prstGeom prst="rect">
            <a:avLst/>
          </a:prstGeom>
          <a:solidFill>
            <a:srgbClr val="1D4ED8"/>
          </a:solidFill>
          <a:ln/>
        </p:spPr>
      </p:sp>
      <p:sp>
        <p:nvSpPr>
          <p:cNvPr id="5" name="Text 3"/>
          <p:cNvSpPr/>
          <p:nvPr/>
        </p:nvSpPr>
        <p:spPr>
          <a:xfrm>
            <a:off x="182880" y="73152"/>
            <a:ext cx="7315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93C5FD"/>
                </a:solidFill>
              </a:rPr>
              <a:t>MedStock HIS  ·  Admin Only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182880" y="292608"/>
            <a:ext cx="109728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Admin Overview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182880" y="731520"/>
            <a:ext cx="10972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</a:rPr>
              <a:t>ดูภาพรวมสต็อกทุกสาขาในหน้าเดียว — เฉพาะ Admin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20040" y="1097280"/>
            <a:ext cx="11567160" cy="502920"/>
          </a:xfrm>
          <a:prstGeom prst="rect">
            <a:avLst>
              <a:gd name="adj" fmla="val 14545"/>
            </a:avLst>
          </a:prstGeom>
          <a:solidFill>
            <a:srgbClr val="F87171">
              <a:alpha val="20000"/>
            </a:srgbClr>
          </a:solidFill>
          <a:ln w="12700">
            <a:solidFill>
              <a:srgbClr val="F8717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8640" y="12070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87171"/>
                </a:solidFill>
              </a:rPr>
              <a:t>⚠️  Low Stock Alert: มี 14 รายการที่ใกล้หมดหรือหมดแล้วทั่วทุกสาขา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20040" y="1783080"/>
            <a:ext cx="2788920" cy="1691640"/>
          </a:xfrm>
          <a:prstGeom prst="rect">
            <a:avLst>
              <a:gd name="adj" fmla="val 4324"/>
            </a:avLst>
          </a:prstGeom>
          <a:solidFill>
            <a:srgbClr val="1E293B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20040" y="1783080"/>
            <a:ext cx="2788920" cy="54864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1920240"/>
            <a:ext cx="1828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📍 OPC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2423160" y="1929384"/>
            <a:ext cx="548640" cy="237744"/>
          </a:xfrm>
          <a:prstGeom prst="rect">
            <a:avLst>
              <a:gd name="adj" fmla="val 30769"/>
            </a:avLst>
          </a:prstGeom>
          <a:solidFill>
            <a:srgbClr val="F87171">
              <a:alpha val="30000"/>
            </a:srgbClr>
          </a:solidFill>
          <a:ln w="10160">
            <a:solidFill>
              <a:srgbClr val="F8717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423160" y="1938528"/>
            <a:ext cx="5486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87171"/>
                </a:solidFill>
              </a:rPr>
              <a:t>⚠️ 3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457200" y="2286000"/>
            <a:ext cx="24688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</a:rPr>
              <a:t>Items: 48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457200" y="2514600"/>
            <a:ext cx="24688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</a:rPr>
              <a:t>Stock: 1240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457200" y="2743200"/>
            <a:ext cx="24688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</a:rPr>
              <a:t>Last: 10:32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457200" y="3017520"/>
            <a:ext cx="2468880" cy="274320"/>
          </a:xfrm>
          <a:prstGeom prst="rect">
            <a:avLst>
              <a:gd name="adj" fmla="val 16667"/>
            </a:avLst>
          </a:prstGeom>
          <a:solidFill>
            <a:srgbClr val="3B82F6">
              <a:alpha val="20000"/>
            </a:srgbClr>
          </a:solidFill>
          <a:ln w="10160">
            <a:solidFill>
              <a:srgbClr val="3B82F6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3072384"/>
            <a:ext cx="24688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3B82F6"/>
                </a:solidFill>
              </a:rPr>
              <a:t>→ Go to OPC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3291840" y="1783080"/>
            <a:ext cx="2788920" cy="1691640"/>
          </a:xfrm>
          <a:prstGeom prst="rect">
            <a:avLst>
              <a:gd name="adj" fmla="val 4324"/>
            </a:avLst>
          </a:prstGeom>
          <a:solidFill>
            <a:srgbClr val="1E293B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291840" y="1783080"/>
            <a:ext cx="2788920" cy="54864"/>
          </a:xfrm>
          <a:prstGeom prst="rect">
            <a:avLst/>
          </a:prstGeom>
          <a:solidFill>
            <a:srgbClr val="34D399"/>
          </a:solidFill>
          <a:ln/>
        </p:spPr>
      </p:sp>
      <p:sp>
        <p:nvSpPr>
          <p:cNvPr id="22" name="Text 20"/>
          <p:cNvSpPr/>
          <p:nvPr/>
        </p:nvSpPr>
        <p:spPr>
          <a:xfrm>
            <a:off x="3429000" y="1920240"/>
            <a:ext cx="1828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📍 HO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3429000" y="2286000"/>
            <a:ext cx="24688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</a:rPr>
              <a:t>Items: 35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3429000" y="2514600"/>
            <a:ext cx="24688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</a:rPr>
              <a:t>Stock: 890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3429000" y="2743200"/>
            <a:ext cx="24688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</a:rPr>
              <a:t>Last: 09:15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429000" y="3017520"/>
            <a:ext cx="2468880" cy="274320"/>
          </a:xfrm>
          <a:prstGeom prst="rect">
            <a:avLst>
              <a:gd name="adj" fmla="val 16667"/>
            </a:avLst>
          </a:prstGeom>
          <a:solidFill>
            <a:srgbClr val="34D399">
              <a:alpha val="20000"/>
            </a:srgbClr>
          </a:solidFill>
          <a:ln w="10160">
            <a:solidFill>
              <a:srgbClr val="34D399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429000" y="3072384"/>
            <a:ext cx="24688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34D399"/>
                </a:solidFill>
              </a:rPr>
              <a:t>→ Go to HO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6263640" y="3703320"/>
            <a:ext cx="2788920" cy="1691640"/>
          </a:xfrm>
          <a:prstGeom prst="rect">
            <a:avLst>
              <a:gd name="adj" fmla="val 4324"/>
            </a:avLst>
          </a:prstGeom>
          <a:solidFill>
            <a:srgbClr val="1E293B"/>
          </a:solidFill>
          <a:ln w="12700">
            <a:solidFill>
              <a:srgbClr val="FCD34D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263640" y="3703320"/>
            <a:ext cx="2788920" cy="54864"/>
          </a:xfrm>
          <a:prstGeom prst="rect">
            <a:avLst/>
          </a:prstGeom>
          <a:solidFill>
            <a:srgbClr val="FCD34D"/>
          </a:solidFill>
          <a:ln/>
        </p:spPr>
      </p:sp>
      <p:sp>
        <p:nvSpPr>
          <p:cNvPr id="30" name="Text 28"/>
          <p:cNvSpPr/>
          <p:nvPr/>
        </p:nvSpPr>
        <p:spPr>
          <a:xfrm>
            <a:off x="6400800" y="3840480"/>
            <a:ext cx="1828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📍 GSE</a:t>
            </a:r>
            <a:endParaRPr lang="en-US" sz="1500" dirty="0"/>
          </a:p>
        </p:txBody>
      </p:sp>
      <p:sp>
        <p:nvSpPr>
          <p:cNvPr id="31" name="Shape 29"/>
          <p:cNvSpPr/>
          <p:nvPr/>
        </p:nvSpPr>
        <p:spPr>
          <a:xfrm>
            <a:off x="8366760" y="3849624"/>
            <a:ext cx="548640" cy="237744"/>
          </a:xfrm>
          <a:prstGeom prst="rect">
            <a:avLst>
              <a:gd name="adj" fmla="val 30769"/>
            </a:avLst>
          </a:prstGeom>
          <a:solidFill>
            <a:srgbClr val="F87171">
              <a:alpha val="30000"/>
            </a:srgbClr>
          </a:solidFill>
          <a:ln w="10160">
            <a:solidFill>
              <a:srgbClr val="F87171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366760" y="3858768"/>
            <a:ext cx="5486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87171"/>
                </a:solidFill>
              </a:rPr>
              <a:t>⚠️ 5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6400800" y="4206240"/>
            <a:ext cx="24688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</a:rPr>
              <a:t>Items: 52</a:t>
            </a:r>
            <a:endParaRPr lang="en-US" sz="950" dirty="0"/>
          </a:p>
        </p:txBody>
      </p:sp>
      <p:sp>
        <p:nvSpPr>
          <p:cNvPr id="34" name="Text 32"/>
          <p:cNvSpPr/>
          <p:nvPr/>
        </p:nvSpPr>
        <p:spPr>
          <a:xfrm>
            <a:off x="6400800" y="4434840"/>
            <a:ext cx="24688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</a:rPr>
              <a:t>Stock: 2100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6400800" y="4663440"/>
            <a:ext cx="24688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</a:rPr>
              <a:t>Last: 11:05</a:t>
            </a:r>
            <a:endParaRPr lang="en-US" sz="850" dirty="0"/>
          </a:p>
        </p:txBody>
      </p:sp>
      <p:sp>
        <p:nvSpPr>
          <p:cNvPr id="36" name="Shape 34"/>
          <p:cNvSpPr/>
          <p:nvPr/>
        </p:nvSpPr>
        <p:spPr>
          <a:xfrm>
            <a:off x="6400800" y="4937760"/>
            <a:ext cx="2468880" cy="274320"/>
          </a:xfrm>
          <a:prstGeom prst="rect">
            <a:avLst>
              <a:gd name="adj" fmla="val 16667"/>
            </a:avLst>
          </a:prstGeom>
          <a:solidFill>
            <a:srgbClr val="FCD34D">
              <a:alpha val="20000"/>
            </a:srgbClr>
          </a:solidFill>
          <a:ln w="10160">
            <a:solidFill>
              <a:srgbClr val="FCD34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400800" y="4992624"/>
            <a:ext cx="24688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CD34D"/>
                </a:solidFill>
              </a:rPr>
              <a:t>→ Go to GSE</a:t>
            </a:r>
            <a:endParaRPr lang="en-US" sz="850" dirty="0"/>
          </a:p>
        </p:txBody>
      </p:sp>
      <p:sp>
        <p:nvSpPr>
          <p:cNvPr id="38" name="Shape 36"/>
          <p:cNvSpPr/>
          <p:nvPr/>
        </p:nvSpPr>
        <p:spPr>
          <a:xfrm>
            <a:off x="9235440" y="3703320"/>
            <a:ext cx="2788920" cy="1691640"/>
          </a:xfrm>
          <a:prstGeom prst="rect">
            <a:avLst>
              <a:gd name="adj" fmla="val 4324"/>
            </a:avLst>
          </a:prstGeom>
          <a:solidFill>
            <a:srgbClr val="1E293B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9235440" y="3703320"/>
            <a:ext cx="2788920" cy="54864"/>
          </a:xfrm>
          <a:prstGeom prst="rect">
            <a:avLst/>
          </a:prstGeom>
          <a:solidFill>
            <a:srgbClr val="A78BFA"/>
          </a:solidFill>
          <a:ln/>
        </p:spPr>
      </p:sp>
      <p:sp>
        <p:nvSpPr>
          <p:cNvPr id="40" name="Text 38"/>
          <p:cNvSpPr/>
          <p:nvPr/>
        </p:nvSpPr>
        <p:spPr>
          <a:xfrm>
            <a:off x="9372600" y="3840480"/>
            <a:ext cx="1828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📍 DC</a:t>
            </a:r>
            <a:endParaRPr lang="en-US" sz="1500" dirty="0"/>
          </a:p>
        </p:txBody>
      </p:sp>
      <p:sp>
        <p:nvSpPr>
          <p:cNvPr id="41" name="Shape 39"/>
          <p:cNvSpPr/>
          <p:nvPr/>
        </p:nvSpPr>
        <p:spPr>
          <a:xfrm>
            <a:off x="11338560" y="3849624"/>
            <a:ext cx="548640" cy="237744"/>
          </a:xfrm>
          <a:prstGeom prst="rect">
            <a:avLst>
              <a:gd name="adj" fmla="val 30769"/>
            </a:avLst>
          </a:prstGeom>
          <a:solidFill>
            <a:srgbClr val="F87171">
              <a:alpha val="30000"/>
            </a:srgbClr>
          </a:solidFill>
          <a:ln w="10160">
            <a:solidFill>
              <a:srgbClr val="F87171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11338560" y="3858768"/>
            <a:ext cx="5486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87171"/>
                </a:solidFill>
              </a:rPr>
              <a:t>⚠️ 2</a:t>
            </a:r>
            <a:endParaRPr lang="en-US" sz="850" dirty="0"/>
          </a:p>
        </p:txBody>
      </p:sp>
      <p:sp>
        <p:nvSpPr>
          <p:cNvPr id="43" name="Text 41"/>
          <p:cNvSpPr/>
          <p:nvPr/>
        </p:nvSpPr>
        <p:spPr>
          <a:xfrm>
            <a:off x="9372600" y="4206240"/>
            <a:ext cx="24688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</a:rPr>
              <a:t>Items: 41</a:t>
            </a:r>
            <a:endParaRPr lang="en-US" sz="950" dirty="0"/>
          </a:p>
        </p:txBody>
      </p:sp>
      <p:sp>
        <p:nvSpPr>
          <p:cNvPr id="44" name="Text 42"/>
          <p:cNvSpPr/>
          <p:nvPr/>
        </p:nvSpPr>
        <p:spPr>
          <a:xfrm>
            <a:off x="9372600" y="4434840"/>
            <a:ext cx="24688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</a:rPr>
              <a:t>Stock: 750</a:t>
            </a:r>
            <a:endParaRPr lang="en-US" sz="950" dirty="0"/>
          </a:p>
        </p:txBody>
      </p:sp>
      <p:sp>
        <p:nvSpPr>
          <p:cNvPr id="45" name="Text 43"/>
          <p:cNvSpPr/>
          <p:nvPr/>
        </p:nvSpPr>
        <p:spPr>
          <a:xfrm>
            <a:off x="9372600" y="4663440"/>
            <a:ext cx="24688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</a:rPr>
              <a:t>Last: 08:44</a:t>
            </a:r>
            <a:endParaRPr lang="en-US" sz="850" dirty="0"/>
          </a:p>
        </p:txBody>
      </p:sp>
      <p:sp>
        <p:nvSpPr>
          <p:cNvPr id="46" name="Shape 44"/>
          <p:cNvSpPr/>
          <p:nvPr/>
        </p:nvSpPr>
        <p:spPr>
          <a:xfrm>
            <a:off x="9372600" y="4937760"/>
            <a:ext cx="2468880" cy="274320"/>
          </a:xfrm>
          <a:prstGeom prst="rect">
            <a:avLst>
              <a:gd name="adj" fmla="val 16667"/>
            </a:avLst>
          </a:prstGeom>
          <a:solidFill>
            <a:srgbClr val="A78BFA">
              <a:alpha val="20000"/>
            </a:srgbClr>
          </a:solidFill>
          <a:ln w="10160">
            <a:solidFill>
              <a:srgbClr val="A78BFA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9372600" y="4992624"/>
            <a:ext cx="24688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A78BFA"/>
                </a:solidFill>
              </a:rPr>
              <a:t>→ Go to DC</a:t>
            </a:r>
            <a:endParaRPr lang="en-US" sz="850" dirty="0"/>
          </a:p>
        </p:txBody>
      </p:sp>
      <p:sp>
        <p:nvSpPr>
          <p:cNvPr id="48" name="Shape 46"/>
          <p:cNvSpPr/>
          <p:nvPr/>
        </p:nvSpPr>
        <p:spPr>
          <a:xfrm>
            <a:off x="320040" y="5623560"/>
            <a:ext cx="2788920" cy="1691640"/>
          </a:xfrm>
          <a:prstGeom prst="rect">
            <a:avLst>
              <a:gd name="adj" fmla="val 4324"/>
            </a:avLst>
          </a:prstGeom>
          <a:solidFill>
            <a:srgbClr val="1E293B"/>
          </a:solidFill>
          <a:ln w="12700">
            <a:solidFill>
              <a:srgbClr val="22D3EE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320040" y="5623560"/>
            <a:ext cx="2788920" cy="54864"/>
          </a:xfrm>
          <a:prstGeom prst="rect">
            <a:avLst/>
          </a:prstGeom>
          <a:solidFill>
            <a:srgbClr val="22D3EE"/>
          </a:solidFill>
          <a:ln/>
        </p:spPr>
      </p:sp>
      <p:sp>
        <p:nvSpPr>
          <p:cNvPr id="50" name="Text 48"/>
          <p:cNvSpPr/>
          <p:nvPr/>
        </p:nvSpPr>
        <p:spPr>
          <a:xfrm>
            <a:off x="457200" y="5760720"/>
            <a:ext cx="1828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📍 DT</a:t>
            </a:r>
            <a:endParaRPr lang="en-US" sz="1500" dirty="0"/>
          </a:p>
        </p:txBody>
      </p:sp>
      <p:sp>
        <p:nvSpPr>
          <p:cNvPr id="51" name="Shape 49"/>
          <p:cNvSpPr/>
          <p:nvPr/>
        </p:nvSpPr>
        <p:spPr>
          <a:xfrm>
            <a:off x="2423160" y="5769864"/>
            <a:ext cx="548640" cy="237744"/>
          </a:xfrm>
          <a:prstGeom prst="rect">
            <a:avLst>
              <a:gd name="adj" fmla="val 30769"/>
            </a:avLst>
          </a:prstGeom>
          <a:solidFill>
            <a:srgbClr val="F87171">
              <a:alpha val="30000"/>
            </a:srgbClr>
          </a:solidFill>
          <a:ln w="10160">
            <a:solidFill>
              <a:srgbClr val="F87171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2423160" y="5779008"/>
            <a:ext cx="5486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87171"/>
                </a:solidFill>
              </a:rPr>
              <a:t>⚠️ 4</a:t>
            </a:r>
            <a:endParaRPr lang="en-US" sz="850" dirty="0"/>
          </a:p>
        </p:txBody>
      </p:sp>
      <p:sp>
        <p:nvSpPr>
          <p:cNvPr id="53" name="Text 51"/>
          <p:cNvSpPr/>
          <p:nvPr/>
        </p:nvSpPr>
        <p:spPr>
          <a:xfrm>
            <a:off x="457200" y="6126480"/>
            <a:ext cx="24688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</a:rPr>
              <a:t>Items: 28</a:t>
            </a:r>
            <a:endParaRPr lang="en-US" sz="950" dirty="0"/>
          </a:p>
        </p:txBody>
      </p:sp>
      <p:sp>
        <p:nvSpPr>
          <p:cNvPr id="54" name="Text 52"/>
          <p:cNvSpPr/>
          <p:nvPr/>
        </p:nvSpPr>
        <p:spPr>
          <a:xfrm>
            <a:off x="457200" y="6355080"/>
            <a:ext cx="24688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</a:rPr>
              <a:t>Stock: 420</a:t>
            </a:r>
            <a:endParaRPr lang="en-US" sz="950" dirty="0"/>
          </a:p>
        </p:txBody>
      </p:sp>
      <p:sp>
        <p:nvSpPr>
          <p:cNvPr id="55" name="Text 53"/>
          <p:cNvSpPr/>
          <p:nvPr/>
        </p:nvSpPr>
        <p:spPr>
          <a:xfrm>
            <a:off x="457200" y="6583680"/>
            <a:ext cx="24688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</a:rPr>
              <a:t>Last: 10:58</a:t>
            </a:r>
            <a:endParaRPr lang="en-US" sz="850" dirty="0"/>
          </a:p>
        </p:txBody>
      </p:sp>
      <p:sp>
        <p:nvSpPr>
          <p:cNvPr id="56" name="Shape 54"/>
          <p:cNvSpPr/>
          <p:nvPr/>
        </p:nvSpPr>
        <p:spPr>
          <a:xfrm>
            <a:off x="457200" y="6858000"/>
            <a:ext cx="2468880" cy="274320"/>
          </a:xfrm>
          <a:prstGeom prst="rect">
            <a:avLst>
              <a:gd name="adj" fmla="val 16667"/>
            </a:avLst>
          </a:prstGeom>
          <a:solidFill>
            <a:srgbClr val="22D3EE">
              <a:alpha val="20000"/>
            </a:srgbClr>
          </a:solidFill>
          <a:ln w="10160">
            <a:solidFill>
              <a:srgbClr val="22D3EE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57200" y="6912864"/>
            <a:ext cx="24688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D3EE"/>
                </a:solidFill>
              </a:rPr>
              <a:t>→ Go to DT</a:t>
            </a:r>
            <a:endParaRPr lang="en-US" sz="850" dirty="0"/>
          </a:p>
        </p:txBody>
      </p:sp>
      <p:sp>
        <p:nvSpPr>
          <p:cNvPr id="58" name="Shape 56"/>
          <p:cNvSpPr/>
          <p:nvPr/>
        </p:nvSpPr>
        <p:spPr>
          <a:xfrm>
            <a:off x="3291840" y="5623560"/>
            <a:ext cx="2788920" cy="1691640"/>
          </a:xfrm>
          <a:prstGeom prst="rect">
            <a:avLst>
              <a:gd name="adj" fmla="val 4324"/>
            </a:avLst>
          </a:prstGeom>
          <a:solidFill>
            <a:srgbClr val="1E293B"/>
          </a:solidFill>
          <a:ln w="12700">
            <a:solidFill>
              <a:srgbClr val="F87171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3291840" y="5623560"/>
            <a:ext cx="2788920" cy="54864"/>
          </a:xfrm>
          <a:prstGeom prst="rect">
            <a:avLst/>
          </a:prstGeom>
          <a:solidFill>
            <a:srgbClr val="F87171"/>
          </a:solidFill>
          <a:ln/>
        </p:spPr>
      </p:sp>
      <p:sp>
        <p:nvSpPr>
          <p:cNvPr id="60" name="Text 58"/>
          <p:cNvSpPr/>
          <p:nvPr/>
        </p:nvSpPr>
        <p:spPr>
          <a:xfrm>
            <a:off x="3429000" y="5760720"/>
            <a:ext cx="1828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📍 CAT</a:t>
            </a:r>
            <a:endParaRPr lang="en-US" sz="1500" dirty="0"/>
          </a:p>
        </p:txBody>
      </p:sp>
      <p:sp>
        <p:nvSpPr>
          <p:cNvPr id="61" name="Text 59"/>
          <p:cNvSpPr/>
          <p:nvPr/>
        </p:nvSpPr>
        <p:spPr>
          <a:xfrm>
            <a:off x="3429000" y="6126480"/>
            <a:ext cx="24688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</a:rPr>
              <a:t>Items: 33</a:t>
            </a:r>
            <a:endParaRPr lang="en-US" sz="950" dirty="0"/>
          </a:p>
        </p:txBody>
      </p:sp>
      <p:sp>
        <p:nvSpPr>
          <p:cNvPr id="62" name="Text 60"/>
          <p:cNvSpPr/>
          <p:nvPr/>
        </p:nvSpPr>
        <p:spPr>
          <a:xfrm>
            <a:off x="3429000" y="6355080"/>
            <a:ext cx="24688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</a:rPr>
              <a:t>Stock: 680</a:t>
            </a:r>
            <a:endParaRPr lang="en-US" sz="950" dirty="0"/>
          </a:p>
        </p:txBody>
      </p:sp>
      <p:sp>
        <p:nvSpPr>
          <p:cNvPr id="63" name="Text 61"/>
          <p:cNvSpPr/>
          <p:nvPr/>
        </p:nvSpPr>
        <p:spPr>
          <a:xfrm>
            <a:off x="3429000" y="6583680"/>
            <a:ext cx="24688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</a:rPr>
              <a:t>Last: 07:30</a:t>
            </a:r>
            <a:endParaRPr lang="en-US" sz="850" dirty="0"/>
          </a:p>
        </p:txBody>
      </p:sp>
      <p:sp>
        <p:nvSpPr>
          <p:cNvPr id="64" name="Shape 62"/>
          <p:cNvSpPr/>
          <p:nvPr/>
        </p:nvSpPr>
        <p:spPr>
          <a:xfrm>
            <a:off x="3429000" y="6858000"/>
            <a:ext cx="2468880" cy="274320"/>
          </a:xfrm>
          <a:prstGeom prst="rect">
            <a:avLst>
              <a:gd name="adj" fmla="val 16667"/>
            </a:avLst>
          </a:prstGeom>
          <a:solidFill>
            <a:srgbClr val="F87171">
              <a:alpha val="20000"/>
            </a:srgbClr>
          </a:solidFill>
          <a:ln w="10160">
            <a:solidFill>
              <a:srgbClr val="F87171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3429000" y="6912864"/>
            <a:ext cx="24688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87171"/>
                </a:solidFill>
              </a:rPr>
              <a:t>→ Go to CAT</a:t>
            </a:r>
            <a:endParaRPr lang="en-US" sz="850" dirty="0"/>
          </a:p>
        </p:txBody>
      </p:sp>
      <p:sp>
        <p:nvSpPr>
          <p:cNvPr id="66" name="Shape 64"/>
          <p:cNvSpPr/>
          <p:nvPr/>
        </p:nvSpPr>
        <p:spPr>
          <a:xfrm>
            <a:off x="6263640" y="7543800"/>
            <a:ext cx="2788920" cy="1691640"/>
          </a:xfrm>
          <a:prstGeom prst="rect">
            <a:avLst>
              <a:gd name="adj" fmla="val 4324"/>
            </a:avLst>
          </a:prstGeom>
          <a:solidFill>
            <a:srgbClr val="1E293B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6263640" y="7543800"/>
            <a:ext cx="2788920" cy="54864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68" name="Text 66"/>
          <p:cNvSpPr/>
          <p:nvPr/>
        </p:nvSpPr>
        <p:spPr>
          <a:xfrm>
            <a:off x="6400800" y="7680960"/>
            <a:ext cx="1828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📍 ACM</a:t>
            </a:r>
            <a:endParaRPr lang="en-US" sz="1500" dirty="0"/>
          </a:p>
        </p:txBody>
      </p:sp>
      <p:sp>
        <p:nvSpPr>
          <p:cNvPr id="69" name="Shape 67"/>
          <p:cNvSpPr/>
          <p:nvPr/>
        </p:nvSpPr>
        <p:spPr>
          <a:xfrm>
            <a:off x="8366760" y="7690104"/>
            <a:ext cx="548640" cy="237744"/>
          </a:xfrm>
          <a:prstGeom prst="rect">
            <a:avLst>
              <a:gd name="adj" fmla="val 30769"/>
            </a:avLst>
          </a:prstGeom>
          <a:solidFill>
            <a:srgbClr val="F87171">
              <a:alpha val="30000"/>
            </a:srgbClr>
          </a:solidFill>
          <a:ln w="10160">
            <a:solidFill>
              <a:srgbClr val="F87171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8366760" y="7699248"/>
            <a:ext cx="5486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87171"/>
                </a:solidFill>
              </a:rPr>
              <a:t>⚠️ 3</a:t>
            </a:r>
            <a:endParaRPr lang="en-US" sz="850" dirty="0"/>
          </a:p>
        </p:txBody>
      </p:sp>
      <p:sp>
        <p:nvSpPr>
          <p:cNvPr id="71" name="Text 69"/>
          <p:cNvSpPr/>
          <p:nvPr/>
        </p:nvSpPr>
        <p:spPr>
          <a:xfrm>
            <a:off x="6400800" y="8046720"/>
            <a:ext cx="24688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</a:rPr>
              <a:t>Items: 45</a:t>
            </a:r>
            <a:endParaRPr lang="en-US" sz="950" dirty="0"/>
          </a:p>
        </p:txBody>
      </p:sp>
      <p:sp>
        <p:nvSpPr>
          <p:cNvPr id="72" name="Text 70"/>
          <p:cNvSpPr/>
          <p:nvPr/>
        </p:nvSpPr>
        <p:spPr>
          <a:xfrm>
            <a:off x="6400800" y="8275320"/>
            <a:ext cx="24688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</a:rPr>
              <a:t>Stock: 1050</a:t>
            </a:r>
            <a:endParaRPr lang="en-US" sz="950" dirty="0"/>
          </a:p>
        </p:txBody>
      </p:sp>
      <p:sp>
        <p:nvSpPr>
          <p:cNvPr id="73" name="Text 71"/>
          <p:cNvSpPr/>
          <p:nvPr/>
        </p:nvSpPr>
        <p:spPr>
          <a:xfrm>
            <a:off x="6400800" y="8503920"/>
            <a:ext cx="24688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</a:rPr>
              <a:t>Last: 09:45</a:t>
            </a:r>
            <a:endParaRPr lang="en-US" sz="850" dirty="0"/>
          </a:p>
        </p:txBody>
      </p:sp>
      <p:sp>
        <p:nvSpPr>
          <p:cNvPr id="74" name="Shape 72"/>
          <p:cNvSpPr/>
          <p:nvPr/>
        </p:nvSpPr>
        <p:spPr>
          <a:xfrm>
            <a:off x="6400800" y="8778240"/>
            <a:ext cx="2468880" cy="274320"/>
          </a:xfrm>
          <a:prstGeom prst="rect">
            <a:avLst>
              <a:gd name="adj" fmla="val 16667"/>
            </a:avLst>
          </a:prstGeom>
          <a:solidFill>
            <a:srgbClr val="3B82F6">
              <a:alpha val="20000"/>
            </a:srgbClr>
          </a:solidFill>
          <a:ln w="10160">
            <a:solidFill>
              <a:srgbClr val="3B82F6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6400800" y="8833104"/>
            <a:ext cx="24688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3B82F6"/>
                </a:solidFill>
              </a:rPr>
              <a:t>→ Go to ACM</a:t>
            </a:r>
            <a:endParaRPr lang="en-US" sz="850" dirty="0"/>
          </a:p>
        </p:txBody>
      </p:sp>
      <p:sp>
        <p:nvSpPr>
          <p:cNvPr id="76" name="Shape 74"/>
          <p:cNvSpPr/>
          <p:nvPr/>
        </p:nvSpPr>
        <p:spPr>
          <a:xfrm>
            <a:off x="9235440" y="7543800"/>
            <a:ext cx="2788920" cy="1691640"/>
          </a:xfrm>
          <a:prstGeom prst="rect">
            <a:avLst>
              <a:gd name="adj" fmla="val 4324"/>
            </a:avLst>
          </a:prstGeom>
          <a:solidFill>
            <a:srgbClr val="1E293B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9235440" y="7543800"/>
            <a:ext cx="2788920" cy="54864"/>
          </a:xfrm>
          <a:prstGeom prst="rect">
            <a:avLst/>
          </a:prstGeom>
          <a:solidFill>
            <a:srgbClr val="34D399"/>
          </a:solidFill>
          <a:ln/>
        </p:spPr>
      </p:sp>
      <p:sp>
        <p:nvSpPr>
          <p:cNvPr id="78" name="Text 76"/>
          <p:cNvSpPr/>
          <p:nvPr/>
        </p:nvSpPr>
        <p:spPr>
          <a:xfrm>
            <a:off x="9372600" y="7680960"/>
            <a:ext cx="1828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📍 CGO</a:t>
            </a:r>
            <a:endParaRPr lang="en-US" sz="1500" dirty="0"/>
          </a:p>
        </p:txBody>
      </p:sp>
      <p:sp>
        <p:nvSpPr>
          <p:cNvPr id="79" name="Shape 77"/>
          <p:cNvSpPr/>
          <p:nvPr/>
        </p:nvSpPr>
        <p:spPr>
          <a:xfrm>
            <a:off x="11338560" y="7690104"/>
            <a:ext cx="548640" cy="237744"/>
          </a:xfrm>
          <a:prstGeom prst="rect">
            <a:avLst>
              <a:gd name="adj" fmla="val 30769"/>
            </a:avLst>
          </a:prstGeom>
          <a:solidFill>
            <a:srgbClr val="F87171">
              <a:alpha val="30000"/>
            </a:srgbClr>
          </a:solidFill>
          <a:ln w="10160">
            <a:solidFill>
              <a:srgbClr val="F87171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11338560" y="7699248"/>
            <a:ext cx="5486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87171"/>
                </a:solidFill>
              </a:rPr>
              <a:t>⚠️ 2</a:t>
            </a:r>
            <a:endParaRPr lang="en-US" sz="850" dirty="0"/>
          </a:p>
        </p:txBody>
      </p:sp>
      <p:sp>
        <p:nvSpPr>
          <p:cNvPr id="81" name="Text 79"/>
          <p:cNvSpPr/>
          <p:nvPr/>
        </p:nvSpPr>
        <p:spPr>
          <a:xfrm>
            <a:off x="9372600" y="8046720"/>
            <a:ext cx="24688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</a:rPr>
              <a:t>Items: 39</a:t>
            </a:r>
            <a:endParaRPr lang="en-US" sz="950" dirty="0"/>
          </a:p>
        </p:txBody>
      </p:sp>
      <p:sp>
        <p:nvSpPr>
          <p:cNvPr id="82" name="Text 80"/>
          <p:cNvSpPr/>
          <p:nvPr/>
        </p:nvSpPr>
        <p:spPr>
          <a:xfrm>
            <a:off x="9372600" y="8275320"/>
            <a:ext cx="24688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</a:rPr>
              <a:t>Stock: 920</a:t>
            </a:r>
            <a:endParaRPr lang="en-US" sz="950" dirty="0"/>
          </a:p>
        </p:txBody>
      </p:sp>
      <p:sp>
        <p:nvSpPr>
          <p:cNvPr id="83" name="Text 81"/>
          <p:cNvSpPr/>
          <p:nvPr/>
        </p:nvSpPr>
        <p:spPr>
          <a:xfrm>
            <a:off x="9372600" y="8503920"/>
            <a:ext cx="24688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</a:rPr>
              <a:t>Last: 10:22</a:t>
            </a:r>
            <a:endParaRPr lang="en-US" sz="850" dirty="0"/>
          </a:p>
        </p:txBody>
      </p:sp>
      <p:sp>
        <p:nvSpPr>
          <p:cNvPr id="84" name="Shape 82"/>
          <p:cNvSpPr/>
          <p:nvPr/>
        </p:nvSpPr>
        <p:spPr>
          <a:xfrm>
            <a:off x="9372600" y="8778240"/>
            <a:ext cx="2468880" cy="274320"/>
          </a:xfrm>
          <a:prstGeom prst="rect">
            <a:avLst>
              <a:gd name="adj" fmla="val 16667"/>
            </a:avLst>
          </a:prstGeom>
          <a:solidFill>
            <a:srgbClr val="34D399">
              <a:alpha val="20000"/>
            </a:srgbClr>
          </a:solidFill>
          <a:ln w="10160">
            <a:solidFill>
              <a:srgbClr val="34D399"/>
            </a:solidFill>
            <a:prstDash val="solid"/>
          </a:ln>
        </p:spPr>
      </p:sp>
      <p:sp>
        <p:nvSpPr>
          <p:cNvPr id="85" name="Text 83"/>
          <p:cNvSpPr/>
          <p:nvPr/>
        </p:nvSpPr>
        <p:spPr>
          <a:xfrm>
            <a:off x="9372600" y="8833104"/>
            <a:ext cx="24688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34D399"/>
                </a:solidFill>
              </a:rPr>
              <a:t>→ Go to CGO</a:t>
            </a:r>
            <a:endParaRPr lang="en-US" sz="850" dirty="0"/>
          </a:p>
        </p:txBody>
      </p:sp>
      <p:sp>
        <p:nvSpPr>
          <p:cNvPr id="86" name="Text 84"/>
          <p:cNvSpPr/>
          <p:nvPr/>
        </p:nvSpPr>
        <p:spPr>
          <a:xfrm>
            <a:off x="320040" y="6035040"/>
            <a:ext cx="11567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94A3B8"/>
                </a:solidFill>
              </a:rPr>
              <a:t>กด "Go to X" เพื่อ switch location และเข้า dashboard ของสาขานั้นได้ทันที</a:t>
            </a:r>
            <a:endParaRPr lang="en-US" sz="950" dirty="0"/>
          </a:p>
        </p:txBody>
      </p:sp>
      <p:sp>
        <p:nvSpPr>
          <p:cNvPr id="87" name="Shape 85"/>
          <p:cNvSpPr/>
          <p:nvPr/>
        </p:nvSpPr>
        <p:spPr>
          <a:xfrm>
            <a:off x="0" y="6446520"/>
            <a:ext cx="12188952" cy="41148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88" name="Shape 86"/>
          <p:cNvSpPr/>
          <p:nvPr/>
        </p:nvSpPr>
        <p:spPr>
          <a:xfrm>
            <a:off x="0" y="6446520"/>
            <a:ext cx="12188952" cy="22860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89" name="Text 87"/>
          <p:cNvSpPr/>
          <p:nvPr/>
        </p:nvSpPr>
        <p:spPr>
          <a:xfrm>
            <a:off x="274320" y="6492240"/>
            <a:ext cx="11430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medstock-his.vercel.app  ·  IS-C Department  ·  Hospital Information System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50976"/>
            <a:ext cx="12188952" cy="22860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54864" cy="960120"/>
          </a:xfrm>
          <a:prstGeom prst="rect">
            <a:avLst/>
          </a:prstGeom>
          <a:solidFill>
            <a:srgbClr val="1D4ED8"/>
          </a:solidFill>
          <a:ln/>
        </p:spPr>
      </p:sp>
      <p:sp>
        <p:nvSpPr>
          <p:cNvPr id="5" name="Text 3"/>
          <p:cNvSpPr/>
          <p:nvPr/>
        </p:nvSpPr>
        <p:spPr>
          <a:xfrm>
            <a:off x="182880" y="73152"/>
            <a:ext cx="7315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93C5FD"/>
                </a:solidFill>
              </a:rPr>
              <a:t>MedStock HIS  ·  Admin Only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182880" y="292608"/>
            <a:ext cx="109728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User &amp; Location Management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182880" y="731520"/>
            <a:ext cx="10972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</a:rPr>
              <a:t>จัดการผู้ใช้และสาขา — เฉพาะ Admin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20040" y="1097280"/>
            <a:ext cx="5486400" cy="5074920"/>
          </a:xfrm>
          <a:prstGeom prst="rect">
            <a:avLst>
              <a:gd name="adj" fmla="val 1441"/>
            </a:avLst>
          </a:prstGeom>
          <a:solidFill>
            <a:srgbClr val="1E293B"/>
          </a:solidFill>
          <a:ln w="19050">
            <a:solidFill>
              <a:srgbClr val="FCD34D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20040" y="1097280"/>
            <a:ext cx="64008" cy="5074920"/>
          </a:xfrm>
          <a:prstGeom prst="rect">
            <a:avLst/>
          </a:prstGeom>
          <a:solidFill>
            <a:srgbClr val="FCD34D"/>
          </a:solidFill>
          <a:ln/>
        </p:spPr>
      </p:sp>
      <p:sp>
        <p:nvSpPr>
          <p:cNvPr id="10" name="Text 8"/>
          <p:cNvSpPr/>
          <p:nvPr/>
        </p:nvSpPr>
        <p:spPr>
          <a:xfrm>
            <a:off x="548640" y="1207008"/>
            <a:ext cx="50292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👥  User Management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548640" y="1572768"/>
            <a:ext cx="50292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</a:rPr>
              <a:t>เพิ่ม / แก้ไข / ปิดใช้งาน / reset password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02920" y="1901952"/>
            <a:ext cx="5120640" cy="274320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1938528"/>
            <a:ext cx="1371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94A3B8"/>
                </a:solidFill>
              </a:rPr>
              <a:t>Username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2011680" y="1938528"/>
            <a:ext cx="731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94A3B8"/>
                </a:solidFill>
              </a:rPr>
              <a:t>Role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2743200" y="1938528"/>
            <a:ext cx="1371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94A3B8"/>
                </a:solidFill>
              </a:rPr>
              <a:t>Locations</a:t>
            </a:r>
            <a:endParaRPr lang="en-US" sz="850" dirty="0"/>
          </a:p>
        </p:txBody>
      </p:sp>
      <p:sp>
        <p:nvSpPr>
          <p:cNvPr id="16" name="Text 14"/>
          <p:cNvSpPr/>
          <p:nvPr/>
        </p:nvSpPr>
        <p:spPr>
          <a:xfrm>
            <a:off x="4114800" y="1938528"/>
            <a:ext cx="1371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94A3B8"/>
                </a:solidFill>
              </a:rPr>
              <a:t>Actions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502920" y="2176272"/>
            <a:ext cx="5120640" cy="420624"/>
          </a:xfrm>
          <a:prstGeom prst="rect">
            <a:avLst/>
          </a:prstGeom>
          <a:solidFill>
            <a:srgbClr val="FFFFFF">
              <a:alpha val="4000"/>
            </a:srgbClr>
          </a:solidFill>
          <a:ln/>
        </p:spPr>
      </p:sp>
      <p:sp>
        <p:nvSpPr>
          <p:cNvPr id="18" name="Text 16"/>
          <p:cNvSpPr/>
          <p:nvPr/>
        </p:nvSpPr>
        <p:spPr>
          <a:xfrm>
            <a:off x="640080" y="2249424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</a:rPr>
              <a:t>admin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2011680" y="2267712"/>
            <a:ext cx="640080" cy="201168"/>
          </a:xfrm>
          <a:prstGeom prst="rect">
            <a:avLst>
              <a:gd name="adj" fmla="val 27273"/>
            </a:avLst>
          </a:prstGeom>
          <a:solidFill>
            <a:srgbClr val="FCD34D">
              <a:alpha val="20000"/>
            </a:srgbClr>
          </a:solidFill>
          <a:ln w="7620">
            <a:solidFill>
              <a:srgbClr val="FCD34D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011680" y="2267712"/>
            <a:ext cx="640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CD34D"/>
                </a:solidFill>
              </a:rPr>
              <a:t>admin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2743200" y="2249424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</a:rPr>
              <a:t>All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4133088" y="2322576"/>
            <a:ext cx="128016" cy="128016"/>
          </a:xfrm>
          <a:prstGeom prst="ellipse">
            <a:avLst/>
          </a:prstGeom>
          <a:solidFill>
            <a:srgbClr val="34D399"/>
          </a:solidFill>
          <a:ln/>
        </p:spPr>
      </p:sp>
      <p:sp>
        <p:nvSpPr>
          <p:cNvPr id="23" name="Text 21"/>
          <p:cNvSpPr/>
          <p:nvPr/>
        </p:nvSpPr>
        <p:spPr>
          <a:xfrm>
            <a:off x="4370832" y="2258568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✏️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663440" y="2258568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🔑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0080" y="2670048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</a:rPr>
              <a:t>staff_opc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2011680" y="2688336"/>
            <a:ext cx="640080" cy="201168"/>
          </a:xfrm>
          <a:prstGeom prst="rect">
            <a:avLst>
              <a:gd name="adj" fmla="val 27273"/>
            </a:avLst>
          </a:prstGeom>
          <a:solidFill>
            <a:srgbClr val="3B82F6">
              <a:alpha val="20000"/>
            </a:srgbClr>
          </a:solidFill>
          <a:ln w="7620">
            <a:solidFill>
              <a:srgbClr val="3B82F6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011680" y="2688336"/>
            <a:ext cx="640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3B82F6"/>
                </a:solidFill>
              </a:rPr>
              <a:t>user</a:t>
            </a:r>
            <a:endParaRPr lang="en-US" sz="750" dirty="0"/>
          </a:p>
        </p:txBody>
      </p:sp>
      <p:sp>
        <p:nvSpPr>
          <p:cNvPr id="28" name="Text 26"/>
          <p:cNvSpPr/>
          <p:nvPr/>
        </p:nvSpPr>
        <p:spPr>
          <a:xfrm>
            <a:off x="2743200" y="2670048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</a:rPr>
              <a:t>OPC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4133088" y="2743200"/>
            <a:ext cx="128016" cy="128016"/>
          </a:xfrm>
          <a:prstGeom prst="ellipse">
            <a:avLst/>
          </a:prstGeom>
          <a:solidFill>
            <a:srgbClr val="34D399"/>
          </a:solidFill>
          <a:ln/>
        </p:spPr>
      </p:sp>
      <p:sp>
        <p:nvSpPr>
          <p:cNvPr id="30" name="Text 28"/>
          <p:cNvSpPr/>
          <p:nvPr/>
        </p:nvSpPr>
        <p:spPr>
          <a:xfrm>
            <a:off x="4370832" y="2679192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✏️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4663440" y="2679192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🔑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502920" y="3017520"/>
            <a:ext cx="5120640" cy="420624"/>
          </a:xfrm>
          <a:prstGeom prst="rect">
            <a:avLst/>
          </a:prstGeom>
          <a:solidFill>
            <a:srgbClr val="FFFFFF">
              <a:alpha val="4000"/>
            </a:srgbClr>
          </a:solidFill>
          <a:ln/>
        </p:spPr>
      </p:sp>
      <p:sp>
        <p:nvSpPr>
          <p:cNvPr id="33" name="Text 31"/>
          <p:cNvSpPr/>
          <p:nvPr/>
        </p:nvSpPr>
        <p:spPr>
          <a:xfrm>
            <a:off x="640080" y="3090672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</a:rPr>
              <a:t>staff_ho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2011680" y="3108960"/>
            <a:ext cx="640080" cy="201168"/>
          </a:xfrm>
          <a:prstGeom prst="rect">
            <a:avLst>
              <a:gd name="adj" fmla="val 27273"/>
            </a:avLst>
          </a:prstGeom>
          <a:solidFill>
            <a:srgbClr val="3B82F6">
              <a:alpha val="20000"/>
            </a:srgbClr>
          </a:solidFill>
          <a:ln w="7620">
            <a:solidFill>
              <a:srgbClr val="3B82F6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011680" y="3108960"/>
            <a:ext cx="640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3B82F6"/>
                </a:solidFill>
              </a:rPr>
              <a:t>user</a:t>
            </a:r>
            <a:endParaRPr lang="en-US" sz="750" dirty="0"/>
          </a:p>
        </p:txBody>
      </p:sp>
      <p:sp>
        <p:nvSpPr>
          <p:cNvPr id="36" name="Text 34"/>
          <p:cNvSpPr/>
          <p:nvPr/>
        </p:nvSpPr>
        <p:spPr>
          <a:xfrm>
            <a:off x="2743200" y="3090672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</a:rPr>
              <a:t>HO,GSE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133088" y="3163824"/>
            <a:ext cx="128016" cy="128016"/>
          </a:xfrm>
          <a:prstGeom prst="ellipse">
            <a:avLst/>
          </a:prstGeom>
          <a:solidFill>
            <a:srgbClr val="34D399"/>
          </a:solidFill>
          <a:ln/>
        </p:spPr>
      </p:sp>
      <p:sp>
        <p:nvSpPr>
          <p:cNvPr id="38" name="Text 36"/>
          <p:cNvSpPr/>
          <p:nvPr/>
        </p:nvSpPr>
        <p:spPr>
          <a:xfrm>
            <a:off x="4370832" y="3099816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✏️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4663440" y="3099816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🔑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640080" y="3511296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</a:rPr>
              <a:t>old_staff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2011680" y="3529584"/>
            <a:ext cx="640080" cy="201168"/>
          </a:xfrm>
          <a:prstGeom prst="rect">
            <a:avLst>
              <a:gd name="adj" fmla="val 27273"/>
            </a:avLst>
          </a:prstGeom>
          <a:solidFill>
            <a:srgbClr val="3B82F6">
              <a:alpha val="20000"/>
            </a:srgbClr>
          </a:solidFill>
          <a:ln w="7620">
            <a:solidFill>
              <a:srgbClr val="3B82F6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011680" y="3529584"/>
            <a:ext cx="640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3B82F6"/>
                </a:solidFill>
              </a:rPr>
              <a:t>user</a:t>
            </a:r>
            <a:endParaRPr lang="en-US" sz="750" dirty="0"/>
          </a:p>
        </p:txBody>
      </p:sp>
      <p:sp>
        <p:nvSpPr>
          <p:cNvPr id="43" name="Text 41"/>
          <p:cNvSpPr/>
          <p:nvPr/>
        </p:nvSpPr>
        <p:spPr>
          <a:xfrm>
            <a:off x="2743200" y="3511296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</a:rPr>
              <a:t>DC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4133088" y="3584448"/>
            <a:ext cx="128016" cy="128016"/>
          </a:xfrm>
          <a:prstGeom prst="ellipse">
            <a:avLst/>
          </a:prstGeom>
          <a:solidFill>
            <a:srgbClr val="F87171"/>
          </a:solidFill>
          <a:ln/>
        </p:spPr>
      </p:sp>
      <p:sp>
        <p:nvSpPr>
          <p:cNvPr id="45" name="Text 43"/>
          <p:cNvSpPr/>
          <p:nvPr/>
        </p:nvSpPr>
        <p:spPr>
          <a:xfrm>
            <a:off x="4370832" y="3520440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✏️</a:t>
            </a:r>
            <a:endParaRPr lang="en-US" sz="1100" dirty="0"/>
          </a:p>
        </p:txBody>
      </p:sp>
      <p:sp>
        <p:nvSpPr>
          <p:cNvPr id="46" name="Text 44"/>
          <p:cNvSpPr/>
          <p:nvPr/>
        </p:nvSpPr>
        <p:spPr>
          <a:xfrm>
            <a:off x="4663440" y="3520440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🔑</a:t>
            </a:r>
            <a:endParaRPr lang="en-US" sz="1100" dirty="0"/>
          </a:p>
        </p:txBody>
      </p:sp>
      <p:sp>
        <p:nvSpPr>
          <p:cNvPr id="47" name="Text 45"/>
          <p:cNvSpPr/>
          <p:nvPr/>
        </p:nvSpPr>
        <p:spPr>
          <a:xfrm>
            <a:off x="548640" y="3931920"/>
            <a:ext cx="1645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CD34D"/>
                </a:solidFill>
              </a:rPr>
              <a:t>➕ Add User: </a:t>
            </a:r>
            <a:endParaRPr lang="en-US" sz="950" dirty="0"/>
          </a:p>
        </p:txBody>
      </p:sp>
      <p:sp>
        <p:nvSpPr>
          <p:cNvPr id="48" name="Text 46"/>
          <p:cNvSpPr/>
          <p:nvPr/>
        </p:nvSpPr>
        <p:spPr>
          <a:xfrm>
            <a:off x="2176272" y="3931920"/>
            <a:ext cx="3474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</a:rPr>
              <a:t>username, password (auto-hash), role, allowed pages</a:t>
            </a:r>
            <a:endParaRPr lang="en-US" sz="950" dirty="0"/>
          </a:p>
        </p:txBody>
      </p:sp>
      <p:sp>
        <p:nvSpPr>
          <p:cNvPr id="49" name="Text 47"/>
          <p:cNvSpPr/>
          <p:nvPr/>
        </p:nvSpPr>
        <p:spPr>
          <a:xfrm>
            <a:off x="548640" y="4389120"/>
            <a:ext cx="1645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CD34D"/>
                </a:solidFill>
              </a:rPr>
              <a:t>✏️ Edit User: </a:t>
            </a:r>
            <a:endParaRPr lang="en-US" sz="950" dirty="0"/>
          </a:p>
        </p:txBody>
      </p:sp>
      <p:sp>
        <p:nvSpPr>
          <p:cNvPr id="50" name="Text 48"/>
          <p:cNvSpPr/>
          <p:nvPr/>
        </p:nvSpPr>
        <p:spPr>
          <a:xfrm>
            <a:off x="2176272" y="4389120"/>
            <a:ext cx="3474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</a:rPr>
              <a:t>แก้ role, fullname, disable/enable account</a:t>
            </a:r>
            <a:endParaRPr lang="en-US" sz="950" dirty="0"/>
          </a:p>
        </p:txBody>
      </p:sp>
      <p:sp>
        <p:nvSpPr>
          <p:cNvPr id="51" name="Text 49"/>
          <p:cNvSpPr/>
          <p:nvPr/>
        </p:nvSpPr>
        <p:spPr>
          <a:xfrm>
            <a:off x="548640" y="4846320"/>
            <a:ext cx="1645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CD34D"/>
                </a:solidFill>
              </a:rPr>
              <a:t>🔑 Reset Password: </a:t>
            </a:r>
            <a:endParaRPr lang="en-US" sz="950" dirty="0"/>
          </a:p>
        </p:txBody>
      </p:sp>
      <p:sp>
        <p:nvSpPr>
          <p:cNvPr id="52" name="Text 50"/>
          <p:cNvSpPr/>
          <p:nvPr/>
        </p:nvSpPr>
        <p:spPr>
          <a:xfrm>
            <a:off x="2176272" y="4846320"/>
            <a:ext cx="3474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</a:rPr>
              <a:t>Admin reset password ให้ user อื่นได้ (hash ก่อนบันทึก)</a:t>
            </a:r>
            <a:endParaRPr lang="en-US" sz="950" dirty="0"/>
          </a:p>
        </p:txBody>
      </p:sp>
      <p:sp>
        <p:nvSpPr>
          <p:cNvPr id="53" name="Text 51"/>
          <p:cNvSpPr/>
          <p:nvPr/>
        </p:nvSpPr>
        <p:spPr>
          <a:xfrm>
            <a:off x="548640" y="5303520"/>
            <a:ext cx="1645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CD34D"/>
                </a:solidFill>
              </a:rPr>
              <a:t>📍 Assign Location: </a:t>
            </a:r>
            <a:endParaRPr lang="en-US" sz="950" dirty="0"/>
          </a:p>
        </p:txBody>
      </p:sp>
      <p:sp>
        <p:nvSpPr>
          <p:cNvPr id="54" name="Text 52"/>
          <p:cNvSpPr/>
          <p:nvPr/>
        </p:nvSpPr>
        <p:spPr>
          <a:xfrm>
            <a:off x="2176272" y="5303520"/>
            <a:ext cx="3474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</a:rPr>
              <a:t>กำหนดว่า user เข้า location ไหนได้บ้าง (หลายที่ได้)</a:t>
            </a:r>
            <a:endParaRPr lang="en-US" sz="950" dirty="0"/>
          </a:p>
        </p:txBody>
      </p:sp>
      <p:sp>
        <p:nvSpPr>
          <p:cNvPr id="55" name="Shape 53"/>
          <p:cNvSpPr/>
          <p:nvPr/>
        </p:nvSpPr>
        <p:spPr>
          <a:xfrm>
            <a:off x="6126480" y="1097280"/>
            <a:ext cx="6035040" cy="5074920"/>
          </a:xfrm>
          <a:prstGeom prst="rect">
            <a:avLst>
              <a:gd name="adj" fmla="val 1441"/>
            </a:avLst>
          </a:prstGeom>
          <a:solidFill>
            <a:srgbClr val="1E293B"/>
          </a:solidFill>
          <a:ln w="19050">
            <a:solidFill>
              <a:srgbClr val="3B82F6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6126480" y="1097280"/>
            <a:ext cx="64008" cy="507492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57" name="Text 55"/>
          <p:cNvSpPr/>
          <p:nvPr/>
        </p:nvSpPr>
        <p:spPr>
          <a:xfrm>
            <a:off x="6355080" y="1207008"/>
            <a:ext cx="54864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🏥  Location Management</a:t>
            </a:r>
            <a:endParaRPr lang="en-US" sz="1400" dirty="0"/>
          </a:p>
        </p:txBody>
      </p:sp>
      <p:sp>
        <p:nvSpPr>
          <p:cNvPr id="58" name="Text 56"/>
          <p:cNvSpPr/>
          <p:nvPr/>
        </p:nvSpPr>
        <p:spPr>
          <a:xfrm>
            <a:off x="6355080" y="1572768"/>
            <a:ext cx="54864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</a:rPr>
              <a:t>เพิ่ม / แก้ไข / ปิดสาขา / assign user ให้สาขา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>
            <a:off x="6309360" y="1901952"/>
            <a:ext cx="5577840" cy="420624"/>
          </a:xfrm>
          <a:prstGeom prst="rect">
            <a:avLst/>
          </a:prstGeom>
          <a:solidFill>
            <a:srgbClr val="FFFFFF">
              <a:alpha val="4000"/>
            </a:srgbClr>
          </a:solidFill>
          <a:ln/>
        </p:spPr>
      </p:sp>
      <p:sp>
        <p:nvSpPr>
          <p:cNvPr id="60" name="Text 58"/>
          <p:cNvSpPr/>
          <p:nvPr/>
        </p:nvSpPr>
        <p:spPr>
          <a:xfrm>
            <a:off x="6446520" y="1975104"/>
            <a:ext cx="8229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</a:rPr>
              <a:t>📍 OPC</a:t>
            </a:r>
            <a:endParaRPr lang="en-US" sz="950" dirty="0"/>
          </a:p>
        </p:txBody>
      </p:sp>
      <p:sp>
        <p:nvSpPr>
          <p:cNvPr id="61" name="Text 59"/>
          <p:cNvSpPr/>
          <p:nvPr/>
        </p:nvSpPr>
        <p:spPr>
          <a:xfrm>
            <a:off x="7269480" y="1975104"/>
            <a:ext cx="2286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</a:rPr>
              <a:t>Out-Patient Clinic</a:t>
            </a:r>
            <a:endParaRPr lang="en-US" sz="900" dirty="0"/>
          </a:p>
        </p:txBody>
      </p:sp>
      <p:sp>
        <p:nvSpPr>
          <p:cNvPr id="62" name="Text 60"/>
          <p:cNvSpPr/>
          <p:nvPr/>
        </p:nvSpPr>
        <p:spPr>
          <a:xfrm>
            <a:off x="9555480" y="1975104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3 users</a:t>
            </a:r>
            <a:endParaRPr lang="en-US" sz="900" dirty="0"/>
          </a:p>
        </p:txBody>
      </p:sp>
      <p:sp>
        <p:nvSpPr>
          <p:cNvPr id="63" name="Shape 61"/>
          <p:cNvSpPr/>
          <p:nvPr/>
        </p:nvSpPr>
        <p:spPr>
          <a:xfrm>
            <a:off x="10469880" y="2048256"/>
            <a:ext cx="128016" cy="128016"/>
          </a:xfrm>
          <a:prstGeom prst="ellipse">
            <a:avLst/>
          </a:prstGeom>
          <a:solidFill>
            <a:srgbClr val="34D399"/>
          </a:solidFill>
          <a:ln/>
        </p:spPr>
      </p:sp>
      <p:sp>
        <p:nvSpPr>
          <p:cNvPr id="64" name="Text 62"/>
          <p:cNvSpPr/>
          <p:nvPr/>
        </p:nvSpPr>
        <p:spPr>
          <a:xfrm>
            <a:off x="10716768" y="1975104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✏️</a:t>
            </a:r>
            <a:endParaRPr lang="en-US" sz="1100" dirty="0"/>
          </a:p>
        </p:txBody>
      </p:sp>
      <p:sp>
        <p:nvSpPr>
          <p:cNvPr id="65" name="Text 63"/>
          <p:cNvSpPr/>
          <p:nvPr/>
        </p:nvSpPr>
        <p:spPr>
          <a:xfrm>
            <a:off x="11018520" y="1975104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👥</a:t>
            </a:r>
            <a:endParaRPr lang="en-US" sz="1100" dirty="0"/>
          </a:p>
        </p:txBody>
      </p:sp>
      <p:sp>
        <p:nvSpPr>
          <p:cNvPr id="66" name="Text 64"/>
          <p:cNvSpPr/>
          <p:nvPr/>
        </p:nvSpPr>
        <p:spPr>
          <a:xfrm>
            <a:off x="6446520" y="2395728"/>
            <a:ext cx="8229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</a:rPr>
              <a:t>📍 HO</a:t>
            </a:r>
            <a:endParaRPr lang="en-US" sz="950" dirty="0"/>
          </a:p>
        </p:txBody>
      </p:sp>
      <p:sp>
        <p:nvSpPr>
          <p:cNvPr id="67" name="Text 65"/>
          <p:cNvSpPr/>
          <p:nvPr/>
        </p:nvSpPr>
        <p:spPr>
          <a:xfrm>
            <a:off x="7269480" y="2395728"/>
            <a:ext cx="2286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</a:rPr>
              <a:t>Head Office</a:t>
            </a:r>
            <a:endParaRPr lang="en-US" sz="900" dirty="0"/>
          </a:p>
        </p:txBody>
      </p:sp>
      <p:sp>
        <p:nvSpPr>
          <p:cNvPr id="68" name="Text 66"/>
          <p:cNvSpPr/>
          <p:nvPr/>
        </p:nvSpPr>
        <p:spPr>
          <a:xfrm>
            <a:off x="9555480" y="239572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2 users</a:t>
            </a:r>
            <a:endParaRPr lang="en-US" sz="900" dirty="0"/>
          </a:p>
        </p:txBody>
      </p:sp>
      <p:sp>
        <p:nvSpPr>
          <p:cNvPr id="69" name="Shape 67"/>
          <p:cNvSpPr/>
          <p:nvPr/>
        </p:nvSpPr>
        <p:spPr>
          <a:xfrm>
            <a:off x="10469880" y="2468880"/>
            <a:ext cx="128016" cy="128016"/>
          </a:xfrm>
          <a:prstGeom prst="ellipse">
            <a:avLst/>
          </a:prstGeom>
          <a:solidFill>
            <a:srgbClr val="34D399"/>
          </a:solidFill>
          <a:ln/>
        </p:spPr>
      </p:sp>
      <p:sp>
        <p:nvSpPr>
          <p:cNvPr id="70" name="Text 68"/>
          <p:cNvSpPr/>
          <p:nvPr/>
        </p:nvSpPr>
        <p:spPr>
          <a:xfrm>
            <a:off x="10716768" y="2395728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✏️</a:t>
            </a:r>
            <a:endParaRPr lang="en-US" sz="1100" dirty="0"/>
          </a:p>
        </p:txBody>
      </p:sp>
      <p:sp>
        <p:nvSpPr>
          <p:cNvPr id="71" name="Text 69"/>
          <p:cNvSpPr/>
          <p:nvPr/>
        </p:nvSpPr>
        <p:spPr>
          <a:xfrm>
            <a:off x="11018520" y="2395728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👥</a:t>
            </a:r>
            <a:endParaRPr lang="en-US" sz="1100" dirty="0"/>
          </a:p>
        </p:txBody>
      </p:sp>
      <p:sp>
        <p:nvSpPr>
          <p:cNvPr id="72" name="Shape 70"/>
          <p:cNvSpPr/>
          <p:nvPr/>
        </p:nvSpPr>
        <p:spPr>
          <a:xfrm>
            <a:off x="6309360" y="2743200"/>
            <a:ext cx="5577840" cy="420624"/>
          </a:xfrm>
          <a:prstGeom prst="rect">
            <a:avLst/>
          </a:prstGeom>
          <a:solidFill>
            <a:srgbClr val="FFFFFF">
              <a:alpha val="4000"/>
            </a:srgbClr>
          </a:solidFill>
          <a:ln/>
        </p:spPr>
      </p:sp>
      <p:sp>
        <p:nvSpPr>
          <p:cNvPr id="73" name="Text 71"/>
          <p:cNvSpPr/>
          <p:nvPr/>
        </p:nvSpPr>
        <p:spPr>
          <a:xfrm>
            <a:off x="6446520" y="2816352"/>
            <a:ext cx="8229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</a:rPr>
              <a:t>📍 GSE</a:t>
            </a:r>
            <a:endParaRPr lang="en-US" sz="950" dirty="0"/>
          </a:p>
        </p:txBody>
      </p:sp>
      <p:sp>
        <p:nvSpPr>
          <p:cNvPr id="74" name="Text 72"/>
          <p:cNvSpPr/>
          <p:nvPr/>
        </p:nvSpPr>
        <p:spPr>
          <a:xfrm>
            <a:off x="7269480" y="2816352"/>
            <a:ext cx="2286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</a:rPr>
              <a:t>GSE Branch</a:t>
            </a:r>
            <a:endParaRPr lang="en-US" sz="900" dirty="0"/>
          </a:p>
        </p:txBody>
      </p:sp>
      <p:sp>
        <p:nvSpPr>
          <p:cNvPr id="75" name="Text 73"/>
          <p:cNvSpPr/>
          <p:nvPr/>
        </p:nvSpPr>
        <p:spPr>
          <a:xfrm>
            <a:off x="9555480" y="2816352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1 users</a:t>
            </a:r>
            <a:endParaRPr lang="en-US" sz="900" dirty="0"/>
          </a:p>
        </p:txBody>
      </p:sp>
      <p:sp>
        <p:nvSpPr>
          <p:cNvPr id="76" name="Shape 74"/>
          <p:cNvSpPr/>
          <p:nvPr/>
        </p:nvSpPr>
        <p:spPr>
          <a:xfrm>
            <a:off x="10469880" y="2889504"/>
            <a:ext cx="128016" cy="128016"/>
          </a:xfrm>
          <a:prstGeom prst="ellipse">
            <a:avLst/>
          </a:prstGeom>
          <a:solidFill>
            <a:srgbClr val="34D399"/>
          </a:solidFill>
          <a:ln/>
        </p:spPr>
      </p:sp>
      <p:sp>
        <p:nvSpPr>
          <p:cNvPr id="77" name="Text 75"/>
          <p:cNvSpPr/>
          <p:nvPr/>
        </p:nvSpPr>
        <p:spPr>
          <a:xfrm>
            <a:off x="10716768" y="2816352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✏️</a:t>
            </a:r>
            <a:endParaRPr lang="en-US" sz="1100" dirty="0"/>
          </a:p>
        </p:txBody>
      </p:sp>
      <p:sp>
        <p:nvSpPr>
          <p:cNvPr id="78" name="Text 76"/>
          <p:cNvSpPr/>
          <p:nvPr/>
        </p:nvSpPr>
        <p:spPr>
          <a:xfrm>
            <a:off x="11018520" y="2816352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👥</a:t>
            </a:r>
            <a:endParaRPr lang="en-US" sz="1100" dirty="0"/>
          </a:p>
        </p:txBody>
      </p:sp>
      <p:sp>
        <p:nvSpPr>
          <p:cNvPr id="79" name="Text 77"/>
          <p:cNvSpPr/>
          <p:nvPr/>
        </p:nvSpPr>
        <p:spPr>
          <a:xfrm>
            <a:off x="6446520" y="3236976"/>
            <a:ext cx="8229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</a:rPr>
              <a:t>📍 DC</a:t>
            </a:r>
            <a:endParaRPr lang="en-US" sz="950" dirty="0"/>
          </a:p>
        </p:txBody>
      </p:sp>
      <p:sp>
        <p:nvSpPr>
          <p:cNvPr id="80" name="Text 78"/>
          <p:cNvSpPr/>
          <p:nvPr/>
        </p:nvSpPr>
        <p:spPr>
          <a:xfrm>
            <a:off x="7269480" y="3236976"/>
            <a:ext cx="2286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</a:rPr>
              <a:t>Distribution Center</a:t>
            </a:r>
            <a:endParaRPr lang="en-US" sz="900" dirty="0"/>
          </a:p>
        </p:txBody>
      </p:sp>
      <p:sp>
        <p:nvSpPr>
          <p:cNvPr id="81" name="Text 79"/>
          <p:cNvSpPr/>
          <p:nvPr/>
        </p:nvSpPr>
        <p:spPr>
          <a:xfrm>
            <a:off x="9555480" y="323697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2 users</a:t>
            </a:r>
            <a:endParaRPr lang="en-US" sz="900" dirty="0"/>
          </a:p>
        </p:txBody>
      </p:sp>
      <p:sp>
        <p:nvSpPr>
          <p:cNvPr id="82" name="Shape 80"/>
          <p:cNvSpPr/>
          <p:nvPr/>
        </p:nvSpPr>
        <p:spPr>
          <a:xfrm>
            <a:off x="10469880" y="3310128"/>
            <a:ext cx="128016" cy="128016"/>
          </a:xfrm>
          <a:prstGeom prst="ellipse">
            <a:avLst/>
          </a:prstGeom>
          <a:solidFill>
            <a:srgbClr val="34D399"/>
          </a:solidFill>
          <a:ln/>
        </p:spPr>
      </p:sp>
      <p:sp>
        <p:nvSpPr>
          <p:cNvPr id="83" name="Text 81"/>
          <p:cNvSpPr/>
          <p:nvPr/>
        </p:nvSpPr>
        <p:spPr>
          <a:xfrm>
            <a:off x="10716768" y="3236976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✏️</a:t>
            </a:r>
            <a:endParaRPr lang="en-US" sz="1100" dirty="0"/>
          </a:p>
        </p:txBody>
      </p:sp>
      <p:sp>
        <p:nvSpPr>
          <p:cNvPr id="84" name="Text 82"/>
          <p:cNvSpPr/>
          <p:nvPr/>
        </p:nvSpPr>
        <p:spPr>
          <a:xfrm>
            <a:off x="11018520" y="3236976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👥</a:t>
            </a:r>
            <a:endParaRPr lang="en-US" sz="1100" dirty="0"/>
          </a:p>
        </p:txBody>
      </p:sp>
      <p:sp>
        <p:nvSpPr>
          <p:cNvPr id="85" name="Shape 83"/>
          <p:cNvSpPr/>
          <p:nvPr/>
        </p:nvSpPr>
        <p:spPr>
          <a:xfrm>
            <a:off x="6309360" y="3584448"/>
            <a:ext cx="5577840" cy="420624"/>
          </a:xfrm>
          <a:prstGeom prst="rect">
            <a:avLst/>
          </a:prstGeom>
          <a:solidFill>
            <a:srgbClr val="FFFFFF">
              <a:alpha val="4000"/>
            </a:srgbClr>
          </a:solidFill>
          <a:ln/>
        </p:spPr>
      </p:sp>
      <p:sp>
        <p:nvSpPr>
          <p:cNvPr id="86" name="Text 84"/>
          <p:cNvSpPr/>
          <p:nvPr/>
        </p:nvSpPr>
        <p:spPr>
          <a:xfrm>
            <a:off x="6446520" y="3657600"/>
            <a:ext cx="8229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</a:rPr>
              <a:t>📍 DT</a:t>
            </a:r>
            <a:endParaRPr lang="en-US" sz="950" dirty="0"/>
          </a:p>
        </p:txBody>
      </p:sp>
      <p:sp>
        <p:nvSpPr>
          <p:cNvPr id="87" name="Text 85"/>
          <p:cNvSpPr/>
          <p:nvPr/>
        </p:nvSpPr>
        <p:spPr>
          <a:xfrm>
            <a:off x="7269480" y="3657600"/>
            <a:ext cx="2286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</a:rPr>
              <a:t>DT Branch</a:t>
            </a:r>
            <a:endParaRPr lang="en-US" sz="900" dirty="0"/>
          </a:p>
        </p:txBody>
      </p:sp>
      <p:sp>
        <p:nvSpPr>
          <p:cNvPr id="88" name="Text 86"/>
          <p:cNvSpPr/>
          <p:nvPr/>
        </p:nvSpPr>
        <p:spPr>
          <a:xfrm>
            <a:off x="9555480" y="365760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1 users</a:t>
            </a:r>
            <a:endParaRPr lang="en-US" sz="900" dirty="0"/>
          </a:p>
        </p:txBody>
      </p:sp>
      <p:sp>
        <p:nvSpPr>
          <p:cNvPr id="89" name="Shape 87"/>
          <p:cNvSpPr/>
          <p:nvPr/>
        </p:nvSpPr>
        <p:spPr>
          <a:xfrm>
            <a:off x="10469880" y="3730752"/>
            <a:ext cx="128016" cy="128016"/>
          </a:xfrm>
          <a:prstGeom prst="ellipse">
            <a:avLst/>
          </a:prstGeom>
          <a:solidFill>
            <a:srgbClr val="F87171"/>
          </a:solidFill>
          <a:ln/>
        </p:spPr>
      </p:sp>
      <p:sp>
        <p:nvSpPr>
          <p:cNvPr id="90" name="Text 88"/>
          <p:cNvSpPr/>
          <p:nvPr/>
        </p:nvSpPr>
        <p:spPr>
          <a:xfrm>
            <a:off x="10716768" y="3657600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✏️</a:t>
            </a:r>
            <a:endParaRPr lang="en-US" sz="1100" dirty="0"/>
          </a:p>
        </p:txBody>
      </p:sp>
      <p:sp>
        <p:nvSpPr>
          <p:cNvPr id="91" name="Text 89"/>
          <p:cNvSpPr/>
          <p:nvPr/>
        </p:nvSpPr>
        <p:spPr>
          <a:xfrm>
            <a:off x="11018520" y="3657600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👥</a:t>
            </a:r>
            <a:endParaRPr lang="en-US" sz="1100" dirty="0"/>
          </a:p>
        </p:txBody>
      </p:sp>
      <p:sp>
        <p:nvSpPr>
          <p:cNvPr id="92" name="Text 90"/>
          <p:cNvSpPr/>
          <p:nvPr/>
        </p:nvSpPr>
        <p:spPr>
          <a:xfrm>
            <a:off x="6446520" y="4078224"/>
            <a:ext cx="8229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</a:rPr>
              <a:t>📍 CAT</a:t>
            </a:r>
            <a:endParaRPr lang="en-US" sz="950" dirty="0"/>
          </a:p>
        </p:txBody>
      </p:sp>
      <p:sp>
        <p:nvSpPr>
          <p:cNvPr id="93" name="Text 91"/>
          <p:cNvSpPr/>
          <p:nvPr/>
        </p:nvSpPr>
        <p:spPr>
          <a:xfrm>
            <a:off x="7269480" y="4078224"/>
            <a:ext cx="2286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</a:rPr>
              <a:t>CAT Branch</a:t>
            </a:r>
            <a:endParaRPr lang="en-US" sz="900" dirty="0"/>
          </a:p>
        </p:txBody>
      </p:sp>
      <p:sp>
        <p:nvSpPr>
          <p:cNvPr id="94" name="Text 92"/>
          <p:cNvSpPr/>
          <p:nvPr/>
        </p:nvSpPr>
        <p:spPr>
          <a:xfrm>
            <a:off x="9555480" y="4078224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2 users</a:t>
            </a:r>
            <a:endParaRPr lang="en-US" sz="900" dirty="0"/>
          </a:p>
        </p:txBody>
      </p:sp>
      <p:sp>
        <p:nvSpPr>
          <p:cNvPr id="95" name="Shape 93"/>
          <p:cNvSpPr/>
          <p:nvPr/>
        </p:nvSpPr>
        <p:spPr>
          <a:xfrm>
            <a:off x="10469880" y="4151376"/>
            <a:ext cx="128016" cy="128016"/>
          </a:xfrm>
          <a:prstGeom prst="ellipse">
            <a:avLst/>
          </a:prstGeom>
          <a:solidFill>
            <a:srgbClr val="34D399"/>
          </a:solidFill>
          <a:ln/>
        </p:spPr>
      </p:sp>
      <p:sp>
        <p:nvSpPr>
          <p:cNvPr id="96" name="Text 94"/>
          <p:cNvSpPr/>
          <p:nvPr/>
        </p:nvSpPr>
        <p:spPr>
          <a:xfrm>
            <a:off x="10716768" y="4078224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✏️</a:t>
            </a:r>
            <a:endParaRPr lang="en-US" sz="1100" dirty="0"/>
          </a:p>
        </p:txBody>
      </p:sp>
      <p:sp>
        <p:nvSpPr>
          <p:cNvPr id="97" name="Text 95"/>
          <p:cNvSpPr/>
          <p:nvPr/>
        </p:nvSpPr>
        <p:spPr>
          <a:xfrm>
            <a:off x="11018520" y="4078224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👥</a:t>
            </a:r>
            <a:endParaRPr lang="en-US" sz="1100" dirty="0"/>
          </a:p>
        </p:txBody>
      </p:sp>
      <p:sp>
        <p:nvSpPr>
          <p:cNvPr id="98" name="Shape 96"/>
          <p:cNvSpPr/>
          <p:nvPr/>
        </p:nvSpPr>
        <p:spPr>
          <a:xfrm>
            <a:off x="6309360" y="4425696"/>
            <a:ext cx="5577840" cy="420624"/>
          </a:xfrm>
          <a:prstGeom prst="rect">
            <a:avLst/>
          </a:prstGeom>
          <a:solidFill>
            <a:srgbClr val="FFFFFF">
              <a:alpha val="4000"/>
            </a:srgbClr>
          </a:solidFill>
          <a:ln/>
        </p:spPr>
      </p:sp>
      <p:sp>
        <p:nvSpPr>
          <p:cNvPr id="99" name="Text 97"/>
          <p:cNvSpPr/>
          <p:nvPr/>
        </p:nvSpPr>
        <p:spPr>
          <a:xfrm>
            <a:off x="6446520" y="4498848"/>
            <a:ext cx="8229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</a:rPr>
              <a:t>📍 ACM</a:t>
            </a:r>
            <a:endParaRPr lang="en-US" sz="950" dirty="0"/>
          </a:p>
        </p:txBody>
      </p:sp>
      <p:sp>
        <p:nvSpPr>
          <p:cNvPr id="100" name="Text 98"/>
          <p:cNvSpPr/>
          <p:nvPr/>
        </p:nvSpPr>
        <p:spPr>
          <a:xfrm>
            <a:off x="7269480" y="4498848"/>
            <a:ext cx="2286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</a:rPr>
              <a:t>ACM Branch</a:t>
            </a:r>
            <a:endParaRPr lang="en-US" sz="900" dirty="0"/>
          </a:p>
        </p:txBody>
      </p:sp>
      <p:sp>
        <p:nvSpPr>
          <p:cNvPr id="101" name="Text 99"/>
          <p:cNvSpPr/>
          <p:nvPr/>
        </p:nvSpPr>
        <p:spPr>
          <a:xfrm>
            <a:off x="9555480" y="449884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1 users</a:t>
            </a:r>
            <a:endParaRPr lang="en-US" sz="900" dirty="0"/>
          </a:p>
        </p:txBody>
      </p:sp>
      <p:sp>
        <p:nvSpPr>
          <p:cNvPr id="102" name="Shape 100"/>
          <p:cNvSpPr/>
          <p:nvPr/>
        </p:nvSpPr>
        <p:spPr>
          <a:xfrm>
            <a:off x="10469880" y="4572000"/>
            <a:ext cx="128016" cy="128016"/>
          </a:xfrm>
          <a:prstGeom prst="ellipse">
            <a:avLst/>
          </a:prstGeom>
          <a:solidFill>
            <a:srgbClr val="34D399"/>
          </a:solidFill>
          <a:ln/>
        </p:spPr>
      </p:sp>
      <p:sp>
        <p:nvSpPr>
          <p:cNvPr id="103" name="Text 101"/>
          <p:cNvSpPr/>
          <p:nvPr/>
        </p:nvSpPr>
        <p:spPr>
          <a:xfrm>
            <a:off x="10716768" y="4498848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✏️</a:t>
            </a:r>
            <a:endParaRPr lang="en-US" sz="1100" dirty="0"/>
          </a:p>
        </p:txBody>
      </p:sp>
      <p:sp>
        <p:nvSpPr>
          <p:cNvPr id="104" name="Text 102"/>
          <p:cNvSpPr/>
          <p:nvPr/>
        </p:nvSpPr>
        <p:spPr>
          <a:xfrm>
            <a:off x="11018520" y="4498848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👥</a:t>
            </a:r>
            <a:endParaRPr lang="en-US" sz="1100" dirty="0"/>
          </a:p>
        </p:txBody>
      </p:sp>
      <p:sp>
        <p:nvSpPr>
          <p:cNvPr id="105" name="Text 103"/>
          <p:cNvSpPr/>
          <p:nvPr/>
        </p:nvSpPr>
        <p:spPr>
          <a:xfrm>
            <a:off x="6446520" y="4919472"/>
            <a:ext cx="8229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</a:rPr>
              <a:t>📍 CGO</a:t>
            </a:r>
            <a:endParaRPr lang="en-US" sz="950" dirty="0"/>
          </a:p>
        </p:txBody>
      </p:sp>
      <p:sp>
        <p:nvSpPr>
          <p:cNvPr id="106" name="Text 104"/>
          <p:cNvSpPr/>
          <p:nvPr/>
        </p:nvSpPr>
        <p:spPr>
          <a:xfrm>
            <a:off x="7269480" y="4919472"/>
            <a:ext cx="2286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</a:rPr>
              <a:t>CGO Branch</a:t>
            </a:r>
            <a:endParaRPr lang="en-US" sz="900" dirty="0"/>
          </a:p>
        </p:txBody>
      </p:sp>
      <p:sp>
        <p:nvSpPr>
          <p:cNvPr id="107" name="Text 105"/>
          <p:cNvSpPr/>
          <p:nvPr/>
        </p:nvSpPr>
        <p:spPr>
          <a:xfrm>
            <a:off x="9555480" y="4919472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2 users</a:t>
            </a:r>
            <a:endParaRPr lang="en-US" sz="900" dirty="0"/>
          </a:p>
        </p:txBody>
      </p:sp>
      <p:sp>
        <p:nvSpPr>
          <p:cNvPr id="108" name="Shape 106"/>
          <p:cNvSpPr/>
          <p:nvPr/>
        </p:nvSpPr>
        <p:spPr>
          <a:xfrm>
            <a:off x="10469880" y="4992624"/>
            <a:ext cx="128016" cy="128016"/>
          </a:xfrm>
          <a:prstGeom prst="ellipse">
            <a:avLst/>
          </a:prstGeom>
          <a:solidFill>
            <a:srgbClr val="34D399"/>
          </a:solidFill>
          <a:ln/>
        </p:spPr>
      </p:sp>
      <p:sp>
        <p:nvSpPr>
          <p:cNvPr id="109" name="Text 107"/>
          <p:cNvSpPr/>
          <p:nvPr/>
        </p:nvSpPr>
        <p:spPr>
          <a:xfrm>
            <a:off x="10716768" y="4919472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✏️</a:t>
            </a:r>
            <a:endParaRPr lang="en-US" sz="1100" dirty="0"/>
          </a:p>
        </p:txBody>
      </p:sp>
      <p:sp>
        <p:nvSpPr>
          <p:cNvPr id="110" name="Text 108"/>
          <p:cNvSpPr/>
          <p:nvPr/>
        </p:nvSpPr>
        <p:spPr>
          <a:xfrm>
            <a:off x="11018520" y="4919472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👥</a:t>
            </a:r>
            <a:endParaRPr lang="en-US" sz="1100" dirty="0"/>
          </a:p>
        </p:txBody>
      </p:sp>
      <p:sp>
        <p:nvSpPr>
          <p:cNvPr id="111" name="Text 109"/>
          <p:cNvSpPr/>
          <p:nvPr/>
        </p:nvSpPr>
        <p:spPr>
          <a:xfrm>
            <a:off x="6355080" y="5285232"/>
            <a:ext cx="17373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3C5FD"/>
                </a:solidFill>
              </a:rPr>
              <a:t>➕ Add Location: </a:t>
            </a:r>
            <a:endParaRPr lang="en-US" sz="950" dirty="0"/>
          </a:p>
        </p:txBody>
      </p:sp>
      <p:sp>
        <p:nvSpPr>
          <p:cNvPr id="112" name="Text 110"/>
          <p:cNvSpPr/>
          <p:nvPr/>
        </p:nvSpPr>
        <p:spPr>
          <a:xfrm>
            <a:off x="8074152" y="5285232"/>
            <a:ext cx="39319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</a:rPr>
              <a:t>code, name — เพิ่มสาขาใหม่</a:t>
            </a:r>
            <a:endParaRPr lang="en-US" sz="950" dirty="0"/>
          </a:p>
        </p:txBody>
      </p:sp>
      <p:sp>
        <p:nvSpPr>
          <p:cNvPr id="113" name="Text 111"/>
          <p:cNvSpPr/>
          <p:nvPr/>
        </p:nvSpPr>
        <p:spPr>
          <a:xfrm>
            <a:off x="6355080" y="5623560"/>
            <a:ext cx="17373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3C5FD"/>
                </a:solidFill>
              </a:rPr>
              <a:t>✏️ Edit Location: </a:t>
            </a:r>
            <a:endParaRPr lang="en-US" sz="950" dirty="0"/>
          </a:p>
        </p:txBody>
      </p:sp>
      <p:sp>
        <p:nvSpPr>
          <p:cNvPr id="114" name="Text 112"/>
          <p:cNvSpPr/>
          <p:nvPr/>
        </p:nvSpPr>
        <p:spPr>
          <a:xfrm>
            <a:off x="8074152" y="5623560"/>
            <a:ext cx="39319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</a:rPr>
              <a:t>แก้ชื่อ, code, เปิด/ปิดสาขา</a:t>
            </a:r>
            <a:endParaRPr lang="en-US" sz="950" dirty="0"/>
          </a:p>
        </p:txBody>
      </p:sp>
      <p:sp>
        <p:nvSpPr>
          <p:cNvPr id="115" name="Text 113"/>
          <p:cNvSpPr/>
          <p:nvPr/>
        </p:nvSpPr>
        <p:spPr>
          <a:xfrm>
            <a:off x="6355080" y="5961888"/>
            <a:ext cx="17373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3C5FD"/>
                </a:solidFill>
              </a:rPr>
              <a:t>👥 Assign Users: </a:t>
            </a:r>
            <a:endParaRPr lang="en-US" sz="950" dirty="0"/>
          </a:p>
        </p:txBody>
      </p:sp>
      <p:sp>
        <p:nvSpPr>
          <p:cNvPr id="116" name="Text 114"/>
          <p:cNvSpPr/>
          <p:nvPr/>
        </p:nvSpPr>
        <p:spPr>
          <a:xfrm>
            <a:off x="8074152" y="5961888"/>
            <a:ext cx="39319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</a:rPr>
              <a:t>เลือก user ที่เข้า location นี้ได้ (checkbox)</a:t>
            </a:r>
            <a:endParaRPr lang="en-US" sz="950" dirty="0"/>
          </a:p>
        </p:txBody>
      </p:sp>
      <p:sp>
        <p:nvSpPr>
          <p:cNvPr id="117" name="Text 115"/>
          <p:cNvSpPr/>
          <p:nvPr/>
        </p:nvSpPr>
        <p:spPr>
          <a:xfrm>
            <a:off x="6355080" y="6300216"/>
            <a:ext cx="17373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3C5FD"/>
                </a:solidFill>
              </a:rPr>
              <a:t>🔒 Disable Location: </a:t>
            </a:r>
            <a:endParaRPr lang="en-US" sz="950" dirty="0"/>
          </a:p>
        </p:txBody>
      </p:sp>
      <p:sp>
        <p:nvSpPr>
          <p:cNvPr id="118" name="Text 116"/>
          <p:cNvSpPr/>
          <p:nvPr/>
        </p:nvSpPr>
        <p:spPr>
          <a:xfrm>
            <a:off x="8074152" y="6300216"/>
            <a:ext cx="39319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</a:rPr>
              <a:t>ปิดสาขา user ที่ assign อยู่จะเข้าไม่ได้</a:t>
            </a:r>
            <a:endParaRPr lang="en-US" sz="950" dirty="0"/>
          </a:p>
        </p:txBody>
      </p:sp>
      <p:sp>
        <p:nvSpPr>
          <p:cNvPr id="119" name="Shape 117"/>
          <p:cNvSpPr/>
          <p:nvPr/>
        </p:nvSpPr>
        <p:spPr>
          <a:xfrm>
            <a:off x="0" y="6446520"/>
            <a:ext cx="12188952" cy="41148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120" name="Shape 118"/>
          <p:cNvSpPr/>
          <p:nvPr/>
        </p:nvSpPr>
        <p:spPr>
          <a:xfrm>
            <a:off x="0" y="6446520"/>
            <a:ext cx="12188952" cy="22860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121" name="Text 119"/>
          <p:cNvSpPr/>
          <p:nvPr/>
        </p:nvSpPr>
        <p:spPr>
          <a:xfrm>
            <a:off x="274320" y="6492240"/>
            <a:ext cx="11430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medstock-his.vercel.app  ·  IS-C Department  ·  Hospital Information System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50976"/>
            <a:ext cx="12188952" cy="22860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54864" cy="960120"/>
          </a:xfrm>
          <a:prstGeom prst="rect">
            <a:avLst/>
          </a:prstGeom>
          <a:solidFill>
            <a:srgbClr val="1D4ED8"/>
          </a:solidFill>
          <a:ln/>
        </p:spPr>
      </p:sp>
      <p:sp>
        <p:nvSpPr>
          <p:cNvPr id="5" name="Text 3"/>
          <p:cNvSpPr/>
          <p:nvPr/>
        </p:nvSpPr>
        <p:spPr>
          <a:xfrm>
            <a:off x="182880" y="73152"/>
            <a:ext cx="7315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93C5FD"/>
                </a:solidFill>
              </a:rPr>
              <a:t>MedStock HIS  ·  Security &amp; Tech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182880" y="292608"/>
            <a:ext cx="109728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Security &amp; Tech Stack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182880" y="731520"/>
            <a:ext cx="10972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</a:rPr>
              <a:t>ความปลอดภัยและเทคโนโลยีที่ใช้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20040" y="1097280"/>
            <a:ext cx="5486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4D399"/>
                </a:solidFill>
              </a:rPr>
              <a:t>🔐  Security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20040" y="1481328"/>
            <a:ext cx="5486400" cy="786384"/>
          </a:xfrm>
          <a:prstGeom prst="rect">
            <a:avLst>
              <a:gd name="adj" fmla="val 9302"/>
            </a:avLst>
          </a:prstGeom>
          <a:solidFill>
            <a:srgbClr val="1E293B"/>
          </a:solidFill>
          <a:ln w="19050">
            <a:solidFill>
              <a:srgbClr val="34D399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20040" y="1481328"/>
            <a:ext cx="64008" cy="786384"/>
          </a:xfrm>
          <a:prstGeom prst="rect">
            <a:avLst/>
          </a:prstGeom>
          <a:solidFill>
            <a:srgbClr val="34D399"/>
          </a:solidFill>
          <a:ln/>
        </p:spPr>
      </p:sp>
      <p:sp>
        <p:nvSpPr>
          <p:cNvPr id="11" name="Text 9"/>
          <p:cNvSpPr/>
          <p:nvPr/>
        </p:nvSpPr>
        <p:spPr>
          <a:xfrm>
            <a:off x="548640" y="1572768"/>
            <a:ext cx="5029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SHA-256 Password Hashing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548640" y="1847088"/>
            <a:ext cx="5029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94A3B8"/>
                </a:solidFill>
              </a:rPr>
              <a:t>Web Crypto API — hash ใน browser ก่อนส่ง</a:t>
            </a:r>
            <a:endParaRPr lang="en-US" sz="9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94A3B8"/>
                </a:solidFill>
              </a:rPr>
              <a:t>Migrate plaintext เก่า → hash อัตโนมัติตอน login ครั้งแรก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20040" y="2414016"/>
            <a:ext cx="5486400" cy="786384"/>
          </a:xfrm>
          <a:prstGeom prst="rect">
            <a:avLst>
              <a:gd name="adj" fmla="val 9302"/>
            </a:avLst>
          </a:prstGeom>
          <a:solidFill>
            <a:srgbClr val="1E293B"/>
          </a:solidFill>
          <a:ln w="19050">
            <a:solidFill>
              <a:srgbClr val="3B82F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0040" y="2414016"/>
            <a:ext cx="64008" cy="786384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15" name="Text 13"/>
          <p:cNvSpPr/>
          <p:nvPr/>
        </p:nvSpPr>
        <p:spPr>
          <a:xfrm>
            <a:off x="548640" y="2505456"/>
            <a:ext cx="5029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Role-based Access Control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48640" y="2779776"/>
            <a:ext cx="5029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94A3B8"/>
                </a:solidFill>
              </a:rPr>
              <a:t>Admin / User แยกสิทธิ์ชัดเจน</a:t>
            </a:r>
            <a:endParaRPr lang="en-US" sz="9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94A3B8"/>
                </a:solidFill>
              </a:rPr>
              <a:t>หน้า Admin-only redirect ถ้าไม่ใช่ admin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320040" y="3346704"/>
            <a:ext cx="5486400" cy="786384"/>
          </a:xfrm>
          <a:prstGeom prst="rect">
            <a:avLst>
              <a:gd name="adj" fmla="val 9302"/>
            </a:avLst>
          </a:prstGeom>
          <a:solidFill>
            <a:srgbClr val="1E293B"/>
          </a:solidFill>
          <a:ln w="19050">
            <a:solidFill>
              <a:srgbClr val="FCD34D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20040" y="3346704"/>
            <a:ext cx="64008" cy="786384"/>
          </a:xfrm>
          <a:prstGeom prst="rect">
            <a:avLst/>
          </a:prstGeom>
          <a:solidFill>
            <a:srgbClr val="FCD34D"/>
          </a:solidFill>
          <a:ln/>
        </p:spPr>
      </p:sp>
      <p:sp>
        <p:nvSpPr>
          <p:cNvPr id="19" name="Text 17"/>
          <p:cNvSpPr/>
          <p:nvPr/>
        </p:nvSpPr>
        <p:spPr>
          <a:xfrm>
            <a:off x="548640" y="3438144"/>
            <a:ext cx="5029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Location Isolation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48640" y="3712464"/>
            <a:ext cx="5029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94A3B8"/>
                </a:solidFill>
              </a:rPr>
              <a:t>Query ทุกอย่างกรอง location_id</a:t>
            </a:r>
            <a:endParaRPr lang="en-US" sz="9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94A3B8"/>
                </a:solidFill>
              </a:rPr>
              <a:t>User เข้าได้เฉพาะ location ที่ assign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320040" y="4279392"/>
            <a:ext cx="5486400" cy="786384"/>
          </a:xfrm>
          <a:prstGeom prst="rect">
            <a:avLst>
              <a:gd name="adj" fmla="val 9302"/>
            </a:avLst>
          </a:prstGeom>
          <a:solidFill>
            <a:srgbClr val="1E293B"/>
          </a:solidFill>
          <a:ln w="19050">
            <a:solidFill>
              <a:srgbClr val="A78BFA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20040" y="4279392"/>
            <a:ext cx="64008" cy="786384"/>
          </a:xfrm>
          <a:prstGeom prst="rect">
            <a:avLst/>
          </a:prstGeom>
          <a:solidFill>
            <a:srgbClr val="A78BFA"/>
          </a:solidFill>
          <a:ln/>
        </p:spPr>
      </p:sp>
      <p:sp>
        <p:nvSpPr>
          <p:cNvPr id="23" name="Text 21"/>
          <p:cNvSpPr/>
          <p:nvPr/>
        </p:nvSpPr>
        <p:spPr>
          <a:xfrm>
            <a:off x="548640" y="4370832"/>
            <a:ext cx="5029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Session Expiry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548640" y="4645152"/>
            <a:ext cx="5029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94A3B8"/>
                </a:solidFill>
              </a:rPr>
              <a:t>Remember Me: 12h expiry ใน localStorage</a:t>
            </a:r>
            <a:endParaRPr lang="en-US" sz="9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94A3B8"/>
                </a:solidFill>
              </a:rPr>
              <a:t>ไม่ติ๊ก: sessionStorage — ปิด tab หมด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320040" y="5212080"/>
            <a:ext cx="5486400" cy="786384"/>
          </a:xfrm>
          <a:prstGeom prst="rect">
            <a:avLst>
              <a:gd name="adj" fmla="val 9302"/>
            </a:avLst>
          </a:prstGeom>
          <a:solidFill>
            <a:srgbClr val="1E293B"/>
          </a:solidFill>
          <a:ln w="19050">
            <a:solidFill>
              <a:srgbClr val="22D3E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20040" y="5212080"/>
            <a:ext cx="64008" cy="786384"/>
          </a:xfrm>
          <a:prstGeom prst="rect">
            <a:avLst/>
          </a:prstGeom>
          <a:solidFill>
            <a:srgbClr val="22D3EE"/>
          </a:solidFill>
          <a:ln/>
        </p:spPr>
      </p:sp>
      <p:sp>
        <p:nvSpPr>
          <p:cNvPr id="27" name="Text 25"/>
          <p:cNvSpPr/>
          <p:nvPr/>
        </p:nvSpPr>
        <p:spPr>
          <a:xfrm>
            <a:off x="548640" y="5303520"/>
            <a:ext cx="5029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Private Repository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548640" y="5577840"/>
            <a:ext cx="5029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94A3B8"/>
                </a:solidFill>
              </a:rPr>
              <a:t>GitHub repo เป็น private</a:t>
            </a:r>
            <a:endParaRPr lang="en-US" sz="9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94A3B8"/>
                </a:solidFill>
              </a:rPr>
              <a:t>Vercel auto-deploy เมื่อ push to main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6126480" y="1097280"/>
            <a:ext cx="5486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93C5FD"/>
                </a:solidFill>
              </a:rPr>
              <a:t>⚡  Tech Stack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6126480" y="1481328"/>
            <a:ext cx="2834640" cy="786384"/>
          </a:xfrm>
          <a:prstGeom prst="rect">
            <a:avLst>
              <a:gd name="adj" fmla="val 9302"/>
            </a:avLst>
          </a:prstGeom>
          <a:solidFill>
            <a:srgbClr val="1E293B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236208" y="1591056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000000"/>
                </a:solidFill>
              </a:rPr>
              <a:t>⚛️</a:t>
            </a:r>
            <a:endParaRPr lang="en-US" sz="1700" dirty="0"/>
          </a:p>
        </p:txBody>
      </p:sp>
      <p:sp>
        <p:nvSpPr>
          <p:cNvPr id="32" name="Text 30"/>
          <p:cNvSpPr/>
          <p:nvPr/>
        </p:nvSpPr>
        <p:spPr>
          <a:xfrm>
            <a:off x="6720840" y="1591056"/>
            <a:ext cx="21031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React 18 + TypeScript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720840" y="1865376"/>
            <a:ext cx="2103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850" dirty="0">
                <a:solidFill>
                  <a:srgbClr val="94A3B8"/>
                </a:solidFill>
              </a:rPr>
              <a:t>Frontend SPA</a:t>
            </a:r>
            <a:endParaRPr lang="en-US" sz="850" dirty="0"/>
          </a:p>
        </p:txBody>
      </p:sp>
      <p:sp>
        <p:nvSpPr>
          <p:cNvPr id="34" name="Shape 32"/>
          <p:cNvSpPr/>
          <p:nvPr/>
        </p:nvSpPr>
        <p:spPr>
          <a:xfrm>
            <a:off x="9162288" y="1481328"/>
            <a:ext cx="2834640" cy="786384"/>
          </a:xfrm>
          <a:prstGeom prst="rect">
            <a:avLst>
              <a:gd name="adj" fmla="val 9302"/>
            </a:avLst>
          </a:prstGeom>
          <a:solidFill>
            <a:srgbClr val="1E293B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9272016" y="1591056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000000"/>
                </a:solidFill>
              </a:rPr>
              <a:t>🎨</a:t>
            </a:r>
            <a:endParaRPr lang="en-US" sz="1700" dirty="0"/>
          </a:p>
        </p:txBody>
      </p:sp>
      <p:sp>
        <p:nvSpPr>
          <p:cNvPr id="36" name="Text 34"/>
          <p:cNvSpPr/>
          <p:nvPr/>
        </p:nvSpPr>
        <p:spPr>
          <a:xfrm>
            <a:off x="9756648" y="1591056"/>
            <a:ext cx="21031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Tailwind CSS v4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9756648" y="1865376"/>
            <a:ext cx="2103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850" dirty="0">
                <a:solidFill>
                  <a:srgbClr val="94A3B8"/>
                </a:solidFill>
              </a:rPr>
              <a:t>@import "tailwindcss" — utility-first</a:t>
            </a:r>
            <a:endParaRPr lang="en-US" sz="850" dirty="0"/>
          </a:p>
        </p:txBody>
      </p:sp>
      <p:sp>
        <p:nvSpPr>
          <p:cNvPr id="38" name="Shape 36"/>
          <p:cNvSpPr/>
          <p:nvPr/>
        </p:nvSpPr>
        <p:spPr>
          <a:xfrm>
            <a:off x="6126480" y="2414016"/>
            <a:ext cx="2834640" cy="786384"/>
          </a:xfrm>
          <a:prstGeom prst="rect">
            <a:avLst>
              <a:gd name="adj" fmla="val 9302"/>
            </a:avLst>
          </a:prstGeom>
          <a:solidFill>
            <a:srgbClr val="1E293B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236208" y="2523744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000000"/>
                </a:solidFill>
              </a:rPr>
              <a:t>⚡</a:t>
            </a:r>
            <a:endParaRPr lang="en-US" sz="1700" dirty="0"/>
          </a:p>
        </p:txBody>
      </p:sp>
      <p:sp>
        <p:nvSpPr>
          <p:cNvPr id="40" name="Text 38"/>
          <p:cNvSpPr/>
          <p:nvPr/>
        </p:nvSpPr>
        <p:spPr>
          <a:xfrm>
            <a:off x="6720840" y="2523744"/>
            <a:ext cx="21031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Vite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6720840" y="2798064"/>
            <a:ext cx="2103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850" dirty="0">
                <a:solidFill>
                  <a:srgbClr val="94A3B8"/>
                </a:solidFill>
              </a:rPr>
              <a:t>Build tool + HMR</a:t>
            </a:r>
            <a:endParaRPr lang="en-US" sz="850" dirty="0"/>
          </a:p>
        </p:txBody>
      </p:sp>
      <p:sp>
        <p:nvSpPr>
          <p:cNvPr id="42" name="Shape 40"/>
          <p:cNvSpPr/>
          <p:nvPr/>
        </p:nvSpPr>
        <p:spPr>
          <a:xfrm>
            <a:off x="9162288" y="2414016"/>
            <a:ext cx="2834640" cy="786384"/>
          </a:xfrm>
          <a:prstGeom prst="rect">
            <a:avLst>
              <a:gd name="adj" fmla="val 9302"/>
            </a:avLst>
          </a:prstGeom>
          <a:solidFill>
            <a:srgbClr val="1E293B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9272016" y="2523744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000000"/>
                </a:solidFill>
              </a:rPr>
              <a:t>🔀</a:t>
            </a:r>
            <a:endParaRPr lang="en-US" sz="1700" dirty="0"/>
          </a:p>
        </p:txBody>
      </p:sp>
      <p:sp>
        <p:nvSpPr>
          <p:cNvPr id="44" name="Text 42"/>
          <p:cNvSpPr/>
          <p:nvPr/>
        </p:nvSpPr>
        <p:spPr>
          <a:xfrm>
            <a:off x="9756648" y="2523744"/>
            <a:ext cx="21031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React Router v6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9756648" y="2798064"/>
            <a:ext cx="2103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850" dirty="0">
                <a:solidFill>
                  <a:srgbClr val="94A3B8"/>
                </a:solidFill>
              </a:rPr>
              <a:t>Client-side routing + navigation</a:t>
            </a:r>
            <a:endParaRPr lang="en-US" sz="850" dirty="0"/>
          </a:p>
        </p:txBody>
      </p:sp>
      <p:sp>
        <p:nvSpPr>
          <p:cNvPr id="46" name="Shape 44"/>
          <p:cNvSpPr/>
          <p:nvPr/>
        </p:nvSpPr>
        <p:spPr>
          <a:xfrm>
            <a:off x="6126480" y="3346704"/>
            <a:ext cx="2834640" cy="786384"/>
          </a:xfrm>
          <a:prstGeom prst="rect">
            <a:avLst>
              <a:gd name="adj" fmla="val 9302"/>
            </a:avLst>
          </a:prstGeom>
          <a:solidFill>
            <a:srgbClr val="1E293B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236208" y="3456432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000000"/>
                </a:solidFill>
              </a:rPr>
              <a:t>🗄️</a:t>
            </a:r>
            <a:endParaRPr lang="en-US" sz="1700" dirty="0"/>
          </a:p>
        </p:txBody>
      </p:sp>
      <p:sp>
        <p:nvSpPr>
          <p:cNvPr id="48" name="Text 46"/>
          <p:cNvSpPr/>
          <p:nvPr/>
        </p:nvSpPr>
        <p:spPr>
          <a:xfrm>
            <a:off x="6720840" y="3456432"/>
            <a:ext cx="21031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Supabase</a:t>
            </a:r>
            <a:endParaRPr lang="en-US" sz="1000" dirty="0"/>
          </a:p>
        </p:txBody>
      </p:sp>
      <p:sp>
        <p:nvSpPr>
          <p:cNvPr id="49" name="Text 47"/>
          <p:cNvSpPr/>
          <p:nvPr/>
        </p:nvSpPr>
        <p:spPr>
          <a:xfrm>
            <a:off x="6720840" y="3730752"/>
            <a:ext cx="2103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850" dirty="0">
                <a:solidFill>
                  <a:srgbClr val="94A3B8"/>
                </a:solidFill>
              </a:rPr>
              <a:t>PostgreSQL + Storage + REST API</a:t>
            </a:r>
            <a:endParaRPr lang="en-US" sz="850" dirty="0"/>
          </a:p>
        </p:txBody>
      </p:sp>
      <p:sp>
        <p:nvSpPr>
          <p:cNvPr id="50" name="Shape 48"/>
          <p:cNvSpPr/>
          <p:nvPr/>
        </p:nvSpPr>
        <p:spPr>
          <a:xfrm>
            <a:off x="9162288" y="3346704"/>
            <a:ext cx="2834640" cy="786384"/>
          </a:xfrm>
          <a:prstGeom prst="rect">
            <a:avLst>
              <a:gd name="adj" fmla="val 9302"/>
            </a:avLst>
          </a:prstGeom>
          <a:solidFill>
            <a:srgbClr val="1E293B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9272016" y="3456432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000000"/>
                </a:solidFill>
              </a:rPr>
              <a:t>🚀</a:t>
            </a:r>
            <a:endParaRPr lang="en-US" sz="1700" dirty="0"/>
          </a:p>
        </p:txBody>
      </p:sp>
      <p:sp>
        <p:nvSpPr>
          <p:cNvPr id="52" name="Text 50"/>
          <p:cNvSpPr/>
          <p:nvPr/>
        </p:nvSpPr>
        <p:spPr>
          <a:xfrm>
            <a:off x="9756648" y="3456432"/>
            <a:ext cx="21031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Vercel</a:t>
            </a:r>
            <a:endParaRPr lang="en-US" sz="1000" dirty="0"/>
          </a:p>
        </p:txBody>
      </p:sp>
      <p:sp>
        <p:nvSpPr>
          <p:cNvPr id="53" name="Text 51"/>
          <p:cNvSpPr/>
          <p:nvPr/>
        </p:nvSpPr>
        <p:spPr>
          <a:xfrm>
            <a:off x="9756648" y="3730752"/>
            <a:ext cx="2103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850" dirty="0">
                <a:solidFill>
                  <a:srgbClr val="94A3B8"/>
                </a:solidFill>
              </a:rPr>
              <a:t>Hosting + CI/CD auto-deploy</a:t>
            </a:r>
            <a:endParaRPr lang="en-US" sz="850" dirty="0"/>
          </a:p>
        </p:txBody>
      </p:sp>
      <p:sp>
        <p:nvSpPr>
          <p:cNvPr id="54" name="Shape 52"/>
          <p:cNvSpPr/>
          <p:nvPr/>
        </p:nvSpPr>
        <p:spPr>
          <a:xfrm>
            <a:off x="6126480" y="4279392"/>
            <a:ext cx="2834640" cy="786384"/>
          </a:xfrm>
          <a:prstGeom prst="rect">
            <a:avLst>
              <a:gd name="adj" fmla="val 9302"/>
            </a:avLst>
          </a:prstGeom>
          <a:solidFill>
            <a:srgbClr val="1E293B"/>
          </a:solidFill>
          <a:ln w="12700">
            <a:solidFill>
              <a:srgbClr val="FCD34D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6236208" y="438912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000000"/>
                </a:solidFill>
              </a:rPr>
              <a:t>🔐</a:t>
            </a:r>
            <a:endParaRPr lang="en-US" sz="1700" dirty="0"/>
          </a:p>
        </p:txBody>
      </p:sp>
      <p:sp>
        <p:nvSpPr>
          <p:cNvPr id="56" name="Text 54"/>
          <p:cNvSpPr/>
          <p:nvPr/>
        </p:nvSpPr>
        <p:spPr>
          <a:xfrm>
            <a:off x="6720840" y="4389120"/>
            <a:ext cx="21031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Web Crypto API</a:t>
            </a:r>
            <a:endParaRPr lang="en-US" sz="1000" dirty="0"/>
          </a:p>
        </p:txBody>
      </p:sp>
      <p:sp>
        <p:nvSpPr>
          <p:cNvPr id="57" name="Text 55"/>
          <p:cNvSpPr/>
          <p:nvPr/>
        </p:nvSpPr>
        <p:spPr>
          <a:xfrm>
            <a:off x="6720840" y="4663440"/>
            <a:ext cx="2103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850" dirty="0">
                <a:solidFill>
                  <a:srgbClr val="94A3B8"/>
                </a:solidFill>
              </a:rPr>
              <a:t>SHA-256 hashing — built-in browser</a:t>
            </a:r>
            <a:endParaRPr lang="en-US" sz="850" dirty="0"/>
          </a:p>
        </p:txBody>
      </p:sp>
      <p:sp>
        <p:nvSpPr>
          <p:cNvPr id="58" name="Shape 56"/>
          <p:cNvSpPr/>
          <p:nvPr/>
        </p:nvSpPr>
        <p:spPr>
          <a:xfrm>
            <a:off x="9162288" y="4279392"/>
            <a:ext cx="2834640" cy="786384"/>
          </a:xfrm>
          <a:prstGeom prst="rect">
            <a:avLst>
              <a:gd name="adj" fmla="val 9302"/>
            </a:avLst>
          </a:prstGeom>
          <a:solidFill>
            <a:srgbClr val="1E293B"/>
          </a:solidFill>
          <a:ln w="12700">
            <a:solidFill>
              <a:srgbClr val="F8717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9272016" y="438912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000000"/>
                </a:solidFill>
              </a:rPr>
              <a:t>📦</a:t>
            </a:r>
            <a:endParaRPr lang="en-US" sz="1700" dirty="0"/>
          </a:p>
        </p:txBody>
      </p:sp>
      <p:sp>
        <p:nvSpPr>
          <p:cNvPr id="60" name="Text 58"/>
          <p:cNvSpPr/>
          <p:nvPr/>
        </p:nvSpPr>
        <p:spPr>
          <a:xfrm>
            <a:off x="9756648" y="4389120"/>
            <a:ext cx="21031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JsBarcode (CDN)</a:t>
            </a:r>
            <a:endParaRPr lang="en-US" sz="1000" dirty="0"/>
          </a:p>
        </p:txBody>
      </p:sp>
      <p:sp>
        <p:nvSpPr>
          <p:cNvPr id="61" name="Text 59"/>
          <p:cNvSpPr/>
          <p:nvPr/>
        </p:nvSpPr>
        <p:spPr>
          <a:xfrm>
            <a:off x="9756648" y="4663440"/>
            <a:ext cx="2103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850" dirty="0">
                <a:solidFill>
                  <a:srgbClr val="94A3B8"/>
                </a:solidFill>
              </a:rPr>
              <a:t>Generate + render barcode labels</a:t>
            </a:r>
            <a:endParaRPr lang="en-US" sz="850" dirty="0"/>
          </a:p>
        </p:txBody>
      </p:sp>
      <p:sp>
        <p:nvSpPr>
          <p:cNvPr id="62" name="Shape 60"/>
          <p:cNvSpPr/>
          <p:nvPr/>
        </p:nvSpPr>
        <p:spPr>
          <a:xfrm>
            <a:off x="6126480" y="5212080"/>
            <a:ext cx="2834640" cy="786384"/>
          </a:xfrm>
          <a:prstGeom prst="rect">
            <a:avLst>
              <a:gd name="adj" fmla="val 9302"/>
            </a:avLst>
          </a:prstGeom>
          <a:solidFill>
            <a:srgbClr val="1E293B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6236208" y="5321808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000000"/>
                </a:solidFill>
              </a:rPr>
              <a:t>📊</a:t>
            </a:r>
            <a:endParaRPr lang="en-US" sz="1700" dirty="0"/>
          </a:p>
        </p:txBody>
      </p:sp>
      <p:sp>
        <p:nvSpPr>
          <p:cNvPr id="64" name="Text 62"/>
          <p:cNvSpPr/>
          <p:nvPr/>
        </p:nvSpPr>
        <p:spPr>
          <a:xfrm>
            <a:off x="6720840" y="5321808"/>
            <a:ext cx="21031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pptxgenjs</a:t>
            </a:r>
            <a:endParaRPr lang="en-US" sz="1000" dirty="0"/>
          </a:p>
        </p:txBody>
      </p:sp>
      <p:sp>
        <p:nvSpPr>
          <p:cNvPr id="65" name="Text 63"/>
          <p:cNvSpPr/>
          <p:nvPr/>
        </p:nvSpPr>
        <p:spPr>
          <a:xfrm>
            <a:off x="6720840" y="5596128"/>
            <a:ext cx="2103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850" dirty="0">
                <a:solidFill>
                  <a:srgbClr val="94A3B8"/>
                </a:solidFill>
              </a:rPr>
              <a:t>สร้าง PowerPoint นี้</a:t>
            </a:r>
            <a:endParaRPr lang="en-US" sz="850" dirty="0"/>
          </a:p>
        </p:txBody>
      </p:sp>
      <p:sp>
        <p:nvSpPr>
          <p:cNvPr id="66" name="Text 64"/>
          <p:cNvSpPr/>
          <p:nvPr/>
        </p:nvSpPr>
        <p:spPr>
          <a:xfrm>
            <a:off x="320040" y="6126480"/>
            <a:ext cx="11567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CD34D"/>
                </a:solidFill>
              </a:rPr>
              <a:t>⚠️  Known Limitation: Supabase RLS ยังไม่ได้ enable — anon key อยู่ใน frontend — ใช้ภายในองค์กรเท่านั้น</a:t>
            </a:r>
            <a:endParaRPr lang="en-US" sz="900" dirty="0"/>
          </a:p>
        </p:txBody>
      </p:sp>
      <p:sp>
        <p:nvSpPr>
          <p:cNvPr id="67" name="Shape 65"/>
          <p:cNvSpPr/>
          <p:nvPr/>
        </p:nvSpPr>
        <p:spPr>
          <a:xfrm>
            <a:off x="0" y="6446520"/>
            <a:ext cx="12188952" cy="41148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68" name="Shape 66"/>
          <p:cNvSpPr/>
          <p:nvPr/>
        </p:nvSpPr>
        <p:spPr>
          <a:xfrm>
            <a:off x="0" y="6446520"/>
            <a:ext cx="12188952" cy="22860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69" name="Text 67"/>
          <p:cNvSpPr/>
          <p:nvPr/>
        </p:nvSpPr>
        <p:spPr>
          <a:xfrm>
            <a:off x="274320" y="6492240"/>
            <a:ext cx="11430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medstock-his.vercel.app  ·  IS-C Department  ·  Hospital Information System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377440" cy="685800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3" name="Shape 1"/>
          <p:cNvSpPr/>
          <p:nvPr/>
        </p:nvSpPr>
        <p:spPr>
          <a:xfrm>
            <a:off x="2368296" y="0"/>
            <a:ext cx="22860" cy="6858000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4" name="Shape 2"/>
          <p:cNvSpPr/>
          <p:nvPr/>
        </p:nvSpPr>
        <p:spPr>
          <a:xfrm>
            <a:off x="182880" y="228600"/>
            <a:ext cx="502920" cy="502920"/>
          </a:xfrm>
          <a:prstGeom prst="rect">
            <a:avLst>
              <a:gd name="adj" fmla="val 14545"/>
            </a:avLst>
          </a:prstGeom>
          <a:solidFill>
            <a:srgbClr val="1D4ED8"/>
          </a:solidFill>
          <a:ln/>
        </p:spPr>
      </p:sp>
      <p:sp>
        <p:nvSpPr>
          <p:cNvPr id="5" name="Text 3"/>
          <p:cNvSpPr/>
          <p:nvPr/>
        </p:nvSpPr>
        <p:spPr>
          <a:xfrm>
            <a:off x="201168" y="256032"/>
            <a:ext cx="466344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💊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77240" y="256032"/>
            <a:ext cx="14630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MedStock HIS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77240" y="475488"/>
            <a:ext cx="14630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3C5FD"/>
                </a:solidFill>
              </a:rPr>
              <a:t>IS-C · Info Systems</a:t>
            </a:r>
            <a:endParaRPr lang="en-US" sz="700" dirty="0"/>
          </a:p>
        </p:txBody>
      </p:sp>
      <p:sp>
        <p:nvSpPr>
          <p:cNvPr id="8" name="Text 6"/>
          <p:cNvSpPr/>
          <p:nvPr/>
        </p:nvSpPr>
        <p:spPr>
          <a:xfrm>
            <a:off x="228600" y="100584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4D399"/>
                </a:solidFill>
              </a:rPr>
              <a:t>✓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02920" y="1005840"/>
            <a:ext cx="1737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</a:rPr>
              <a:t>Dashboard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228600" y="1399032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4D399"/>
                </a:solidFill>
              </a:rPr>
              <a:t>✓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02920" y="1399032"/>
            <a:ext cx="1737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</a:rPr>
              <a:t>Inventory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228600" y="1792224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4D399"/>
                </a:solidFill>
              </a:rPr>
              <a:t>✓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502920" y="1792224"/>
            <a:ext cx="1737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</a:rPr>
              <a:t>Dispense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228600" y="2185416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4D399"/>
                </a:solidFill>
              </a:rPr>
              <a:t>✓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502920" y="2185416"/>
            <a:ext cx="1737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</a:rPr>
              <a:t>Receive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228600" y="2578608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4D399"/>
                </a:solidFill>
              </a:rPr>
              <a:t>✓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502920" y="2578608"/>
            <a:ext cx="1737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</a:rPr>
              <a:t>Scan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228600" y="297180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4D399"/>
                </a:solidFill>
              </a:rPr>
              <a:t>✓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502920" y="2971800"/>
            <a:ext cx="1737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</a:rPr>
              <a:t>Print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228600" y="3364992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4D399"/>
                </a:solidFill>
              </a:rPr>
              <a:t>✓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02920" y="3364992"/>
            <a:ext cx="1737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</a:rPr>
              <a:t>History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228600" y="3758184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4D399"/>
                </a:solidFill>
              </a:rPr>
              <a:t>✓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502920" y="3758184"/>
            <a:ext cx="1737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</a:rPr>
              <a:t>Overview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228600" y="4151376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4D399"/>
                </a:solidFill>
              </a:rPr>
              <a:t>✓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502920" y="4151376"/>
            <a:ext cx="1737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</a:rPr>
              <a:t>Users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228600" y="4544568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4D399"/>
                </a:solidFill>
              </a:rPr>
              <a:t>✓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02920" y="4544568"/>
            <a:ext cx="1737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</a:rPr>
              <a:t>Locations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2834640" y="914400"/>
            <a:ext cx="89611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3B82F6"/>
                </a:solidFill>
              </a:rPr>
              <a:t>IS-C · INFORMATION SYSTEMS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2834640" y="1234440"/>
            <a:ext cx="89611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</a:rPr>
              <a:t>พร้อมใช้งาน</a:t>
            </a:r>
            <a:endParaRPr lang="en-US" sz="4800" dirty="0"/>
          </a:p>
        </p:txBody>
      </p:sp>
      <p:sp>
        <p:nvSpPr>
          <p:cNvPr id="30" name="Shape 28"/>
          <p:cNvSpPr/>
          <p:nvPr/>
        </p:nvSpPr>
        <p:spPr>
          <a:xfrm>
            <a:off x="2834640" y="2194560"/>
            <a:ext cx="4114800" cy="1051560"/>
          </a:xfrm>
          <a:prstGeom prst="rect">
            <a:avLst>
              <a:gd name="adj" fmla="val 6957"/>
            </a:avLst>
          </a:prstGeom>
          <a:solidFill>
            <a:srgbClr val="1E293B"/>
          </a:solidFill>
          <a:ln w="19050">
            <a:solidFill>
              <a:srgbClr val="1D4ED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834640" y="2194560"/>
            <a:ext cx="64008" cy="1051560"/>
          </a:xfrm>
          <a:prstGeom prst="rect">
            <a:avLst/>
          </a:prstGeom>
          <a:solidFill>
            <a:srgbClr val="1D4ED8"/>
          </a:solidFill>
          <a:ln/>
        </p:spPr>
      </p:sp>
      <p:sp>
        <p:nvSpPr>
          <p:cNvPr id="32" name="Text 30"/>
          <p:cNvSpPr/>
          <p:nvPr/>
        </p:nvSpPr>
        <p:spPr>
          <a:xfrm>
            <a:off x="3017520" y="22860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🌐</a:t>
            </a:r>
            <a:endParaRPr lang="en-US" sz="2200" dirty="0"/>
          </a:p>
        </p:txBody>
      </p:sp>
      <p:sp>
        <p:nvSpPr>
          <p:cNvPr id="33" name="Text 31"/>
          <p:cNvSpPr/>
          <p:nvPr/>
        </p:nvSpPr>
        <p:spPr>
          <a:xfrm>
            <a:off x="3611880" y="2304288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</a:rPr>
              <a:t>medstock-his.vercel.app</a:t>
            </a:r>
            <a:endParaRPr lang="en-US" sz="1150" dirty="0"/>
          </a:p>
        </p:txBody>
      </p:sp>
      <p:sp>
        <p:nvSpPr>
          <p:cNvPr id="34" name="Text 32"/>
          <p:cNvSpPr/>
          <p:nvPr/>
        </p:nvSpPr>
        <p:spPr>
          <a:xfrm>
            <a:off x="3611880" y="2596896"/>
            <a:ext cx="3200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</a:rPr>
              <a:t>เปิดผ่าน browser ทุกอุปกรณ์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2834640" y="3429000"/>
            <a:ext cx="4114800" cy="1051560"/>
          </a:xfrm>
          <a:prstGeom prst="rect">
            <a:avLst>
              <a:gd name="adj" fmla="val 6957"/>
            </a:avLst>
          </a:prstGeom>
          <a:solidFill>
            <a:srgbClr val="1E293B"/>
          </a:solidFill>
          <a:ln w="19050">
            <a:solidFill>
              <a:srgbClr val="1D4ED8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834640" y="3429000"/>
            <a:ext cx="64008" cy="1051560"/>
          </a:xfrm>
          <a:prstGeom prst="rect">
            <a:avLst/>
          </a:prstGeom>
          <a:solidFill>
            <a:srgbClr val="1D4ED8"/>
          </a:solidFill>
          <a:ln/>
        </p:spPr>
      </p:sp>
      <p:sp>
        <p:nvSpPr>
          <p:cNvPr id="37" name="Text 35"/>
          <p:cNvSpPr/>
          <p:nvPr/>
        </p:nvSpPr>
        <p:spPr>
          <a:xfrm>
            <a:off x="3017520" y="352044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📍</a:t>
            </a:r>
            <a:endParaRPr lang="en-US" sz="2200" dirty="0"/>
          </a:p>
        </p:txBody>
      </p:sp>
      <p:sp>
        <p:nvSpPr>
          <p:cNvPr id="38" name="Text 36"/>
          <p:cNvSpPr/>
          <p:nvPr/>
        </p:nvSpPr>
        <p:spPr>
          <a:xfrm>
            <a:off x="3611880" y="3538728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</a:rPr>
              <a:t>8 Locations</a:t>
            </a:r>
            <a:endParaRPr lang="en-US" sz="1150" dirty="0"/>
          </a:p>
        </p:txBody>
      </p:sp>
      <p:sp>
        <p:nvSpPr>
          <p:cNvPr id="39" name="Text 37"/>
          <p:cNvSpPr/>
          <p:nvPr/>
        </p:nvSpPr>
        <p:spPr>
          <a:xfrm>
            <a:off x="3611880" y="3831336"/>
            <a:ext cx="3200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</a:rPr>
              <a:t>OPC · HO · GSE · DC · DT · CAT · ACM · CGO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2834640" y="4663440"/>
            <a:ext cx="4114800" cy="1051560"/>
          </a:xfrm>
          <a:prstGeom prst="rect">
            <a:avLst>
              <a:gd name="adj" fmla="val 6957"/>
            </a:avLst>
          </a:prstGeom>
          <a:solidFill>
            <a:srgbClr val="1E293B"/>
          </a:solidFill>
          <a:ln w="19050">
            <a:solidFill>
              <a:srgbClr val="1D4ED8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2834640" y="4663440"/>
            <a:ext cx="64008" cy="1051560"/>
          </a:xfrm>
          <a:prstGeom prst="rect">
            <a:avLst/>
          </a:prstGeom>
          <a:solidFill>
            <a:srgbClr val="1D4ED8"/>
          </a:solidFill>
          <a:ln/>
        </p:spPr>
      </p:sp>
      <p:sp>
        <p:nvSpPr>
          <p:cNvPr id="42" name="Text 40"/>
          <p:cNvSpPr/>
          <p:nvPr/>
        </p:nvSpPr>
        <p:spPr>
          <a:xfrm>
            <a:off x="3017520" y="475488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👥</a:t>
            </a:r>
            <a:endParaRPr lang="en-US" sz="2200" dirty="0"/>
          </a:p>
        </p:txBody>
      </p:sp>
      <p:sp>
        <p:nvSpPr>
          <p:cNvPr id="43" name="Text 41"/>
          <p:cNvSpPr/>
          <p:nvPr/>
        </p:nvSpPr>
        <p:spPr>
          <a:xfrm>
            <a:off x="3611880" y="4773168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</a:rPr>
              <a:t>Multi-user</a:t>
            </a:r>
            <a:endParaRPr lang="en-US" sz="1150" dirty="0"/>
          </a:p>
        </p:txBody>
      </p:sp>
      <p:sp>
        <p:nvSpPr>
          <p:cNvPr id="44" name="Text 42"/>
          <p:cNvSpPr/>
          <p:nvPr/>
        </p:nvSpPr>
        <p:spPr>
          <a:xfrm>
            <a:off x="3611880" y="5065776"/>
            <a:ext cx="3200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</a:rPr>
              <a:t>Admin + User แยกสิทธิ์ชัดเจน</a:t>
            </a:r>
            <a:endParaRPr lang="en-US" sz="950" dirty="0"/>
          </a:p>
        </p:txBody>
      </p:sp>
      <p:sp>
        <p:nvSpPr>
          <p:cNvPr id="45" name="Shape 43"/>
          <p:cNvSpPr/>
          <p:nvPr/>
        </p:nvSpPr>
        <p:spPr>
          <a:xfrm>
            <a:off x="7269480" y="2194560"/>
            <a:ext cx="4114800" cy="1051560"/>
          </a:xfrm>
          <a:prstGeom prst="rect">
            <a:avLst>
              <a:gd name="adj" fmla="val 6957"/>
            </a:avLst>
          </a:prstGeom>
          <a:solidFill>
            <a:srgbClr val="1E293B"/>
          </a:solidFill>
          <a:ln w="19050">
            <a:solidFill>
              <a:srgbClr val="1D4ED8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7269480" y="2194560"/>
            <a:ext cx="64008" cy="1051560"/>
          </a:xfrm>
          <a:prstGeom prst="rect">
            <a:avLst/>
          </a:prstGeom>
          <a:solidFill>
            <a:srgbClr val="1D4ED8"/>
          </a:solidFill>
          <a:ln/>
        </p:spPr>
      </p:sp>
      <p:sp>
        <p:nvSpPr>
          <p:cNvPr id="47" name="Text 45"/>
          <p:cNvSpPr/>
          <p:nvPr/>
        </p:nvSpPr>
        <p:spPr>
          <a:xfrm>
            <a:off x="7452360" y="22860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🔒</a:t>
            </a:r>
            <a:endParaRPr lang="en-US" sz="2200" dirty="0"/>
          </a:p>
        </p:txBody>
      </p:sp>
      <p:sp>
        <p:nvSpPr>
          <p:cNvPr id="48" name="Text 46"/>
          <p:cNvSpPr/>
          <p:nvPr/>
        </p:nvSpPr>
        <p:spPr>
          <a:xfrm>
            <a:off x="8046720" y="2304288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</a:rPr>
              <a:t>Secured</a:t>
            </a:r>
            <a:endParaRPr lang="en-US" sz="1150" dirty="0"/>
          </a:p>
        </p:txBody>
      </p:sp>
      <p:sp>
        <p:nvSpPr>
          <p:cNvPr id="49" name="Text 47"/>
          <p:cNvSpPr/>
          <p:nvPr/>
        </p:nvSpPr>
        <p:spPr>
          <a:xfrm>
            <a:off x="8046720" y="2596896"/>
            <a:ext cx="3200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</a:rPr>
              <a:t>SHA-256 · Session expiry · Private repo</a:t>
            </a:r>
            <a:endParaRPr lang="en-US" sz="950" dirty="0"/>
          </a:p>
        </p:txBody>
      </p:sp>
      <p:sp>
        <p:nvSpPr>
          <p:cNvPr id="50" name="Shape 48"/>
          <p:cNvSpPr/>
          <p:nvPr/>
        </p:nvSpPr>
        <p:spPr>
          <a:xfrm>
            <a:off x="7269480" y="3429000"/>
            <a:ext cx="4114800" cy="1051560"/>
          </a:xfrm>
          <a:prstGeom prst="rect">
            <a:avLst>
              <a:gd name="adj" fmla="val 6957"/>
            </a:avLst>
          </a:prstGeom>
          <a:solidFill>
            <a:srgbClr val="1E293B"/>
          </a:solidFill>
          <a:ln w="19050">
            <a:solidFill>
              <a:srgbClr val="1D4ED8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7269480" y="3429000"/>
            <a:ext cx="64008" cy="1051560"/>
          </a:xfrm>
          <a:prstGeom prst="rect">
            <a:avLst/>
          </a:prstGeom>
          <a:solidFill>
            <a:srgbClr val="1D4ED8"/>
          </a:solidFill>
          <a:ln/>
        </p:spPr>
      </p:sp>
      <p:sp>
        <p:nvSpPr>
          <p:cNvPr id="52" name="Text 50"/>
          <p:cNvSpPr/>
          <p:nvPr/>
        </p:nvSpPr>
        <p:spPr>
          <a:xfrm>
            <a:off x="7452360" y="352044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🚀</a:t>
            </a:r>
            <a:endParaRPr lang="en-US" sz="2200" dirty="0"/>
          </a:p>
        </p:txBody>
      </p:sp>
      <p:sp>
        <p:nvSpPr>
          <p:cNvPr id="53" name="Text 51"/>
          <p:cNvSpPr/>
          <p:nvPr/>
        </p:nvSpPr>
        <p:spPr>
          <a:xfrm>
            <a:off x="8046720" y="3538728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</a:rPr>
              <a:t>Auto Deploy</a:t>
            </a:r>
            <a:endParaRPr lang="en-US" sz="1150" dirty="0"/>
          </a:p>
        </p:txBody>
      </p:sp>
      <p:sp>
        <p:nvSpPr>
          <p:cNvPr id="54" name="Text 52"/>
          <p:cNvSpPr/>
          <p:nvPr/>
        </p:nvSpPr>
        <p:spPr>
          <a:xfrm>
            <a:off x="8046720" y="3831336"/>
            <a:ext cx="3200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</a:rPr>
              <a:t>GitHub → Vercel CI/CD ทุก push</a:t>
            </a:r>
            <a:endParaRPr lang="en-US" sz="950" dirty="0"/>
          </a:p>
        </p:txBody>
      </p:sp>
      <p:sp>
        <p:nvSpPr>
          <p:cNvPr id="55" name="Shape 53"/>
          <p:cNvSpPr/>
          <p:nvPr/>
        </p:nvSpPr>
        <p:spPr>
          <a:xfrm>
            <a:off x="2834640" y="6035040"/>
            <a:ext cx="8961120" cy="548640"/>
          </a:xfrm>
          <a:prstGeom prst="rect">
            <a:avLst>
              <a:gd name="adj" fmla="val 13333"/>
            </a:avLst>
          </a:prstGeom>
          <a:solidFill>
            <a:srgbClr val="1E293B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2834640" y="6144768"/>
            <a:ext cx="8961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3C5FD"/>
                </a:solidFill>
              </a:rPr>
              <a:t>medstock-his.vercel.app  ·  IS-C Department  ·  Hospital Information System  ·  2026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2026-06-26T16:15:07Z</dcterms:created>
  <dcterms:modified xsi:type="dcterms:W3CDTF">2026-06-26T16:15:07Z</dcterms:modified>
</cp:coreProperties>
</file>