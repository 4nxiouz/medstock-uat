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914400"/>
            <a:ext cx="3657600" cy="3657600"/>
          </a:xfrm>
          <a:prstGeom prst="ellipse">
            <a:avLst/>
          </a:prstGeom>
          <a:solidFill>
            <a:srgbClr val="1E40AF">
              <a:alpha val="4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144000" y="4114800"/>
            <a:ext cx="2743200" cy="2743200"/>
          </a:xfrm>
          <a:prstGeom prst="ellipse">
            <a:avLst/>
          </a:prstGeom>
          <a:solidFill>
            <a:srgbClr val="1E40AF">
              <a:alpha val="4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0972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3C5FD"/>
                </a:solidFill>
              </a:rPr>
              <a:t>IS-C · Information Systems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914400" y="1645920"/>
            <a:ext cx="9144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MedStock HIS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914400" y="28346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BFDBFE"/>
                </a:solidFill>
              </a:rPr>
              <a:t>Hospital Pharmacy Inventory System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914400" y="3383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3C5FD"/>
                </a:solidFill>
              </a:rPr>
              <a:t>ระบบจัดการคลังเวชภัณฑ์ รองรับหลายสถานพยาบาล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914400" y="3931920"/>
            <a:ext cx="7315200" cy="0"/>
          </a:xfrm>
          <a:prstGeom prst="line">
            <a:avLst/>
          </a:prstGeom>
          <a:noFill/>
          <a:ln w="12700">
            <a:solidFill>
              <a:srgbClr val="3B82F6">
                <a:alpha val="5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411480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0A5FA"/>
                </a:solidFill>
              </a:rPr>
              <a:t>แผนก IS-C  ·  medstock-his.vercel.app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8A"/>
                </a:solidFill>
              </a:rPr>
              <a:t>ปัญหาก่อนมีระบบ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1371600" cy="54864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280160"/>
            <a:ext cx="5029200" cy="1371600"/>
          </a:xfrm>
          <a:prstGeom prst="rect">
            <a:avLst>
              <a:gd name="adj" fmla="val 666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41732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34155"/>
                </a:solidFill>
              </a:rPr>
              <a:t>📋  บันทึกด้วยกระดาษ / Excel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ข้อมูลกระจาย ไม่ real-time หายง่าย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5029200" cy="1371600"/>
          </a:xfrm>
          <a:prstGeom prst="rect">
            <a:avLst>
              <a:gd name="adj" fmla="val 666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306324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34155"/>
                </a:solidFill>
              </a:rPr>
              <a:t>📦  ไม่รู้ว่าของใกล้หมด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0080" y="3474720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ต้องเดินนับเองทุกครั้ง เสียเวลา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43600" y="1280160"/>
            <a:ext cx="5029200" cy="1371600"/>
          </a:xfrm>
          <a:prstGeom prst="rect">
            <a:avLst>
              <a:gd name="adj" fmla="val 666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126480" y="141732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34155"/>
                </a:solidFill>
              </a:rPr>
              <a:t>🏥  หลายสาขาไม่มีระบบกลาง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126480" y="1828800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OPC, HO, GSE ฯลฯ ต่างคนต่างทำ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943600" y="2926080"/>
            <a:ext cx="5029200" cy="1371600"/>
          </a:xfrm>
          <a:prstGeom prst="rect">
            <a:avLst>
              <a:gd name="adj" fmla="val 666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26480" y="306324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34155"/>
                </a:solidFill>
              </a:rPr>
              <a:t>🔍  ไม่มี Barcode tracking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126480" y="3474720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ตามหาของไม่เจอ ไม่รู้ใครเบิกไป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8A"/>
                </a:solidFill>
              </a:rPr>
              <a:t>MedStock HIS คืออะไร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1371600" cy="54864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ระบบเว็บแอปสำหรับจัดการคลังเวชภัณฑ์ของโรงพยาบาล</a:t>
            </a:r>
            <a:endParaRPr lang="en-US" sz="15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รองรับหลายสาขา ใช้งานผ่าน Browser ไม่ต้องติดตั้ง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103120"/>
            <a:ext cx="3383280" cy="1280160"/>
          </a:xfrm>
          <a:prstGeom prst="rect">
            <a:avLst>
              <a:gd name="adj" fmla="val 7143"/>
            </a:avLst>
          </a:prstGeom>
          <a:solidFill>
            <a:srgbClr val="1D4ED8">
              <a:alpha val="12000"/>
            </a:srgbClr>
          </a:solidFill>
          <a:ln w="19050">
            <a:solidFill>
              <a:srgbClr val="1D4ED8">
                <a:alpha val="6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224028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1D4ED8"/>
                </a:solidFill>
              </a:rPr>
              <a:t>📊</a:t>
            </a:r>
            <a:endParaRPr lang="en-US" sz="13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1D4ED8"/>
                </a:solidFill>
              </a:rPr>
              <a:t>Dashboard</a:t>
            </a:r>
            <a:endParaRPr lang="en-US" sz="13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1D4ED8"/>
                </a:solidFill>
              </a:rPr>
              <a:t>stock overview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206240" y="2103120"/>
            <a:ext cx="3383280" cy="1280160"/>
          </a:xfrm>
          <a:prstGeom prst="rect">
            <a:avLst>
              <a:gd name="adj" fmla="val 7143"/>
            </a:avLst>
          </a:prstGeom>
          <a:solidFill>
            <a:srgbClr val="059669">
              <a:alpha val="12000"/>
            </a:srgbClr>
          </a:solidFill>
          <a:ln w="19050">
            <a:solidFill>
              <a:srgbClr val="059669">
                <a:alpha val="60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43400" y="224028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059669"/>
                </a:solidFill>
              </a:rPr>
              <a:t>📦</a:t>
            </a:r>
            <a:endParaRPr lang="en-US" sz="13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059669"/>
                </a:solidFill>
              </a:rPr>
              <a:t>รับยาเข้า</a:t>
            </a:r>
            <a:endParaRPr lang="en-US" sz="13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059669"/>
                </a:solidFill>
              </a:rPr>
              <a:t>(Restock / ใหม่)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955280" y="2103120"/>
            <a:ext cx="3383280" cy="1280160"/>
          </a:xfrm>
          <a:prstGeom prst="rect">
            <a:avLst>
              <a:gd name="adj" fmla="val 7143"/>
            </a:avLst>
          </a:prstGeom>
          <a:solidFill>
            <a:srgbClr val="DC2626">
              <a:alpha val="12000"/>
            </a:srgbClr>
          </a:solidFill>
          <a:ln w="19050">
            <a:solidFill>
              <a:srgbClr val="DC2626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92440" y="224028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DC2626"/>
                </a:solidFill>
              </a:rPr>
              <a:t>💊</a:t>
            </a:r>
            <a:endParaRPr lang="en-US" sz="13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DC2626"/>
                </a:solidFill>
              </a:rPr>
              <a:t>จ่ายยาออก</a:t>
            </a:r>
            <a:endParaRPr lang="en-US" sz="13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DC2626"/>
                </a:solidFill>
              </a:rPr>
              <a:t>(Dispense)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3749040"/>
            <a:ext cx="3383280" cy="1280160"/>
          </a:xfrm>
          <a:prstGeom prst="rect">
            <a:avLst>
              <a:gd name="adj" fmla="val 7143"/>
            </a:avLst>
          </a:prstGeom>
          <a:solidFill>
            <a:srgbClr val="D97706">
              <a:alpha val="12000"/>
            </a:srgbClr>
          </a:solidFill>
          <a:ln w="19050">
            <a:solidFill>
              <a:srgbClr val="D97706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388620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D97706"/>
                </a:solidFill>
              </a:rPr>
              <a:t>🔎</a:t>
            </a:r>
            <a:endParaRPr lang="en-US" sz="13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D97706"/>
                </a:solidFill>
              </a:rPr>
              <a:t>สแกน Barcode</a:t>
            </a:r>
            <a:endParaRPr lang="en-US" sz="13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D97706"/>
                </a:solidFill>
              </a:rPr>
              <a:t>ค้นหาสต็อก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206240" y="3749040"/>
            <a:ext cx="3383280" cy="1280160"/>
          </a:xfrm>
          <a:prstGeom prst="rect">
            <a:avLst>
              <a:gd name="adj" fmla="val 7143"/>
            </a:avLst>
          </a:prstGeom>
          <a:solidFill>
            <a:srgbClr val="7C3AED">
              <a:alpha val="12000"/>
            </a:srgbClr>
          </a:solidFill>
          <a:ln w="19050">
            <a:solidFill>
              <a:srgbClr val="7C3AED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43400" y="388620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7C3AED"/>
                </a:solidFill>
              </a:rPr>
              <a:t>🖨️</a:t>
            </a:r>
            <a:endParaRPr lang="en-US" sz="13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7C3AED"/>
                </a:solidFill>
              </a:rPr>
              <a:t>พิมพ์ Barcode</a:t>
            </a:r>
            <a:endParaRPr lang="en-US" sz="13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7C3AED"/>
                </a:solidFill>
              </a:rPr>
              <a:t>Label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955280" y="3749040"/>
            <a:ext cx="3383280" cy="1280160"/>
          </a:xfrm>
          <a:prstGeom prst="rect">
            <a:avLst>
              <a:gd name="adj" fmla="val 7143"/>
            </a:avLst>
          </a:prstGeom>
          <a:solidFill>
            <a:srgbClr val="0891B2">
              <a:alpha val="12000"/>
            </a:srgbClr>
          </a:solidFill>
          <a:ln w="19050">
            <a:solidFill>
              <a:srgbClr val="0891B2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92440" y="388620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0891B2"/>
                </a:solidFill>
              </a:rPr>
              <a:t>📜</a:t>
            </a:r>
            <a:endParaRPr lang="en-US" sz="13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0891B2"/>
                </a:solidFill>
              </a:rPr>
              <a:t>ประวัติ</a:t>
            </a:r>
            <a:endParaRPr lang="en-US" sz="13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0891B2"/>
                </a:solidFill>
              </a:rPr>
              <a:t>Transaction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8A"/>
                </a:solidFill>
              </a:rPr>
              <a:t>Multi-Location Support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1371600" cy="54864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515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รองรับ 8 สาขา แยก inventory อิสระ ผู้ใช้เข้าได้ตามสิทธิ์ที่กำหนด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645920"/>
            <a:ext cx="2377440" cy="594360"/>
          </a:xfrm>
          <a:prstGeom prst="rect">
            <a:avLst>
              <a:gd name="adj" fmla="val 12308"/>
            </a:avLst>
          </a:prstGeom>
          <a:solidFill>
            <a:srgbClr val="DBEAFE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755648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A8A"/>
                </a:solidFill>
              </a:rPr>
              <a:t>📍 OPC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200400" y="1645920"/>
            <a:ext cx="2377440" cy="594360"/>
          </a:xfrm>
          <a:prstGeom prst="rect">
            <a:avLst>
              <a:gd name="adj" fmla="val 12308"/>
            </a:avLst>
          </a:prstGeom>
          <a:solidFill>
            <a:srgbClr val="DBEAFE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91840" y="1755648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A8A"/>
                </a:solidFill>
              </a:rPr>
              <a:t>📍 HO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943600" y="1645920"/>
            <a:ext cx="2377440" cy="594360"/>
          </a:xfrm>
          <a:prstGeom prst="rect">
            <a:avLst>
              <a:gd name="adj" fmla="val 12308"/>
            </a:avLst>
          </a:prstGeom>
          <a:solidFill>
            <a:srgbClr val="DBEAFE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35040" y="1755648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A8A"/>
                </a:solidFill>
              </a:rPr>
              <a:t>📍 GSE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686800" y="1645920"/>
            <a:ext cx="2377440" cy="594360"/>
          </a:xfrm>
          <a:prstGeom prst="rect">
            <a:avLst>
              <a:gd name="adj" fmla="val 12308"/>
            </a:avLst>
          </a:prstGeom>
          <a:solidFill>
            <a:srgbClr val="DBEAFE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778240" y="1755648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A8A"/>
                </a:solidFill>
              </a:rPr>
              <a:t>📍 DC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57200" y="2468880"/>
            <a:ext cx="2377440" cy="594360"/>
          </a:xfrm>
          <a:prstGeom prst="rect">
            <a:avLst>
              <a:gd name="adj" fmla="val 12308"/>
            </a:avLst>
          </a:prstGeom>
          <a:solidFill>
            <a:srgbClr val="DBEAFE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2578608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A8A"/>
                </a:solidFill>
              </a:rPr>
              <a:t>📍 DT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3200400" y="2468880"/>
            <a:ext cx="2377440" cy="594360"/>
          </a:xfrm>
          <a:prstGeom prst="rect">
            <a:avLst>
              <a:gd name="adj" fmla="val 12308"/>
            </a:avLst>
          </a:prstGeom>
          <a:solidFill>
            <a:srgbClr val="DBEAFE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291840" y="2578608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A8A"/>
                </a:solidFill>
              </a:rPr>
              <a:t>📍 CAT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943600" y="2468880"/>
            <a:ext cx="2377440" cy="594360"/>
          </a:xfrm>
          <a:prstGeom prst="rect">
            <a:avLst>
              <a:gd name="adj" fmla="val 12308"/>
            </a:avLst>
          </a:prstGeom>
          <a:solidFill>
            <a:srgbClr val="DBEAFE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35040" y="2578608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A8A"/>
                </a:solidFill>
              </a:rPr>
              <a:t>📍 ACM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8686800" y="2468880"/>
            <a:ext cx="2377440" cy="594360"/>
          </a:xfrm>
          <a:prstGeom prst="rect">
            <a:avLst>
              <a:gd name="adj" fmla="val 12308"/>
            </a:avLst>
          </a:prstGeom>
          <a:solidFill>
            <a:srgbClr val="DBEAFE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778240" y="2578608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A8A"/>
                </a:solidFill>
              </a:rPr>
              <a:t>📍 CGO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457200" y="3474720"/>
            <a:ext cx="2560320" cy="1097280"/>
          </a:xfrm>
          <a:prstGeom prst="rect">
            <a:avLst>
              <a:gd name="adj" fmla="val 8333"/>
            </a:avLst>
          </a:prstGeom>
          <a:solidFill>
            <a:srgbClr val="F0F9FF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" y="3611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369A1"/>
                </a:solidFill>
              </a:rPr>
              <a:t>🔐 Login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94360" y="39776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ยืนยันตัวตน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063240" y="374904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A5E9"/>
                </a:solidFill>
              </a:rPr>
              <a:t>→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3291840" y="3474720"/>
            <a:ext cx="2560320" cy="1097280"/>
          </a:xfrm>
          <a:prstGeom prst="rect">
            <a:avLst>
              <a:gd name="adj" fmla="val 8333"/>
            </a:avLst>
          </a:prstGeom>
          <a:solidFill>
            <a:srgbClr val="F0F9FF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429000" y="3611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369A1"/>
                </a:solidFill>
              </a:rPr>
              <a:t>🏥 เลือก Location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429000" y="39776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ตามสิทธิ์ที่ได้รับ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897880" y="374904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A5E9"/>
                </a:solidFill>
              </a:rPr>
              <a:t>→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6126480" y="3474720"/>
            <a:ext cx="2560320" cy="1097280"/>
          </a:xfrm>
          <a:prstGeom prst="rect">
            <a:avLst>
              <a:gd name="adj" fmla="val 8333"/>
            </a:avLst>
          </a:prstGeom>
          <a:solidFill>
            <a:srgbClr val="F0F9FF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263640" y="3611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369A1"/>
                </a:solidFill>
              </a:rPr>
              <a:t>📦 ใช้งาน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263640" y="39776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ข้อมูลแยกต่างหาก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732520" y="374904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A5E9"/>
                </a:solidFill>
              </a:rPr>
              <a:t>→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8961120" y="3474720"/>
            <a:ext cx="2560320" cy="1097280"/>
          </a:xfrm>
          <a:prstGeom prst="rect">
            <a:avLst>
              <a:gd name="adj" fmla="val 8333"/>
            </a:avLst>
          </a:prstGeom>
          <a:solidFill>
            <a:srgbClr val="F0F9FF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098280" y="3611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369A1"/>
                </a:solidFill>
              </a:rPr>
              <a:t>🔄 Switch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9098280" y="39776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สลับสาขาได้ทันที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8A"/>
                </a:solidFill>
              </a:rPr>
              <a:t>User Management &amp; Permissions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1371600" cy="54864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097280"/>
            <a:ext cx="5029200" cy="3200400"/>
          </a:xfrm>
          <a:prstGeom prst="rect">
            <a:avLst>
              <a:gd name="adj" fmla="val 3429"/>
            </a:avLst>
          </a:prstGeom>
          <a:solidFill>
            <a:srgbClr val="FFFBEB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23444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7706"/>
                </a:solidFill>
              </a:rPr>
              <a:t>👑  Admin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17830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✓  เข้าได้ทุกหน้า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" y="213055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✓  จัดการ User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2478024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✓  จัดการ Location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2825496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✓  ดู Overview ทุกสาขา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3172968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✓  Reset password ผู้ใช้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352044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✓  กำหนดสิทธิ์แต่ละ user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943600" y="1097280"/>
            <a:ext cx="5029200" cy="3200400"/>
          </a:xfrm>
          <a:prstGeom prst="rect">
            <a:avLst>
              <a:gd name="adj" fmla="val 3429"/>
            </a:avLst>
          </a:prstGeom>
          <a:solidFill>
            <a:srgbClr val="EFF6FF"/>
          </a:solidFill>
          <a:ln w="19050">
            <a:solidFill>
              <a:srgbClr val="1D4ED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126480" y="123444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D4ED8"/>
                </a:solidFill>
              </a:rPr>
              <a:t>👤  User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126480" y="17830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✓  เข้าได้เฉพาะหน้าที่กำหนด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126480" y="213055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✓  เข้าได้เฉพาะ location ที่ assign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126480" y="2478024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✓  รับยา / จ่ายยา / ค้นหา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126480" y="2825496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✓  ดู Transaction History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126480" y="3172968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✓  เปลี่ยน password ตัวเอง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126480" y="352044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✓  ไม่สามารถจัดการ User ได้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8A"/>
                </a:solidFill>
              </a:rPr>
              <a:t>Security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1371600" cy="54864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188720"/>
            <a:ext cx="5029200" cy="1554480"/>
          </a:xfrm>
          <a:prstGeom prst="rect">
            <a:avLst>
              <a:gd name="adj" fmla="val 5882"/>
            </a:avLst>
          </a:prstGeom>
          <a:solidFill>
            <a:srgbClr val="F8FAFC"/>
          </a:solidFill>
          <a:ln w="25400">
            <a:solidFill>
              <a:srgbClr val="05966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325880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59669"/>
                </a:solidFill>
              </a:rPr>
              <a:t>🔐  Password Hashing (SHA-256)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1783080"/>
            <a:ext cx="4663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334155"/>
                </a:solidFill>
              </a:rPr>
              <a:t>Password ไม่ถูกเก็บเป็น plaintext ใน database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334155"/>
                </a:solidFill>
              </a:rPr>
              <a:t>Migrate จาก plaintext อัตโนมัติตอน login ครั้งแรก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57200" y="3017520"/>
            <a:ext cx="5029200" cy="1554480"/>
          </a:xfrm>
          <a:prstGeom prst="rect">
            <a:avLst>
              <a:gd name="adj" fmla="val 5882"/>
            </a:avLst>
          </a:prstGeom>
          <a:solidFill>
            <a:srgbClr val="F8FAFC"/>
          </a:solidFill>
          <a:ln w="25400">
            <a:solidFill>
              <a:srgbClr val="1D4E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3154680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4ED8"/>
                </a:solidFill>
              </a:rPr>
              <a:t>🛡️  Role-based Access Control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0080" y="3611880"/>
            <a:ext cx="4663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334155"/>
                </a:solidFill>
              </a:rPr>
              <a:t>Admin / User แยกสิทธิ์ชัดเจน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334155"/>
                </a:solidFill>
              </a:rPr>
              <a:t>หน้า User Management เข้าได้เฉพาะ Admin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943600" y="1188720"/>
            <a:ext cx="5029200" cy="1554480"/>
          </a:xfrm>
          <a:prstGeom prst="rect">
            <a:avLst>
              <a:gd name="adj" fmla="val 5882"/>
            </a:avLst>
          </a:prstGeom>
          <a:solidFill>
            <a:srgbClr val="F8FAFC"/>
          </a:solidFill>
          <a:ln w="254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126480" y="1325880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C3AED"/>
                </a:solidFill>
              </a:rPr>
              <a:t>📍  Location-based Isolation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126480" y="1783080"/>
            <a:ext cx="4663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334155"/>
                </a:solidFill>
              </a:rPr>
              <a:t>ข้อมูลแต่ละสาขาแยกอิสระ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334155"/>
                </a:solidFill>
              </a:rPr>
              <a:t>User เข้าได้เฉพาะ location ที่ได้รับ assign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943600" y="3017520"/>
            <a:ext cx="5029200" cy="1554480"/>
          </a:xfrm>
          <a:prstGeom prst="rect">
            <a:avLst>
              <a:gd name="adj" fmla="val 5882"/>
            </a:avLst>
          </a:prstGeom>
          <a:solidFill>
            <a:srgbClr val="F8FAFC"/>
          </a:solidFill>
          <a:ln w="25400">
            <a:solidFill>
              <a:srgbClr val="D9770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26480" y="3154680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7706"/>
                </a:solidFill>
              </a:rPr>
              <a:t>⚠️  RLS (ข้อจำกัด)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126480" y="3611880"/>
            <a:ext cx="4663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334155"/>
                </a:solidFill>
              </a:rPr>
              <a:t>ยังไม่ได้ enable Supabase RLS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334155"/>
                </a:solidFill>
              </a:rPr>
              <a:t>แนะนำ: จำกัด IP ใน Supabase ให้เข้าได้แค่ IP โรงพยาบาล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8A"/>
                </a:solidFill>
              </a:rPr>
              <a:t>Tech Stack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1371600" cy="54864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188720"/>
            <a:ext cx="3383280" cy="1463040"/>
          </a:xfrm>
          <a:prstGeom prst="rect">
            <a:avLst>
              <a:gd name="adj" fmla="val 6250"/>
            </a:avLst>
          </a:prstGeom>
          <a:solidFill>
            <a:srgbClr val="0EA5E9">
              <a:alpha val="10000"/>
            </a:srgbClr>
          </a:solidFill>
          <a:ln w="19050">
            <a:solidFill>
              <a:srgbClr val="0EA5E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3716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⚛️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40080" y="192024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A5E9"/>
                </a:solidFill>
              </a:rPr>
              <a:t>React + TypeScript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28600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Frontend SPA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06240" y="1188720"/>
            <a:ext cx="3383280" cy="1463040"/>
          </a:xfrm>
          <a:prstGeom prst="rect">
            <a:avLst>
              <a:gd name="adj" fmla="val 6250"/>
            </a:avLst>
          </a:prstGeom>
          <a:solidFill>
            <a:srgbClr val="06B6D4">
              <a:alpha val="10000"/>
            </a:srgbClr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89120" y="13716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🎨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4389120" y="192024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B6D4"/>
                </a:solidFill>
              </a:rPr>
              <a:t>Tailwind CSS v4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389120" y="228600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UI Styling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955280" y="1188720"/>
            <a:ext cx="3383280" cy="1463040"/>
          </a:xfrm>
          <a:prstGeom prst="rect">
            <a:avLst>
              <a:gd name="adj" fmla="val 6250"/>
            </a:avLst>
          </a:prstGeom>
          <a:solidFill>
            <a:srgbClr val="8B5CF6">
              <a:alpha val="10000"/>
            </a:srgbClr>
          </a:solidFill>
          <a:ln w="19050">
            <a:solidFill>
              <a:srgbClr val="8B5C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38160" y="13716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⚡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8138160" y="192024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5CF6"/>
                </a:solidFill>
              </a:rPr>
              <a:t>Vite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138160" y="228600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Build Tool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017520"/>
            <a:ext cx="3383280" cy="1463040"/>
          </a:xfrm>
          <a:prstGeom prst="rect">
            <a:avLst>
              <a:gd name="adj" fmla="val 6250"/>
            </a:avLst>
          </a:prstGeom>
          <a:solidFill>
            <a:srgbClr val="10B981">
              <a:alpha val="10000"/>
            </a:srgbClr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32004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🗄️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40080" y="374904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</a:rPr>
              <a:t>Supabase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" y="411480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Database + Storage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206240" y="3017520"/>
            <a:ext cx="3383280" cy="1463040"/>
          </a:xfrm>
          <a:prstGeom prst="rect">
            <a:avLst>
              <a:gd name="adj" fmla="val 6250"/>
            </a:avLst>
          </a:prstGeom>
          <a:solidFill>
            <a:srgbClr val="334155">
              <a:alpha val="10000"/>
            </a:srgbClr>
          </a:solidFill>
          <a:ln w="19050">
            <a:solidFill>
              <a:srgbClr val="33415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389120" y="32004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🚀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4389120" y="374904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4155"/>
                </a:solidFill>
              </a:rPr>
              <a:t>Vercel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389120" y="411480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Hosting / Deploy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955280" y="3017520"/>
            <a:ext cx="3383280" cy="1463040"/>
          </a:xfrm>
          <a:prstGeom prst="rect">
            <a:avLst>
              <a:gd name="adj" fmla="val 6250"/>
            </a:avLst>
          </a:prstGeom>
          <a:solidFill>
            <a:srgbClr val="D97706">
              <a:alpha val="10000"/>
            </a:srgbClr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138160" y="32004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🔐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8138160" y="374904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</a:rPr>
              <a:t>Web Crypto API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138160" y="411480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Password Hashing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1E40AF">
              <a:alpha val="4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914400" y="3657600"/>
            <a:ext cx="3200400" cy="3200400"/>
          </a:xfrm>
          <a:prstGeom prst="ellipse">
            <a:avLst/>
          </a:prstGeom>
          <a:solidFill>
            <a:srgbClr val="1E40AF">
              <a:alpha val="4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สรุปสิ่งที่ได้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60A5FA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23444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BAE6FD"/>
                </a:solidFill>
              </a:rPr>
              <a:t>✓  ระบบ real-time รองรับ 8 location พร้อมใช้งาน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1709928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BFDBFE"/>
                </a:solidFill>
              </a:rPr>
              <a:t>✓  จัดการ User สิทธิ์แบบ role-based ครบถ้วน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2185416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BFDBFE"/>
                </a:solidFill>
              </a:rPr>
              <a:t>✓  Barcode scanning รับ-จ่ายยา ไม่ต้องนับมือ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2660904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BFDBFE"/>
                </a:solidFill>
              </a:rPr>
              <a:t>✓  Admin Overview เห็น low stock ทุกสาขาในหน้าเดียว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31520" y="3136392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BFDBFE"/>
                </a:solidFill>
              </a:rPr>
              <a:t>✓  Transaction History + Export CSV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31520" y="361188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BFDBFE"/>
                </a:solidFill>
              </a:rPr>
              <a:t>✓  Password hashed (SHA-256) ไม่เก็บ plaintext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31520" y="4087368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BFDBFE"/>
                </a:solidFill>
              </a:rPr>
              <a:t>✓  Deploy บน Vercel ใช้งานผ่าน browser ทุกอุปกรณ์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31520" y="4663440"/>
            <a:ext cx="10515600" cy="502920"/>
          </a:xfrm>
          <a:prstGeom prst="rect">
            <a:avLst>
              <a:gd name="adj" fmla="val 14545"/>
            </a:avLst>
          </a:prstGeom>
          <a:solidFill>
            <a:srgbClr val="1D4ED8">
              <a:alpha val="60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47548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3C5FD"/>
                </a:solidFill>
              </a:rPr>
              <a:t>medstock-his.vercel.app  ·  IS-C Department  ·  Hospital Information System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2026-06-26T15:26:55Z</dcterms:created>
  <dcterms:modified xsi:type="dcterms:W3CDTF">2026-06-26T15:26:55Z</dcterms:modified>
</cp:coreProperties>
</file>